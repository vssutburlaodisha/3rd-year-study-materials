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60" r:id="rId2"/>
    <p:sldId id="335" r:id="rId3"/>
    <p:sldId id="336" r:id="rId4"/>
    <p:sldId id="344" r:id="rId5"/>
    <p:sldId id="345" r:id="rId6"/>
    <p:sldId id="337" r:id="rId7"/>
    <p:sldId id="338" r:id="rId8"/>
    <p:sldId id="339" r:id="rId9"/>
    <p:sldId id="340" r:id="rId10"/>
    <p:sldId id="341" r:id="rId11"/>
    <p:sldId id="342" r:id="rId12"/>
    <p:sldId id="346" r:id="rId13"/>
    <p:sldId id="349" r:id="rId14"/>
    <p:sldId id="347" r:id="rId15"/>
    <p:sldId id="352" r:id="rId16"/>
    <p:sldId id="353" r:id="rId17"/>
    <p:sldId id="354" r:id="rId18"/>
    <p:sldId id="350" r:id="rId19"/>
    <p:sldId id="351" r:id="rId20"/>
    <p:sldId id="34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90" d="100"/>
          <a:sy n="90" d="100"/>
        </p:scale>
        <p:origin x="-1234"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8234E5-8504-4330-A12E-6C3403FD2A40}" type="datetimeFigureOut">
              <a:rPr lang="en-US" smtClean="0"/>
              <a:pPr/>
              <a:t>11/26/2020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6E43D-C79D-4B39-8257-5EC2E1B8CD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96E43D-C79D-4B39-8257-5EC2E1B8CD37}"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3DAEB126-6801-43E9-A8B3-58C9D3168E6A}" type="datetime1">
              <a:rPr lang="en-US" smtClean="0"/>
              <a:pPr/>
              <a:t>11/26/2020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02DACB8-3BA7-4002-A7AD-C8647D9CA189}" type="datetime1">
              <a:rPr lang="en-US" smtClean="0"/>
              <a:pPr/>
              <a:t>11/26/2020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04AFFFE-839E-42EF-84DD-E0158050FE0F}" type="datetime1">
              <a:rPr lang="en-US" smtClean="0"/>
              <a:pPr/>
              <a:t>11/26/2020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4810B4C-547F-478A-B83B-708C38DE0944}" type="datetime1">
              <a:rPr lang="en-US" smtClean="0"/>
              <a:pPr/>
              <a:t>11/26/2020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AD17806-C4D3-4254-B953-9105470292AE}" type="datetime1">
              <a:rPr lang="en-US" smtClean="0"/>
              <a:pPr/>
              <a:t>11/26/2020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86C25880-1A7D-4DEC-B8C2-E79257111B40}" type="datetime1">
              <a:rPr lang="en-US" smtClean="0"/>
              <a:pPr/>
              <a:t>11/26/2020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0C967D1-DF5F-467A-BE56-518076760F03}" type="datetime1">
              <a:rPr lang="en-US" smtClean="0"/>
              <a:pPr/>
              <a:t>11/26/2020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1CB778D-2364-4912-8698-387B4C1FC6AB}" type="datetime1">
              <a:rPr lang="en-US" smtClean="0"/>
              <a:pPr/>
              <a:t>11/26/2020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F562B2C2-EBA0-4DCA-9606-A50885129859}" type="datetime1">
              <a:rPr lang="en-US" smtClean="0"/>
              <a:pPr/>
              <a:t>11/26/2020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D5C6E7-F489-4D87-9858-1BB05BD8AF4C}" type="datetime1">
              <a:rPr lang="en-US" smtClean="0"/>
              <a:pPr/>
              <a:t>11/26/2020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C076317-255B-493D-A1FF-EBE9A398B387}" type="datetime1">
              <a:rPr lang="en-US" smtClean="0"/>
              <a:pPr/>
              <a:t>11/26/2020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D59FB09-536B-4489-9409-02A247E91D00}" type="datetime1">
              <a:rPr lang="en-US" smtClean="0"/>
              <a:pPr/>
              <a:t>11/26/2020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E79AC49-16EF-4FE2-AFCD-22497A2D05A4}"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571472" y="1714488"/>
            <a:ext cx="8153400" cy="3992563"/>
          </a:xfrm>
        </p:spPr>
        <p:txBody>
          <a:bodyPr>
            <a:normAutofit/>
          </a:bodyPr>
          <a:lstStyle/>
          <a:p>
            <a:pPr algn="ctr">
              <a:buNone/>
            </a:pPr>
            <a:endParaRPr lang="en-US" sz="6000" dirty="0" smtClean="0">
              <a:latin typeface="Bernard MT Condensed" pitchFamily="18" charset="0"/>
            </a:endParaRPr>
          </a:p>
          <a:p>
            <a:pPr algn="ctr">
              <a:buNone/>
            </a:pPr>
            <a:r>
              <a:rPr lang="en-US" sz="6000" dirty="0" smtClean="0">
                <a:latin typeface="Bernard MT Condensed" pitchFamily="18" charset="0"/>
              </a:rPr>
              <a:t>8086 System Configuration</a:t>
            </a:r>
            <a:endParaRPr lang="en-US" sz="6000" dirty="0">
              <a:latin typeface="Bernard MT Condensed" pitchFamily="18" charset="0"/>
            </a:endParaRPr>
          </a:p>
        </p:txBody>
      </p:sp>
      <p:sp>
        <p:nvSpPr>
          <p:cNvPr id="5" name="Slide Number Placeholder 4"/>
          <p:cNvSpPr>
            <a:spLocks noGrp="1"/>
          </p:cNvSpPr>
          <p:nvPr>
            <p:ph type="sldNum" sz="quarter" idx="12"/>
          </p:nvPr>
        </p:nvSpPr>
        <p:spPr/>
        <p:txBody>
          <a:bodyPr/>
          <a:lstStyle/>
          <a:p>
            <a:fld id="{1E79AC49-16EF-4FE2-AFCD-22497A2D05A4}"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8086 Minimum Mode Configuration</a:t>
            </a:r>
            <a:endParaRPr lang="en-US" dirty="0"/>
          </a:p>
        </p:txBody>
      </p:sp>
      <p:sp>
        <p:nvSpPr>
          <p:cNvPr id="3" name="Content Placeholder 2"/>
          <p:cNvSpPr>
            <a:spLocks noGrp="1"/>
          </p:cNvSpPr>
          <p:nvPr>
            <p:ph idx="1"/>
          </p:nvPr>
        </p:nvSpPr>
        <p:spPr>
          <a:xfrm>
            <a:off x="1000100" y="1285860"/>
            <a:ext cx="8001056" cy="5429288"/>
          </a:xfrm>
        </p:spPr>
        <p:txBody>
          <a:bodyPr>
            <a:normAutofit/>
          </a:bodyPr>
          <a:lstStyle/>
          <a:p>
            <a:pPr>
              <a:buFont typeface="Wingdings" pitchFamily="2" charset="2"/>
              <a:buChar char="Ø"/>
            </a:pPr>
            <a:r>
              <a:rPr lang="en-US" sz="2400" dirty="0" smtClean="0">
                <a:latin typeface="Times New Roman" pitchFamily="18" charset="0"/>
                <a:cs typeface="Times New Roman" pitchFamily="18" charset="0"/>
              </a:rPr>
              <a:t>The microprocessor 8086 is operated in minimum mode by strapping its MN/MX pin to logic 1. </a:t>
            </a:r>
          </a:p>
          <a:p>
            <a:pPr>
              <a:buFont typeface="Wingdings" pitchFamily="2" charset="2"/>
              <a:buChar char="Ø"/>
            </a:pPr>
            <a:r>
              <a:rPr lang="en-US" sz="2400" dirty="0" smtClean="0">
                <a:latin typeface="Times New Roman" pitchFamily="18" charset="0"/>
                <a:cs typeface="Times New Roman" pitchFamily="18" charset="0"/>
              </a:rPr>
              <a:t>There is a single microprocessor in this mode.</a:t>
            </a:r>
          </a:p>
          <a:p>
            <a:pPr>
              <a:buFont typeface="Wingdings" pitchFamily="2" charset="2"/>
              <a:buChar char="Ø"/>
            </a:pPr>
            <a:r>
              <a:rPr lang="en-US" sz="2400" dirty="0" smtClean="0">
                <a:latin typeface="Times New Roman" pitchFamily="18" charset="0"/>
                <a:cs typeface="Times New Roman" pitchFamily="18" charset="0"/>
              </a:rPr>
              <a:t>All the control signals are given out by the microprocessor chip itself. </a:t>
            </a:r>
          </a:p>
          <a:p>
            <a:pPr>
              <a:buFont typeface="Wingdings" pitchFamily="2" charset="2"/>
              <a:buChar char="Ø"/>
            </a:pPr>
            <a:r>
              <a:rPr lang="en-US" sz="2400" dirty="0" smtClean="0">
                <a:latin typeface="Times New Roman" pitchFamily="18" charset="0"/>
                <a:cs typeface="Times New Roman" pitchFamily="18" charset="0"/>
              </a:rPr>
              <a:t> The remaining components in the system are:</a:t>
            </a:r>
          </a:p>
          <a:p>
            <a:pPr lvl="3">
              <a:buFont typeface="Wingdings" pitchFamily="2" charset="2"/>
              <a:buChar char="q"/>
            </a:pPr>
            <a:r>
              <a:rPr lang="en-US" dirty="0" smtClean="0">
                <a:solidFill>
                  <a:srgbClr val="FF0000"/>
                </a:solidFill>
                <a:latin typeface="Times New Roman" pitchFamily="18" charset="0"/>
                <a:cs typeface="Times New Roman" pitchFamily="18" charset="0"/>
              </a:rPr>
              <a:t>Clock Generator Intel 8284</a:t>
            </a:r>
          </a:p>
          <a:p>
            <a:pPr lvl="3">
              <a:buFont typeface="Wingdings" pitchFamily="2" charset="2"/>
              <a:buChar char="q"/>
            </a:pPr>
            <a:r>
              <a:rPr lang="en-US" dirty="0" smtClean="0">
                <a:solidFill>
                  <a:srgbClr val="FF0000"/>
                </a:solidFill>
                <a:latin typeface="Times New Roman" pitchFamily="18" charset="0"/>
                <a:cs typeface="Times New Roman" pitchFamily="18" charset="0"/>
              </a:rPr>
              <a:t>Bidirectional Bus Transceiver Intel 8286/8287</a:t>
            </a:r>
          </a:p>
          <a:p>
            <a:pPr lvl="3">
              <a:buFont typeface="Wingdings" pitchFamily="2" charset="2"/>
              <a:buChar char="q"/>
            </a:pPr>
            <a:r>
              <a:rPr lang="en-US" dirty="0" smtClean="0">
                <a:solidFill>
                  <a:srgbClr val="FF0000"/>
                </a:solidFill>
                <a:latin typeface="Times New Roman" pitchFamily="18" charset="0"/>
                <a:cs typeface="Times New Roman" pitchFamily="18" charset="0"/>
              </a:rPr>
              <a:t>8282 Address Latch (8282/8283)</a:t>
            </a:r>
          </a:p>
          <a:p>
            <a:pPr>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3</a:t>
            </a:fld>
            <a:endParaRPr lang="en-US"/>
          </a:p>
        </p:txBody>
      </p:sp>
      <p:pic>
        <p:nvPicPr>
          <p:cNvPr id="24578" name="Picture 2" descr="V:\vssut\mpmc\minimum mode.png"/>
          <p:cNvPicPr>
            <a:picLocks noGrp="1" noChangeAspect="1" noChangeArrowheads="1"/>
          </p:cNvPicPr>
          <p:nvPr>
            <p:ph idx="1"/>
          </p:nvPr>
        </p:nvPicPr>
        <p:blipFill>
          <a:blip r:embed="rId2"/>
          <a:srcRect/>
          <a:stretch>
            <a:fillRect/>
          </a:stretch>
        </p:blipFill>
        <p:spPr bwMode="auto">
          <a:xfrm>
            <a:off x="1142977" y="1428736"/>
            <a:ext cx="7429552" cy="5072098"/>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85852" y="214290"/>
            <a:ext cx="7498080" cy="714380"/>
          </a:xfrm>
        </p:spPr>
        <p:txBody>
          <a:bodyPr>
            <a:normAutofit fontScale="90000"/>
          </a:bodyPr>
          <a:lstStyle/>
          <a:p>
            <a:r>
              <a:rPr lang="en-US" dirty="0" smtClean="0"/>
              <a:t>Pins in minimum mode</a:t>
            </a:r>
            <a:endParaRPr lang="en-US" dirty="0"/>
          </a:p>
        </p:txBody>
      </p:sp>
      <p:sp>
        <p:nvSpPr>
          <p:cNvPr id="6" name="Content Placeholder 5"/>
          <p:cNvSpPr>
            <a:spLocks noGrp="1"/>
          </p:cNvSpPr>
          <p:nvPr>
            <p:ph idx="1"/>
          </p:nvPr>
        </p:nvSpPr>
        <p:spPr>
          <a:xfrm>
            <a:off x="1142976" y="1000108"/>
            <a:ext cx="7790712" cy="5500726"/>
          </a:xfrm>
        </p:spPr>
        <p:txBody>
          <a:bodyPr>
            <a:normAutofit fontScale="77500" lnSpcReduction="20000"/>
          </a:bodyPr>
          <a:lstStyle/>
          <a:p>
            <a:pPr>
              <a:buFont typeface="Wingdings" pitchFamily="2" charset="2"/>
              <a:buChar char="q"/>
            </a:pPr>
            <a:r>
              <a:rPr lang="en-US" sz="2000" b="1" dirty="0" smtClean="0">
                <a:latin typeface="Times New Roman" pitchFamily="18" charset="0"/>
                <a:cs typeface="Times New Roman" pitchFamily="18" charset="0"/>
              </a:rPr>
              <a:t>MN/MX’</a:t>
            </a:r>
          </a:p>
          <a:p>
            <a:pPr>
              <a:buFont typeface="Wingdings" pitchFamily="2" charset="2"/>
              <a:buChar char="ü"/>
            </a:pPr>
            <a:r>
              <a:rPr lang="en-US" sz="2000" dirty="0" smtClean="0">
                <a:latin typeface="Times New Roman" pitchFamily="18" charset="0"/>
                <a:cs typeface="Times New Roman" pitchFamily="18" charset="0"/>
              </a:rPr>
              <a:t>It stands for Minimum/Maximum mode.</a:t>
            </a:r>
          </a:p>
          <a:p>
            <a:pPr>
              <a:buFont typeface="Wingdings" pitchFamily="2" charset="2"/>
              <a:buChar char="ü"/>
            </a:pPr>
            <a:r>
              <a:rPr lang="en-US" sz="2000" dirty="0" smtClean="0">
                <a:latin typeface="Times New Roman" pitchFamily="18" charset="0"/>
                <a:cs typeface="Times New Roman" pitchFamily="18" charset="0"/>
              </a:rPr>
              <a:t>It indicates what mode the processor is to operate in; when it is </a:t>
            </a:r>
            <a:r>
              <a:rPr lang="en-US" sz="2000" b="1" dirty="0" smtClean="0">
                <a:latin typeface="Times New Roman" pitchFamily="18" charset="0"/>
                <a:cs typeface="Times New Roman" pitchFamily="18" charset="0"/>
              </a:rPr>
              <a:t>high</a:t>
            </a:r>
            <a:r>
              <a:rPr lang="en-US" sz="2000" dirty="0" smtClean="0">
                <a:latin typeface="Times New Roman" pitchFamily="18" charset="0"/>
                <a:cs typeface="Times New Roman" pitchFamily="18" charset="0"/>
              </a:rPr>
              <a:t>, it works in the </a:t>
            </a:r>
            <a:r>
              <a:rPr lang="en-US" sz="2000" b="1" dirty="0" smtClean="0">
                <a:latin typeface="Times New Roman" pitchFamily="18" charset="0"/>
                <a:cs typeface="Times New Roman" pitchFamily="18" charset="0"/>
              </a:rPr>
              <a:t>minimum mode </a:t>
            </a:r>
            <a:r>
              <a:rPr lang="en-US" sz="2000" dirty="0" smtClean="0">
                <a:latin typeface="Times New Roman" pitchFamily="18" charset="0"/>
                <a:cs typeface="Times New Roman" pitchFamily="18" charset="0"/>
              </a:rPr>
              <a:t>and vice-versa.</a:t>
            </a:r>
          </a:p>
          <a:p>
            <a:pPr fontAlgn="base">
              <a:buFont typeface="Wingdings" pitchFamily="2" charset="2"/>
              <a:buChar char="q"/>
            </a:pPr>
            <a:r>
              <a:rPr lang="en-US" sz="2000" b="1" dirty="0" smtClean="0">
                <a:latin typeface="Times New Roman" pitchFamily="18" charset="0"/>
                <a:cs typeface="Times New Roman" pitchFamily="18" charset="0"/>
              </a:rPr>
              <a:t>INTA’</a:t>
            </a:r>
            <a:r>
              <a:rPr lang="en-US" sz="2000" dirty="0" smtClean="0">
                <a:latin typeface="Times New Roman" pitchFamily="18" charset="0"/>
                <a:cs typeface="Times New Roman" pitchFamily="18" charset="0"/>
              </a:rPr>
              <a:t> </a:t>
            </a:r>
            <a:endParaRPr lang="en-US" sz="2000" b="1" i="1" dirty="0" smtClean="0">
              <a:latin typeface="Times New Roman" pitchFamily="18" charset="0"/>
              <a:cs typeface="Times New Roman" pitchFamily="18" charset="0"/>
            </a:endParaRPr>
          </a:p>
          <a:p>
            <a:pPr fontAlgn="base">
              <a:buFont typeface="Wingdings" pitchFamily="2" charset="2"/>
              <a:buChar char="ü"/>
            </a:pPr>
            <a:r>
              <a:rPr lang="en-US" sz="2000" dirty="0" smtClean="0">
                <a:latin typeface="Times New Roman" pitchFamily="18" charset="0"/>
                <a:cs typeface="Times New Roman" pitchFamily="18" charset="0"/>
              </a:rPr>
              <a:t>It is an interrupt acknowledge pin. </a:t>
            </a:r>
          </a:p>
          <a:p>
            <a:pPr fontAlgn="base">
              <a:buFont typeface="Wingdings" pitchFamily="2" charset="2"/>
              <a:buChar char="ü"/>
            </a:pPr>
            <a:r>
              <a:rPr lang="en-US" sz="2000" dirty="0" smtClean="0">
                <a:latin typeface="Times New Roman" pitchFamily="18" charset="0"/>
                <a:cs typeface="Times New Roman" pitchFamily="18" charset="0"/>
              </a:rPr>
              <a:t>Whenever an INTR signal is generated, then the microprocessor generates INTA signal, as a response to that interrupt.</a:t>
            </a:r>
          </a:p>
          <a:p>
            <a:pPr fontAlgn="base">
              <a:buFont typeface="Wingdings" pitchFamily="2" charset="2"/>
              <a:buChar char="ü"/>
            </a:pPr>
            <a:r>
              <a:rPr lang="en-US" sz="2000" dirty="0" smtClean="0">
                <a:latin typeface="Times New Roman" pitchFamily="18" charset="0"/>
                <a:cs typeface="Times New Roman" pitchFamily="18" charset="0"/>
              </a:rPr>
              <a:t>INTA is low in two consecutive bus cycles.</a:t>
            </a:r>
          </a:p>
          <a:p>
            <a:pPr fontAlgn="base">
              <a:buFont typeface="Wingdings" pitchFamily="2" charset="2"/>
              <a:buChar char="ü"/>
            </a:pPr>
            <a:r>
              <a:rPr lang="en-US" sz="2000" dirty="0" smtClean="0">
                <a:latin typeface="Times New Roman" pitchFamily="18" charset="0"/>
                <a:cs typeface="Times New Roman" pitchFamily="18" charset="0"/>
              </a:rPr>
              <a:t>The first pulse indicates interrupt acknowledgement and during second pulse, type of interrupt is shown on the data bus.</a:t>
            </a:r>
          </a:p>
          <a:p>
            <a:pPr fontAlgn="base">
              <a:buFont typeface="Wingdings" pitchFamily="2" charset="2"/>
              <a:buChar char="q"/>
            </a:pPr>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 </a:t>
            </a:r>
          </a:p>
          <a:p>
            <a:pPr fontAlgn="base">
              <a:buFont typeface="Wingdings" pitchFamily="2" charset="2"/>
              <a:buChar char="ü"/>
            </a:pPr>
            <a:r>
              <a:rPr lang="en-US" sz="2000" dirty="0" smtClean="0">
                <a:latin typeface="Times New Roman" pitchFamily="18" charset="0"/>
                <a:cs typeface="Times New Roman" pitchFamily="18" charset="0"/>
              </a:rPr>
              <a:t> ALE is an abbreviation for address latch enable. </a:t>
            </a:r>
          </a:p>
          <a:p>
            <a:pPr fontAlgn="base">
              <a:buFont typeface="Wingdings" pitchFamily="2" charset="2"/>
              <a:buChar char="ü"/>
            </a:pPr>
            <a:r>
              <a:rPr lang="en-US" sz="2000" dirty="0" smtClean="0">
                <a:latin typeface="Times New Roman" pitchFamily="18" charset="0"/>
                <a:cs typeface="Times New Roman" pitchFamily="18" charset="0"/>
              </a:rPr>
              <a:t>when pulse goes high means </a:t>
            </a:r>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=1, it makes address bus enable and when </a:t>
            </a:r>
            <a:r>
              <a:rPr lang="en-US" sz="2000" b="1" dirty="0" smtClean="0">
                <a:latin typeface="Times New Roman" pitchFamily="18" charset="0"/>
                <a:cs typeface="Times New Roman" pitchFamily="18" charset="0"/>
              </a:rPr>
              <a:t>ALE</a:t>
            </a:r>
            <a:r>
              <a:rPr lang="en-US" sz="2000" dirty="0" smtClean="0">
                <a:latin typeface="Times New Roman" pitchFamily="18" charset="0"/>
                <a:cs typeface="Times New Roman" pitchFamily="18" charset="0"/>
              </a:rPr>
              <a:t>=0, means low pulse makes data bus enable.</a:t>
            </a:r>
          </a:p>
          <a:p>
            <a:pPr fontAlgn="base">
              <a:buFont typeface="Wingdings" pitchFamily="2" charset="2"/>
              <a:buChar char="q"/>
            </a:pPr>
            <a:r>
              <a:rPr lang="en-US" sz="2000" b="1" dirty="0" smtClean="0">
                <a:latin typeface="Times New Roman" pitchFamily="18" charset="0"/>
                <a:cs typeface="Times New Roman" pitchFamily="18" charset="0"/>
              </a:rPr>
              <a:t>DEN’</a:t>
            </a:r>
            <a:r>
              <a:rPr lang="en-US" sz="2000" dirty="0" smtClean="0">
                <a:latin typeface="Times New Roman" pitchFamily="18" charset="0"/>
                <a:cs typeface="Times New Roman" pitchFamily="18" charset="0"/>
              </a:rPr>
              <a:t> </a:t>
            </a:r>
          </a:p>
          <a:p>
            <a:pPr fontAlgn="base">
              <a:buFont typeface="Wingdings" pitchFamily="2" charset="2"/>
              <a:buChar char="ü"/>
            </a:pPr>
            <a:r>
              <a:rPr lang="en-US" sz="2000" dirty="0" smtClean="0">
                <a:latin typeface="Times New Roman" pitchFamily="18" charset="0"/>
                <a:cs typeface="Times New Roman" pitchFamily="18" charset="0"/>
              </a:rPr>
              <a:t>DEN is used for </a:t>
            </a:r>
            <a:r>
              <a:rPr lang="en-US" sz="2000" b="1" dirty="0" smtClean="0">
                <a:latin typeface="Times New Roman" pitchFamily="18" charset="0"/>
                <a:cs typeface="Times New Roman" pitchFamily="18" charset="0"/>
              </a:rPr>
              <a:t>data enable</a:t>
            </a:r>
            <a:r>
              <a:rPr lang="en-US" sz="2000" dirty="0" smtClean="0">
                <a:latin typeface="Times New Roman" pitchFamily="18" charset="0"/>
                <a:cs typeface="Times New Roman" pitchFamily="18" charset="0"/>
              </a:rPr>
              <a:t>.</a:t>
            </a:r>
          </a:p>
          <a:p>
            <a:pPr fontAlgn="base">
              <a:buFont typeface="Wingdings" pitchFamily="2" charset="2"/>
              <a:buChar char="ü"/>
            </a:pPr>
            <a:r>
              <a:rPr lang="en-US" sz="2000" dirty="0" smtClean="0">
                <a:latin typeface="Times New Roman" pitchFamily="18" charset="0"/>
                <a:cs typeface="Times New Roman" pitchFamily="18" charset="0"/>
              </a:rPr>
              <a:t> This is an active low pin that means whenever a 0 is present at this pin then the transceiver gets enabled and it separates the data from the multiplexed address and data bus.</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500042"/>
            <a:ext cx="7790712" cy="5748358"/>
          </a:xfrm>
        </p:spPr>
        <p:txBody>
          <a:bodyPr>
            <a:normAutofit fontScale="47500" lnSpcReduction="20000"/>
          </a:bodyPr>
          <a:lstStyle/>
          <a:p>
            <a:pPr algn="just" fontAlgn="base">
              <a:buNone/>
            </a:pPr>
            <a:r>
              <a:rPr lang="en-US" b="1" dirty="0" smtClean="0">
                <a:latin typeface="Times New Roman" pitchFamily="18" charset="0"/>
                <a:cs typeface="Times New Roman" pitchFamily="18" charset="0"/>
              </a:rPr>
              <a:t>DT/R’(Data Transmit/Receive)</a:t>
            </a:r>
            <a:r>
              <a:rPr lang="en-US" dirty="0" smtClean="0">
                <a:latin typeface="Times New Roman" pitchFamily="18" charset="0"/>
                <a:cs typeface="Times New Roman" pitchFamily="18" charset="0"/>
              </a:rPr>
              <a:t> – </a:t>
            </a:r>
            <a:r>
              <a:rPr lang="en-US" b="1" i="1" dirty="0" smtClean="0">
                <a:latin typeface="Times New Roman" pitchFamily="18" charset="0"/>
                <a:cs typeface="Times New Roman" pitchFamily="18" charset="0"/>
              </a:rPr>
              <a:t>Pin number 27</a:t>
            </a:r>
            <a:r>
              <a:rPr lang="en-US" dirty="0" smtClean="0">
                <a:latin typeface="Times New Roman" pitchFamily="18" charset="0"/>
                <a:cs typeface="Times New Roman" pitchFamily="18" charset="0"/>
              </a:rPr>
              <a:t> </a:t>
            </a:r>
          </a:p>
          <a:p>
            <a:pPr algn="just" fontAlgn="base">
              <a:buFont typeface="Wingdings" pitchFamily="2" charset="2"/>
              <a:buChar char="ü"/>
            </a:pPr>
            <a:r>
              <a:rPr lang="en-US" dirty="0" smtClean="0">
                <a:latin typeface="Times New Roman" pitchFamily="18" charset="0"/>
                <a:cs typeface="Times New Roman" pitchFamily="18" charset="0"/>
              </a:rPr>
              <a:t> This pin is used to show whether the data is getting transmitted or is received. </a:t>
            </a:r>
          </a:p>
          <a:p>
            <a:pPr algn="just" fontAlgn="base">
              <a:buFont typeface="Wingdings" pitchFamily="2" charset="2"/>
              <a:buChar char="ü"/>
            </a:pPr>
            <a:r>
              <a:rPr lang="en-US" dirty="0" smtClean="0">
                <a:latin typeface="Times New Roman" pitchFamily="18" charset="0"/>
                <a:cs typeface="Times New Roman" pitchFamily="18" charset="0"/>
              </a:rPr>
              <a:t>A high signal at this pin provides the information regarding the transmission of data. While a low indicates reception of data.</a:t>
            </a:r>
          </a:p>
          <a:p>
            <a:pPr algn="just" fontAlgn="base"/>
            <a:endParaRPr lang="en-US" b="1" dirty="0" smtClean="0">
              <a:latin typeface="Times New Roman" pitchFamily="18" charset="0"/>
              <a:cs typeface="Times New Roman" pitchFamily="18" charset="0"/>
            </a:endParaRPr>
          </a:p>
          <a:p>
            <a:pPr algn="just" fontAlgn="base">
              <a:buNone/>
            </a:pPr>
            <a:r>
              <a:rPr lang="en-US" b="1" dirty="0" smtClean="0">
                <a:latin typeface="Times New Roman" pitchFamily="18" charset="0"/>
                <a:cs typeface="Times New Roman" pitchFamily="18" charset="0"/>
              </a:rPr>
              <a:t>M/IO’</a:t>
            </a:r>
            <a:r>
              <a:rPr lang="en-US" dirty="0" smtClean="0">
                <a:latin typeface="Times New Roman" pitchFamily="18" charset="0"/>
                <a:cs typeface="Times New Roman" pitchFamily="18" charset="0"/>
              </a:rPr>
              <a:t> – </a:t>
            </a:r>
            <a:r>
              <a:rPr lang="en-US" b="1" i="1" dirty="0" smtClean="0">
                <a:latin typeface="Times New Roman" pitchFamily="18" charset="0"/>
                <a:cs typeface="Times New Roman" pitchFamily="18" charset="0"/>
              </a:rPr>
              <a:t>Pin number 28</a:t>
            </a:r>
            <a:r>
              <a:rPr lang="en-US" dirty="0" smtClean="0">
                <a:latin typeface="Times New Roman" pitchFamily="18" charset="0"/>
                <a:cs typeface="Times New Roman" pitchFamily="18" charset="0"/>
              </a:rPr>
              <a:t> –</a:t>
            </a:r>
          </a:p>
          <a:p>
            <a:pPr algn="just" fontAlgn="base">
              <a:buFont typeface="Wingdings" pitchFamily="2" charset="2"/>
              <a:buChar char="ü"/>
            </a:pPr>
            <a:r>
              <a:rPr lang="en-US" dirty="0" smtClean="0">
                <a:latin typeface="Times New Roman" pitchFamily="18" charset="0"/>
                <a:cs typeface="Times New Roman" pitchFamily="18" charset="0"/>
              </a:rPr>
              <a:t> This pin indicates whether the processor is performing an operation with memory or I/O devices. </a:t>
            </a:r>
          </a:p>
          <a:p>
            <a:pPr algn="just" fontAlgn="base">
              <a:buFont typeface="Wingdings" pitchFamily="2" charset="2"/>
              <a:buChar char="ü"/>
            </a:pPr>
            <a:r>
              <a:rPr lang="en-US" dirty="0" smtClean="0">
                <a:latin typeface="Times New Roman" pitchFamily="18" charset="0"/>
                <a:cs typeface="Times New Roman" pitchFamily="18" charset="0"/>
              </a:rPr>
              <a:t>Whenever a high is present at this pin then it shows the operation is carried out through the memory.</a:t>
            </a:r>
          </a:p>
          <a:p>
            <a:pPr algn="just" fontAlgn="base">
              <a:buFont typeface="Wingdings" pitchFamily="2" charset="2"/>
              <a:buChar char="ü"/>
            </a:pPr>
            <a:r>
              <a:rPr lang="en-US" dirty="0" smtClean="0">
                <a:latin typeface="Times New Roman" pitchFamily="18" charset="0"/>
                <a:cs typeface="Times New Roman" pitchFamily="18" charset="0"/>
              </a:rPr>
              <a:t> While a low signal shows operation through I/O devices.</a:t>
            </a:r>
          </a:p>
          <a:p>
            <a:pPr algn="just" fontAlgn="base">
              <a:buNone/>
            </a:pPr>
            <a:r>
              <a:rPr lang="en-US" b="1" dirty="0" smtClean="0">
                <a:latin typeface="Times New Roman" pitchFamily="18" charset="0"/>
                <a:cs typeface="Times New Roman" pitchFamily="18" charset="0"/>
              </a:rPr>
              <a:t>WR’</a:t>
            </a:r>
            <a:r>
              <a:rPr lang="en-US" dirty="0" smtClean="0">
                <a:latin typeface="Times New Roman" pitchFamily="18" charset="0"/>
                <a:cs typeface="Times New Roman" pitchFamily="18" charset="0"/>
              </a:rPr>
              <a:t> – </a:t>
            </a:r>
            <a:r>
              <a:rPr lang="en-US" b="1" i="1" dirty="0" smtClean="0">
                <a:latin typeface="Times New Roman" pitchFamily="18" charset="0"/>
                <a:cs typeface="Times New Roman" pitchFamily="18" charset="0"/>
              </a:rPr>
              <a:t>Pin number 29</a:t>
            </a:r>
            <a:r>
              <a:rPr lang="en-US" dirty="0" smtClean="0">
                <a:latin typeface="Times New Roman" pitchFamily="18" charset="0"/>
                <a:cs typeface="Times New Roman" pitchFamily="18" charset="0"/>
              </a:rPr>
              <a:t> –</a:t>
            </a:r>
          </a:p>
          <a:p>
            <a:pPr algn="just" fontAlgn="base">
              <a:buFont typeface="Wingdings" pitchFamily="2" charset="2"/>
              <a:buChar char="ü"/>
            </a:pPr>
            <a:r>
              <a:rPr lang="en-US" dirty="0" smtClean="0">
                <a:latin typeface="Times New Roman" pitchFamily="18" charset="0"/>
                <a:cs typeface="Times New Roman" pitchFamily="18" charset="0"/>
              </a:rPr>
              <a:t> An active low signal at this pin indicates that the processor is performing write operation from either memory or I/O devices.</a:t>
            </a:r>
          </a:p>
          <a:p>
            <a:pPr algn="just" fontAlgn="base">
              <a:buNone/>
            </a:pPr>
            <a:r>
              <a:rPr lang="en-US" b="1" dirty="0" smtClean="0">
                <a:latin typeface="Times New Roman" pitchFamily="18" charset="0"/>
                <a:cs typeface="Times New Roman" pitchFamily="18" charset="0"/>
              </a:rPr>
              <a:t>HOLD</a:t>
            </a:r>
            <a:r>
              <a:rPr lang="en-US" dirty="0" smtClean="0">
                <a:latin typeface="Times New Roman" pitchFamily="18" charset="0"/>
                <a:cs typeface="Times New Roman" pitchFamily="18" charset="0"/>
              </a:rPr>
              <a:t> –</a:t>
            </a:r>
            <a:r>
              <a:rPr lang="en-US" b="1" i="1" dirty="0" smtClean="0">
                <a:latin typeface="Times New Roman" pitchFamily="18" charset="0"/>
                <a:cs typeface="Times New Roman" pitchFamily="18" charset="0"/>
              </a:rPr>
              <a:t> Pin number 31</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t>
            </a:r>
          </a:p>
          <a:p>
            <a:pPr algn="just" fontAlgn="base">
              <a:buFont typeface="Wingdings" pitchFamily="2" charset="2"/>
              <a:buChar char="ü"/>
            </a:pPr>
            <a:r>
              <a:rPr lang="en-US" dirty="0" smtClean="0">
                <a:latin typeface="Times New Roman" pitchFamily="18" charset="0"/>
                <a:cs typeface="Times New Roman" pitchFamily="18" charset="0"/>
              </a:rPr>
              <a:t>When an external device enables this pin then the processor stops accessing the buses immediately after the recent task gets over.</a:t>
            </a:r>
          </a:p>
          <a:p>
            <a:pPr algn="just" fontAlgn="base">
              <a:buNone/>
            </a:pPr>
            <a:r>
              <a:rPr lang="en-US" b="1" dirty="0" smtClean="0">
                <a:latin typeface="Times New Roman" pitchFamily="18" charset="0"/>
                <a:cs typeface="Times New Roman" pitchFamily="18" charset="0"/>
              </a:rPr>
              <a:t>HLDA</a:t>
            </a:r>
            <a:r>
              <a:rPr lang="en-US" dirty="0" smtClean="0">
                <a:latin typeface="Times New Roman" pitchFamily="18" charset="0"/>
                <a:cs typeface="Times New Roman" pitchFamily="18" charset="0"/>
              </a:rPr>
              <a:t> – </a:t>
            </a:r>
            <a:r>
              <a:rPr lang="en-US" b="1" i="1" dirty="0" smtClean="0">
                <a:latin typeface="Times New Roman" pitchFamily="18" charset="0"/>
                <a:cs typeface="Times New Roman" pitchFamily="18" charset="0"/>
              </a:rPr>
              <a:t>Pin number 30</a:t>
            </a:r>
            <a:r>
              <a:rPr lang="en-US" dirty="0" smtClean="0">
                <a:latin typeface="Times New Roman" pitchFamily="18" charset="0"/>
                <a:cs typeface="Times New Roman" pitchFamily="18" charset="0"/>
              </a:rPr>
              <a:t> –</a:t>
            </a:r>
          </a:p>
          <a:p>
            <a:pPr algn="just" fontAlgn="base">
              <a:buFont typeface="Wingdings" pitchFamily="2" charset="2"/>
              <a:buChar char="ü"/>
            </a:pPr>
            <a:r>
              <a:rPr lang="en-US" dirty="0" smtClean="0">
                <a:latin typeface="Times New Roman" pitchFamily="18" charset="0"/>
                <a:cs typeface="Times New Roman" pitchFamily="18" charset="0"/>
              </a:rPr>
              <a:t> This pin is used as a response pin for the hold request. Once request for accessing the buses is produced by an external entity. Then the microprocessor acknowledges the device that its request will be considered once it gets over by the current operation.</a:t>
            </a:r>
          </a:p>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Clock Generator Intel 8284</a:t>
            </a:r>
            <a:endParaRPr lang="en-US" dirty="0"/>
          </a:p>
        </p:txBody>
      </p:sp>
      <p:sp>
        <p:nvSpPr>
          <p:cNvPr id="3" name="Content Placeholder 2"/>
          <p:cNvSpPr>
            <a:spLocks noGrp="1"/>
          </p:cNvSpPr>
          <p:nvPr>
            <p:ph idx="1"/>
          </p:nvPr>
        </p:nvSpPr>
        <p:spPr>
          <a:xfrm>
            <a:off x="1071538" y="1214422"/>
            <a:ext cx="7929618" cy="5429288"/>
          </a:xfrm>
        </p:spPr>
        <p:txBody>
          <a:bodyPr>
            <a:normAutofit/>
          </a:bodyPr>
          <a:lstStyle/>
          <a:p>
            <a:r>
              <a:rPr lang="en-US" sz="2000" dirty="0" smtClean="0"/>
              <a:t>To synchronize the internal and external operations of the microprocessor a clock (CLK) input signal is used. The CLK can be generated by the 8284 clock generator IC.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is an 18-pin IC.</a:t>
            </a:r>
          </a:p>
          <a:p>
            <a:r>
              <a:rPr lang="en-US" sz="2000" dirty="0" smtClean="0">
                <a:latin typeface="Times New Roman" pitchFamily="18" charset="0"/>
                <a:cs typeface="Times New Roman" pitchFamily="18" charset="0"/>
              </a:rPr>
              <a:t>It provides CLK, READY and RESET signals to the 8086.</a:t>
            </a:r>
          </a:p>
          <a:p>
            <a:r>
              <a:rPr lang="en-US" sz="2000" dirty="0" smtClean="0">
                <a:latin typeface="Times New Roman" pitchFamily="18" charset="0"/>
                <a:cs typeface="Times New Roman" pitchFamily="18" charset="0"/>
              </a:rPr>
              <a:t>CLK provides basic timing for processing operation  and bus control activity and  is generated based on the frequency of crystal connected between X1 and X2.</a:t>
            </a:r>
          </a:p>
          <a:p>
            <a:r>
              <a:rPr lang="en-US" sz="2000" dirty="0" smtClean="0">
                <a:latin typeface="Times New Roman" pitchFamily="18" charset="0"/>
                <a:cs typeface="Times New Roman" pitchFamily="18" charset="0"/>
              </a:rPr>
              <a:t>RESET signal is used to terminate the present activity of the processor immediately.</a:t>
            </a:r>
          </a:p>
          <a:p>
            <a:r>
              <a:rPr lang="en-US" sz="2000" dirty="0" smtClean="0">
                <a:latin typeface="Times New Roman" pitchFamily="18" charset="0"/>
                <a:cs typeface="Times New Roman" pitchFamily="18" charset="0"/>
              </a:rPr>
              <a:t> READY</a:t>
            </a:r>
          </a:p>
          <a:p>
            <a:pPr>
              <a:buFont typeface="Wingdings" pitchFamily="2" charset="2"/>
              <a:buChar char="ü"/>
            </a:pPr>
            <a:r>
              <a:rPr lang="en-US" sz="2000" dirty="0" smtClean="0">
                <a:latin typeface="Times New Roman" pitchFamily="18" charset="0"/>
                <a:cs typeface="Times New Roman" pitchFamily="18" charset="0"/>
              </a:rPr>
              <a:t>It is an active high signal. When it is </a:t>
            </a:r>
            <a:r>
              <a:rPr lang="en-US" sz="2000" b="1" dirty="0" smtClean="0">
                <a:latin typeface="Times New Roman" pitchFamily="18" charset="0"/>
                <a:cs typeface="Times New Roman" pitchFamily="18" charset="0"/>
              </a:rPr>
              <a:t>high</a:t>
            </a:r>
            <a:r>
              <a:rPr lang="en-US" sz="2000" dirty="0" smtClean="0">
                <a:latin typeface="Times New Roman" pitchFamily="18" charset="0"/>
                <a:cs typeface="Times New Roman" pitchFamily="18" charset="0"/>
              </a:rPr>
              <a:t>, it indicates that the device is ready to transfer data. When it is </a:t>
            </a:r>
            <a:r>
              <a:rPr lang="en-US" sz="2000" b="1" dirty="0" smtClean="0">
                <a:latin typeface="Times New Roman" pitchFamily="18" charset="0"/>
                <a:cs typeface="Times New Roman" pitchFamily="18" charset="0"/>
              </a:rPr>
              <a:t>low</a:t>
            </a:r>
            <a:r>
              <a:rPr lang="en-US" sz="2000" dirty="0" smtClean="0">
                <a:latin typeface="Times New Roman" pitchFamily="18" charset="0"/>
                <a:cs typeface="Times New Roman" pitchFamily="18" charset="0"/>
              </a:rPr>
              <a:t>, it indicates wait state. </a:t>
            </a: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1414"/>
            <a:ext cx="7498080" cy="785818"/>
          </a:xfrm>
        </p:spPr>
        <p:txBody>
          <a:bodyPr/>
          <a:lstStyle/>
          <a:p>
            <a:r>
              <a:rPr lang="en-US" dirty="0" smtClean="0"/>
              <a:t>8282 Address Latch </a:t>
            </a:r>
            <a:endParaRPr lang="en-US" dirty="0"/>
          </a:p>
        </p:txBody>
      </p:sp>
      <p:sp>
        <p:nvSpPr>
          <p:cNvPr id="3" name="Content Placeholder 2"/>
          <p:cNvSpPr>
            <a:spLocks noGrp="1"/>
          </p:cNvSpPr>
          <p:nvPr>
            <p:ph idx="1"/>
          </p:nvPr>
        </p:nvSpPr>
        <p:spPr>
          <a:xfrm>
            <a:off x="1071538" y="857232"/>
            <a:ext cx="7858180" cy="5429288"/>
          </a:xfrm>
        </p:spPr>
        <p:txBody>
          <a:bodyPr>
            <a:normAutofit/>
          </a:bodyPr>
          <a:lstStyle/>
          <a:p>
            <a:pPr>
              <a:buFont typeface="Wingdings" pitchFamily="2" charset="2"/>
              <a:buChar char="Ø"/>
            </a:pPr>
            <a:r>
              <a:rPr lang="en-US" sz="2000" dirty="0" smtClean="0">
                <a:latin typeface="Times New Roman" pitchFamily="18" charset="0"/>
                <a:cs typeface="Times New Roman" pitchFamily="18" charset="0"/>
              </a:rPr>
              <a:t>Latches are generally buffered output D-type flip-flops like 74LS373 or 8282. </a:t>
            </a:r>
          </a:p>
          <a:p>
            <a:pPr>
              <a:buFont typeface="Wingdings" pitchFamily="2" charset="2"/>
              <a:buChar char="Ø"/>
            </a:pPr>
            <a:r>
              <a:rPr lang="en-US" sz="2000" dirty="0" smtClean="0">
                <a:latin typeface="Times New Roman" pitchFamily="18" charset="0"/>
                <a:cs typeface="Times New Roman" pitchFamily="18" charset="0"/>
              </a:rPr>
              <a:t>They are used for separating the valid address from the multiplexed address/data signals and are controlled by the ALE signal generated by 8086. </a:t>
            </a:r>
          </a:p>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8286 Transceiver</a:t>
            </a:r>
            <a:endParaRPr lang="en-US" dirty="0"/>
          </a:p>
        </p:txBody>
      </p:sp>
      <p:sp>
        <p:nvSpPr>
          <p:cNvPr id="3" name="Content Placeholder 2"/>
          <p:cNvSpPr>
            <a:spLocks noGrp="1"/>
          </p:cNvSpPr>
          <p:nvPr>
            <p:ph idx="1"/>
          </p:nvPr>
        </p:nvSpPr>
        <p:spPr/>
        <p:txBody>
          <a:bodyPr/>
          <a:lstStyle/>
          <a:p>
            <a:r>
              <a:rPr lang="en-US" sz="2000" dirty="0" err="1" smtClean="0">
                <a:latin typeface="Times New Roman" pitchFamily="18" charset="0"/>
                <a:cs typeface="Times New Roman" pitchFamily="18" charset="0"/>
              </a:rPr>
              <a:t>Transreceivers</a:t>
            </a:r>
            <a:r>
              <a:rPr lang="en-US" sz="2000" dirty="0" smtClean="0">
                <a:latin typeface="Times New Roman" pitchFamily="18" charset="0"/>
                <a:cs typeface="Times New Roman" pitchFamily="18" charset="0"/>
              </a:rPr>
              <a:t> are the bidirectional buffers and some times they are called as data amplifiers. </a:t>
            </a:r>
          </a:p>
          <a:p>
            <a:r>
              <a:rPr lang="en-US" sz="2000" dirty="0" smtClean="0">
                <a:latin typeface="Times New Roman" pitchFamily="18" charset="0"/>
                <a:cs typeface="Times New Roman" pitchFamily="18" charset="0"/>
              </a:rPr>
              <a:t>They are required to separate the valid data from the time multiplexed address/data signals. </a:t>
            </a:r>
          </a:p>
          <a:p>
            <a:r>
              <a:rPr lang="en-US" sz="2000" dirty="0" smtClean="0">
                <a:latin typeface="Times New Roman" pitchFamily="18" charset="0"/>
                <a:cs typeface="Times New Roman" pitchFamily="18" charset="0"/>
              </a:rPr>
              <a:t>The ALE(Address Latch Enable) signal acts as strobe(a signal to validate) for latching </a:t>
            </a:r>
          </a:p>
          <a:p>
            <a:r>
              <a:rPr lang="en-US" sz="2000" dirty="0" smtClean="0">
                <a:latin typeface="Times New Roman" pitchFamily="18" charset="0"/>
                <a:cs typeface="Times New Roman" pitchFamily="18" charset="0"/>
              </a:rPr>
              <a:t>They are controlled by two signals namely, DEN’ and DT/R’.</a:t>
            </a:r>
          </a:p>
          <a:p>
            <a:r>
              <a:rPr lang="en-US" sz="2000" dirty="0" smtClean="0">
                <a:latin typeface="Times New Roman" pitchFamily="18" charset="0"/>
                <a:cs typeface="Times New Roman" pitchFamily="18" charset="0"/>
              </a:rPr>
              <a:t>The DEN signal indicates the direction of data, i.e. from or to the processor.</a:t>
            </a:r>
          </a:p>
          <a:p>
            <a:r>
              <a:rPr lang="en-US" sz="2000" dirty="0" smtClean="0">
                <a:latin typeface="Times New Roman" pitchFamily="18" charset="0"/>
                <a:cs typeface="Times New Roman" pitchFamily="18" charset="0"/>
              </a:rPr>
              <a:t>When DEN is 0, it indicates data are transferred to </a:t>
            </a:r>
            <a:r>
              <a:rPr lang="en-US" sz="2000" dirty="0" smtClean="0"/>
              <a:t>Transceiver.</a:t>
            </a:r>
          </a:p>
          <a:p>
            <a:endParaRPr lang="en-US" sz="2000" dirty="0" smtClean="0">
              <a:latin typeface="Times New Roman" pitchFamily="18" charset="0"/>
              <a:cs typeface="Times New Roman" pitchFamily="18" charset="0"/>
            </a:endParaRPr>
          </a:p>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7290" y="0"/>
            <a:ext cx="7498080" cy="571504"/>
          </a:xfrm>
        </p:spPr>
        <p:txBody>
          <a:bodyPr>
            <a:normAutofit fontScale="90000"/>
          </a:bodyPr>
          <a:lstStyle/>
          <a:p>
            <a:r>
              <a:rPr lang="en-US" dirty="0" smtClean="0"/>
              <a:t>Timing Diagram</a:t>
            </a:r>
            <a:endParaRPr lang="en-US" dirty="0"/>
          </a:p>
        </p:txBody>
      </p:sp>
      <p:sp>
        <p:nvSpPr>
          <p:cNvPr id="3" name="Content Placeholder 2"/>
          <p:cNvSpPr>
            <a:spLocks noGrp="1"/>
          </p:cNvSpPr>
          <p:nvPr>
            <p:ph idx="1"/>
          </p:nvPr>
        </p:nvSpPr>
        <p:spPr>
          <a:xfrm>
            <a:off x="1000100" y="571480"/>
            <a:ext cx="8001056" cy="6000792"/>
          </a:xfrm>
        </p:spPr>
        <p:txBody>
          <a:bodyPr>
            <a:normAutofit/>
          </a:bodyPr>
          <a:lstStyle/>
          <a:p>
            <a:pPr algn="just"/>
            <a:r>
              <a:rPr lang="en-US" sz="1800" dirty="0" smtClean="0">
                <a:latin typeface="Times New Roman" pitchFamily="18" charset="0"/>
                <a:cs typeface="Times New Roman" pitchFamily="18" charset="0"/>
              </a:rPr>
              <a:t>It is the graphical representation of the working each instruction and execution with respect to the time.</a:t>
            </a:r>
          </a:p>
          <a:p>
            <a:pPr algn="just"/>
            <a:r>
              <a:rPr lang="en-US" sz="1800" dirty="0" smtClean="0">
                <a:latin typeface="Times New Roman" pitchFamily="18" charset="0"/>
                <a:cs typeface="Times New Roman" pitchFamily="18" charset="0"/>
              </a:rPr>
              <a:t>The timing diagram represents the clock cycle and duration, delay, content of address bus and data bus, type of operation.</a:t>
            </a:r>
          </a:p>
          <a:p>
            <a:pPr algn="just">
              <a:buNone/>
            </a:pPr>
            <a:r>
              <a:rPr lang="en-US" sz="1800" b="1" u="sng" dirty="0" smtClean="0">
                <a:solidFill>
                  <a:srgbClr val="C00000"/>
                </a:solidFill>
                <a:latin typeface="Times New Roman" pitchFamily="18" charset="0"/>
                <a:cs typeface="Times New Roman" pitchFamily="18" charset="0"/>
              </a:rPr>
              <a:t>Terms Related to the Timing Diagram</a:t>
            </a:r>
          </a:p>
          <a:p>
            <a:pPr algn="just">
              <a:buFont typeface="Wingdings" pitchFamily="2" charset="2"/>
              <a:buChar char="q"/>
            </a:pPr>
            <a:r>
              <a:rPr lang="en-US" sz="1800" b="1" dirty="0" smtClean="0">
                <a:latin typeface="Times New Roman" pitchFamily="18" charset="0"/>
                <a:cs typeface="Times New Roman" pitchFamily="18" charset="0"/>
              </a:rPr>
              <a:t>Instruction Cycle:</a:t>
            </a:r>
          </a:p>
          <a:p>
            <a:pPr algn="just">
              <a:buFont typeface="Wingdings" pitchFamily="2" charset="2"/>
              <a:buChar char="ü"/>
            </a:pPr>
            <a:r>
              <a:rPr lang="en-US" sz="1800" dirty="0" smtClean="0">
                <a:latin typeface="Times New Roman" pitchFamily="18" charset="0"/>
                <a:cs typeface="Times New Roman" pitchFamily="18" charset="0"/>
              </a:rPr>
              <a:t>The number of steps required by the </a:t>
            </a:r>
            <a:r>
              <a:rPr lang="en-US" sz="1800" dirty="0" err="1" smtClean="0">
                <a:latin typeface="Times New Roman" pitchFamily="18" charset="0"/>
                <a:cs typeface="Times New Roman" pitchFamily="18" charset="0"/>
              </a:rPr>
              <a:t>cpu</a:t>
            </a:r>
            <a:r>
              <a:rPr lang="en-US" sz="1800" dirty="0" smtClean="0">
                <a:latin typeface="Times New Roman" pitchFamily="18" charset="0"/>
                <a:cs typeface="Times New Roman" pitchFamily="18" charset="0"/>
              </a:rPr>
              <a:t> to execute </a:t>
            </a:r>
            <a:r>
              <a:rPr lang="en-US" sz="1800" smtClean="0">
                <a:latin typeface="Times New Roman" pitchFamily="18" charset="0"/>
                <a:cs typeface="Times New Roman" pitchFamily="18" charset="0"/>
              </a:rPr>
              <a:t>an instruction.</a:t>
            </a:r>
            <a:endParaRPr lang="en-US" sz="1800" dirty="0" smtClean="0">
              <a:latin typeface="Times New Roman" pitchFamily="18" charset="0"/>
              <a:cs typeface="Times New Roman" pitchFamily="18" charset="0"/>
            </a:endParaRPr>
          </a:p>
          <a:p>
            <a:pPr algn="just">
              <a:buFont typeface="Wingdings" pitchFamily="2" charset="2"/>
              <a:buChar char="ü"/>
            </a:pPr>
            <a:endParaRPr lang="en-US" sz="1800" dirty="0" smtClean="0">
              <a:latin typeface="Times New Roman" pitchFamily="18" charset="0"/>
              <a:cs typeface="Times New Roman" pitchFamily="18" charset="0"/>
            </a:endParaRPr>
          </a:p>
          <a:p>
            <a:pPr algn="just">
              <a:buFont typeface="Wingdings" pitchFamily="2" charset="2"/>
              <a:buChar char="q"/>
            </a:pPr>
            <a:r>
              <a:rPr lang="en-US" sz="1800" b="1" dirty="0" smtClean="0">
                <a:latin typeface="Times New Roman" pitchFamily="18" charset="0"/>
                <a:cs typeface="Times New Roman" pitchFamily="18" charset="0"/>
              </a:rPr>
              <a:t>Machine Cycle:</a:t>
            </a:r>
          </a:p>
          <a:p>
            <a:pPr algn="just">
              <a:buFont typeface="Wingdings" pitchFamily="2" charset="2"/>
              <a:buChar char="ü"/>
            </a:pPr>
            <a:r>
              <a:rPr lang="en-US" sz="1800" dirty="0" smtClean="0">
                <a:latin typeface="Times New Roman" pitchFamily="18" charset="0"/>
                <a:cs typeface="Times New Roman" pitchFamily="18" charset="0"/>
              </a:rPr>
              <a:t>It is the time required by the microprocessor to complete the operation of accessing the memory or I/O devices.</a:t>
            </a:r>
          </a:p>
          <a:p>
            <a:pPr algn="just">
              <a:buFont typeface="Wingdings" pitchFamily="2" charset="2"/>
              <a:buChar char="ü"/>
            </a:pPr>
            <a:r>
              <a:rPr lang="en-US" sz="1800" dirty="0" smtClean="0">
                <a:latin typeface="Times New Roman" pitchFamily="18" charset="0"/>
                <a:cs typeface="Times New Roman" pitchFamily="18" charset="0"/>
              </a:rPr>
              <a:t>In machine cycles, the operations like </a:t>
            </a:r>
            <a:r>
              <a:rPr lang="en-US" sz="1800" dirty="0" err="1" smtClean="0">
                <a:latin typeface="Times New Roman" pitchFamily="18" charset="0"/>
                <a:cs typeface="Times New Roman" pitchFamily="18" charset="0"/>
              </a:rPr>
              <a:t>opcode</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fetch,memory</a:t>
            </a:r>
            <a:r>
              <a:rPr lang="en-US" sz="1800" dirty="0" smtClean="0">
                <a:latin typeface="Times New Roman" pitchFamily="18" charset="0"/>
                <a:cs typeface="Times New Roman" pitchFamily="18" charset="0"/>
              </a:rPr>
              <a:t> read, memory write, I/O read, I/O write are performed.</a:t>
            </a:r>
          </a:p>
          <a:p>
            <a:pPr algn="just">
              <a:buFont typeface="Wingdings" pitchFamily="2" charset="2"/>
              <a:buChar char="q"/>
            </a:pPr>
            <a:r>
              <a:rPr lang="en-US" sz="1800" b="1" dirty="0" smtClean="0">
                <a:latin typeface="Times New Roman" pitchFamily="18" charset="0"/>
                <a:cs typeface="Times New Roman" pitchFamily="18" charset="0"/>
              </a:rPr>
              <a:t>T-state</a:t>
            </a:r>
            <a:r>
              <a:rPr lang="en-US" sz="1800" dirty="0" smtClean="0">
                <a:latin typeface="Times New Roman" pitchFamily="18" charset="0"/>
                <a:cs typeface="Times New Roman" pitchFamily="18" charset="0"/>
              </a:rPr>
              <a:t>: Each clock cycle is called as T-state</a:t>
            </a:r>
          </a:p>
          <a:p>
            <a:pPr algn="just">
              <a:buNone/>
            </a:pPr>
            <a:r>
              <a:rPr lang="en-US" sz="1800" b="1" dirty="0" smtClean="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1E79AC49-16EF-4FE2-AFCD-22497A2D05A4}" type="slidenum">
              <a:rPr lang="en-US" smtClean="0"/>
              <a:pPr/>
              <a:t>9</a:t>
            </a:fld>
            <a:endParaRPr lang="en-US"/>
          </a:p>
        </p:txBody>
      </p:sp>
      <p:sp>
        <p:nvSpPr>
          <p:cNvPr id="5" name="Rectangle 4"/>
          <p:cNvSpPr/>
          <p:nvPr/>
        </p:nvSpPr>
        <p:spPr>
          <a:xfrm>
            <a:off x="1357290" y="2857497"/>
            <a:ext cx="6215106" cy="400110"/>
          </a:xfrm>
          <a:prstGeom prst="rect">
            <a:avLst/>
          </a:prstGeom>
          <a:solidFill>
            <a:schemeClr val="accent1"/>
          </a:solidFill>
        </p:spPr>
        <p:txBody>
          <a:bodyPr wrap="square">
            <a:spAutoFit/>
          </a:bodyPr>
          <a:lstStyle/>
          <a:p>
            <a:r>
              <a:rPr lang="en-US" sz="2000" b="1" i="1" dirty="0" smtClean="0">
                <a:solidFill>
                  <a:srgbClr val="C00000"/>
                </a:solidFill>
                <a:latin typeface="Times New Roman" pitchFamily="18" charset="0"/>
                <a:cs typeface="Times New Roman" pitchFamily="18" charset="0"/>
              </a:rPr>
              <a:t>Instruction Cycle=Fetch Cycle + Execute Cycle</a:t>
            </a:r>
            <a:endParaRPr lang="en-US" sz="2000" dirty="0"/>
          </a:p>
        </p:txBody>
      </p:sp>
      <p:pic>
        <p:nvPicPr>
          <p:cNvPr id="25602" name="Picture 2" descr="V:\vssut\mpmc\instruction cycle.png"/>
          <p:cNvPicPr>
            <a:picLocks noChangeAspect="1" noChangeArrowheads="1"/>
          </p:cNvPicPr>
          <p:nvPr/>
        </p:nvPicPr>
        <p:blipFill>
          <a:blip r:embed="rId2"/>
          <a:srcRect/>
          <a:stretch>
            <a:fillRect/>
          </a:stretch>
        </p:blipFill>
        <p:spPr bwMode="auto">
          <a:xfrm>
            <a:off x="1428728" y="5143512"/>
            <a:ext cx="6786610" cy="1368422"/>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142852"/>
            <a:ext cx="7498080" cy="796908"/>
          </a:xfrm>
        </p:spPr>
        <p:txBody>
          <a:bodyPr/>
          <a:lstStyle/>
          <a:p>
            <a:r>
              <a:rPr lang="en-US" dirty="0" smtClean="0"/>
              <a:t>Representation of signals</a:t>
            </a:r>
            <a:endParaRPr lang="en-US" dirty="0"/>
          </a:p>
        </p:txBody>
      </p:sp>
      <p:sp>
        <p:nvSpPr>
          <p:cNvPr id="3" name="Content Placeholder 2"/>
          <p:cNvSpPr>
            <a:spLocks noGrp="1"/>
          </p:cNvSpPr>
          <p:nvPr>
            <p:ph idx="1"/>
          </p:nvPr>
        </p:nvSpPr>
        <p:spPr>
          <a:xfrm>
            <a:off x="1071538" y="857232"/>
            <a:ext cx="8001056" cy="5786478"/>
          </a:xfrm>
        </p:spPr>
        <p:txBody>
          <a:bodyPr>
            <a:normAutofit/>
          </a:bodyPr>
          <a:lstStyle/>
          <a:p>
            <a:r>
              <a:rPr lang="en-US" sz="2000" b="1" u="sng" dirty="0" smtClean="0">
                <a:latin typeface="Times New Roman" pitchFamily="18" charset="0"/>
                <a:cs typeface="Times New Roman" pitchFamily="18" charset="0"/>
              </a:rPr>
              <a:t>Clock Signal</a:t>
            </a:r>
          </a:p>
          <a:p>
            <a:pPr>
              <a:buFont typeface="Wingdings" pitchFamily="2" charset="2"/>
              <a:buChar char="ü"/>
            </a:pPr>
            <a:r>
              <a:rPr lang="en-US" sz="2000" dirty="0" smtClean="0">
                <a:latin typeface="Times New Roman" pitchFamily="18" charset="0"/>
                <a:cs typeface="Times New Roman" pitchFamily="18" charset="0"/>
              </a:rPr>
              <a:t>All the operations in the microprocessor are synchronized with the operating frequency.</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dirty="0" smtClean="0">
                <a:latin typeface="Times New Roman" pitchFamily="18" charset="0"/>
                <a:cs typeface="Times New Roman" pitchFamily="18" charset="0"/>
              </a:rPr>
              <a:t>Ideally the clock signals should be square wave with zero rise time and fall time but in practice, the signals are always with finite rise and fall time.</a:t>
            </a:r>
          </a:p>
          <a:p>
            <a:pPr>
              <a:buFont typeface="Wingdings" pitchFamily="2" charset="2"/>
              <a:buChar char="ü"/>
            </a:pPr>
            <a:endParaRPr lang="en-US" sz="2000" dirty="0" smtClean="0">
              <a:latin typeface="Times New Roman" pitchFamily="18" charset="0"/>
              <a:cs typeface="Times New Roman" pitchFamily="18" charset="0"/>
            </a:endParaRPr>
          </a:p>
          <a:p>
            <a:r>
              <a:rPr lang="en-US" sz="2000" b="1" u="sng" dirty="0" smtClean="0">
                <a:latin typeface="Times New Roman" pitchFamily="18" charset="0"/>
                <a:cs typeface="Times New Roman" pitchFamily="18" charset="0"/>
              </a:rPr>
              <a:t>Single Signal line</a:t>
            </a:r>
          </a:p>
          <a:p>
            <a:pPr>
              <a:buFont typeface="Wingdings" pitchFamily="2" charset="2"/>
              <a:buChar char="ü"/>
            </a:pPr>
            <a:r>
              <a:rPr lang="en-US" sz="2000" dirty="0" smtClean="0">
                <a:latin typeface="Times New Roman" pitchFamily="18" charset="0"/>
                <a:cs typeface="Times New Roman" pitchFamily="18" charset="0"/>
              </a:rPr>
              <a:t>Single signal line is represented by a line.</a:t>
            </a:r>
          </a:p>
          <a:p>
            <a:pPr>
              <a:buFont typeface="Wingdings" pitchFamily="2" charset="2"/>
              <a:buChar char="ü"/>
            </a:pPr>
            <a:r>
              <a:rPr lang="en-US" sz="2000" dirty="0" smtClean="0">
                <a:latin typeface="Times New Roman" pitchFamily="18" charset="0"/>
                <a:cs typeface="Times New Roman" pitchFamily="18" charset="0"/>
              </a:rPr>
              <a:t>It can have the status either logic 0 or logic 1 or </a:t>
            </a:r>
            <a:r>
              <a:rPr lang="en-US" sz="2000" dirty="0" err="1" smtClean="0">
                <a:latin typeface="Times New Roman" pitchFamily="18" charset="0"/>
                <a:cs typeface="Times New Roman" pitchFamily="18" charset="0"/>
              </a:rPr>
              <a:t>tristate</a:t>
            </a:r>
            <a:r>
              <a:rPr lang="en-US" sz="2000" dirty="0" smtClean="0">
                <a:latin typeface="Times New Roman" pitchFamily="18" charset="0"/>
                <a:cs typeface="Times New Roman" pitchFamily="18" charset="0"/>
              </a:rPr>
              <a:t>.</a:t>
            </a:r>
          </a:p>
          <a:p>
            <a:pPr>
              <a:buFont typeface="Wingdings" pitchFamily="2" charset="2"/>
              <a:buChar char="ü"/>
            </a:pPr>
            <a:endParaRPr lang="en-US" sz="20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10</a:t>
            </a:fld>
            <a:endParaRPr lang="en-US"/>
          </a:p>
        </p:txBody>
      </p:sp>
      <p:pic>
        <p:nvPicPr>
          <p:cNvPr id="26630" name="Picture 6" descr="V:\vssut\mpmc\single signal.png"/>
          <p:cNvPicPr>
            <a:picLocks noChangeAspect="1" noChangeArrowheads="1"/>
          </p:cNvPicPr>
          <p:nvPr/>
        </p:nvPicPr>
        <p:blipFill>
          <a:blip r:embed="rId2"/>
          <a:srcRect/>
          <a:stretch>
            <a:fillRect/>
          </a:stretch>
        </p:blipFill>
        <p:spPr bwMode="auto">
          <a:xfrm>
            <a:off x="1573224" y="5715016"/>
            <a:ext cx="6927866" cy="1000132"/>
          </a:xfrm>
          <a:prstGeom prst="rect">
            <a:avLst/>
          </a:prstGeom>
          <a:noFill/>
        </p:spPr>
      </p:pic>
      <p:pic>
        <p:nvPicPr>
          <p:cNvPr id="26631" name="Picture 7" descr="V:\vssut\mpmc\clock signal.png"/>
          <p:cNvPicPr>
            <a:picLocks noChangeAspect="1" noChangeArrowheads="1"/>
          </p:cNvPicPr>
          <p:nvPr/>
        </p:nvPicPr>
        <p:blipFill>
          <a:blip r:embed="rId3"/>
          <a:srcRect/>
          <a:stretch>
            <a:fillRect/>
          </a:stretch>
        </p:blipFill>
        <p:spPr bwMode="auto">
          <a:xfrm>
            <a:off x="1500198" y="2000240"/>
            <a:ext cx="7143768" cy="901701"/>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214290"/>
            <a:ext cx="7929618" cy="6429420"/>
          </a:xfrm>
        </p:spPr>
        <p:txBody>
          <a:bodyPr>
            <a:normAutofit/>
          </a:bodyPr>
          <a:lstStyle/>
          <a:p>
            <a:r>
              <a:rPr lang="en-US" sz="2000" b="1" u="sng" dirty="0" smtClean="0">
                <a:latin typeface="Times New Roman" pitchFamily="18" charset="0"/>
                <a:cs typeface="Times New Roman" pitchFamily="18" charset="0"/>
              </a:rPr>
              <a:t>Group of Signals</a:t>
            </a:r>
          </a:p>
          <a:p>
            <a:pPr>
              <a:buFont typeface="Wingdings" pitchFamily="2" charset="2"/>
              <a:buChar char="ü"/>
            </a:pPr>
            <a:r>
              <a:rPr lang="en-US" sz="2000" dirty="0" smtClean="0">
                <a:latin typeface="Times New Roman" pitchFamily="18" charset="0"/>
                <a:cs typeface="Times New Roman" pitchFamily="18" charset="0"/>
              </a:rPr>
              <a:t>Group of  signals is also called a bus.</a:t>
            </a:r>
          </a:p>
          <a:p>
            <a:pPr>
              <a:buFont typeface="Wingdings" pitchFamily="2" charset="2"/>
              <a:buChar char="ü"/>
            </a:pPr>
            <a:r>
              <a:rPr lang="en-US" sz="2000" dirty="0" smtClean="0">
                <a:latin typeface="Times New Roman" pitchFamily="18" charset="0"/>
                <a:cs typeface="Times New Roman" pitchFamily="18" charset="0"/>
              </a:rPr>
              <a:t>In the timing diagram, these signals are grouped and shown in the form of block.</a:t>
            </a:r>
          </a:p>
          <a:p>
            <a:pPr>
              <a:buFont typeface="Wingdings" pitchFamily="2" charset="2"/>
              <a:buChar char="ü"/>
            </a:pPr>
            <a:r>
              <a:rPr lang="en-US" sz="2000" dirty="0" smtClean="0">
                <a:latin typeface="Times New Roman" pitchFamily="18" charset="0"/>
                <a:cs typeface="Times New Roman" pitchFamily="18" charset="0"/>
              </a:rPr>
              <a:t>Change in the state of single signal changes the state of the group and it is represented by the cross.</a:t>
            </a:r>
          </a:p>
          <a:p>
            <a:pPr>
              <a:buFont typeface="Wingdings" pitchFamily="2" charset="2"/>
              <a:buChar char="ü"/>
            </a:pPr>
            <a:r>
              <a:rPr lang="en-US" sz="2000" dirty="0" smtClean="0">
                <a:latin typeface="Times New Roman" pitchFamily="18" charset="0"/>
                <a:cs typeface="Times New Roman" pitchFamily="18" charset="0"/>
              </a:rPr>
              <a:t>The </a:t>
            </a:r>
            <a:r>
              <a:rPr lang="en-US" sz="2000" dirty="0" err="1" smtClean="0">
                <a:latin typeface="Times New Roman" pitchFamily="18" charset="0"/>
                <a:cs typeface="Times New Roman" pitchFamily="18" charset="0"/>
              </a:rPr>
              <a:t>tristate</a:t>
            </a:r>
            <a:r>
              <a:rPr lang="en-US" sz="2000" dirty="0" smtClean="0">
                <a:latin typeface="Times New Roman" pitchFamily="18" charset="0"/>
                <a:cs typeface="Times New Roman" pitchFamily="18" charset="0"/>
              </a:rPr>
              <a:t> condition of the group signal is shown by dotted lines.</a:t>
            </a:r>
          </a:p>
          <a:p>
            <a:pPr>
              <a:buFont typeface="Wingdings" pitchFamily="2" charset="2"/>
              <a:buChar char="ü"/>
            </a:pPr>
            <a:r>
              <a:rPr lang="en-US" sz="2000" dirty="0" smtClean="0">
                <a:latin typeface="Times New Roman" pitchFamily="18" charset="0"/>
                <a:cs typeface="Times New Roman" pitchFamily="18" charset="0"/>
              </a:rPr>
              <a:t>Two straight lines represent valid state/stable state.</a:t>
            </a: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11</a:t>
            </a:fld>
            <a:endParaRPr lang="en-US"/>
          </a:p>
        </p:txBody>
      </p:sp>
      <p:pic>
        <p:nvPicPr>
          <p:cNvPr id="27650" name="Picture 2"/>
          <p:cNvPicPr>
            <a:picLocks noChangeAspect="1" noChangeArrowheads="1"/>
          </p:cNvPicPr>
          <p:nvPr/>
        </p:nvPicPr>
        <p:blipFill>
          <a:blip r:embed="rId2"/>
          <a:srcRect/>
          <a:stretch>
            <a:fillRect/>
          </a:stretch>
        </p:blipFill>
        <p:spPr bwMode="auto">
          <a:xfrm>
            <a:off x="1071538" y="2806700"/>
            <a:ext cx="7929618" cy="112236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1538" y="274638"/>
            <a:ext cx="8072462" cy="1143000"/>
          </a:xfrm>
        </p:spPr>
        <p:txBody>
          <a:bodyPr>
            <a:normAutofit/>
          </a:bodyPr>
          <a:lstStyle/>
          <a:p>
            <a:r>
              <a:rPr lang="en-US" sz="3600" dirty="0" smtClean="0">
                <a:latin typeface="Times New Roman" pitchFamily="18" charset="0"/>
                <a:cs typeface="Times New Roman" pitchFamily="18" charset="0"/>
              </a:rPr>
              <a:t>Read Cycle Timing Diagram of Min Mode</a:t>
            </a:r>
            <a:endParaRPr lang="en-US" sz="3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12</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959604" y="1447800"/>
            <a:ext cx="6450342" cy="48006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00100" y="274638"/>
            <a:ext cx="8143900" cy="939784"/>
          </a:xfrm>
        </p:spPr>
        <p:txBody>
          <a:bodyPr>
            <a:normAutofit/>
          </a:bodyPr>
          <a:lstStyle/>
          <a:p>
            <a:r>
              <a:rPr lang="en-US" sz="3600" dirty="0" smtClean="0">
                <a:latin typeface="Times New Roman" pitchFamily="18" charset="0"/>
                <a:cs typeface="Times New Roman" pitchFamily="18" charset="0"/>
              </a:rPr>
              <a:t>Write Cycle Timing Diagram of Min Mode</a:t>
            </a:r>
            <a:endParaRPr lang="en-US" sz="3600" dirty="0">
              <a:latin typeface="Times New Roman" pitchFamily="18" charset="0"/>
              <a:cs typeface="Times New Roman" pitchFamily="18" charset="0"/>
            </a:endParaRPr>
          </a:p>
        </p:txBody>
      </p:sp>
      <p:pic>
        <p:nvPicPr>
          <p:cNvPr id="28675" name="Picture 3"/>
          <p:cNvPicPr>
            <a:picLocks noGrp="1" noChangeAspect="1" noChangeArrowheads="1"/>
          </p:cNvPicPr>
          <p:nvPr>
            <p:ph idx="1"/>
          </p:nvPr>
        </p:nvPicPr>
        <p:blipFill>
          <a:blip r:embed="rId2"/>
          <a:stretch>
            <a:fillRect/>
          </a:stretch>
        </p:blipFill>
        <p:spPr bwMode="auto">
          <a:xfrm>
            <a:off x="1435100" y="1584620"/>
            <a:ext cx="7499350" cy="4526959"/>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1E79AC49-16EF-4FE2-AFCD-22497A2D05A4}"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Max Mode of 8086</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14</a:t>
            </a:fld>
            <a:endParaRPr lang="en-US"/>
          </a:p>
        </p:txBody>
      </p:sp>
      <p:pic>
        <p:nvPicPr>
          <p:cNvPr id="6" name="Picture 2"/>
          <p:cNvPicPr>
            <a:picLocks noGrp="1" noChangeAspect="1" noChangeArrowheads="1"/>
          </p:cNvPicPr>
          <p:nvPr>
            <p:ph idx="1"/>
          </p:nvPr>
        </p:nvPicPr>
        <p:blipFill>
          <a:blip r:embed="rId2"/>
          <a:srcRect/>
          <a:stretch>
            <a:fillRect/>
          </a:stretch>
        </p:blipFill>
        <p:spPr bwMode="auto">
          <a:xfrm>
            <a:off x="1435100" y="1789537"/>
            <a:ext cx="7499350" cy="4117126"/>
          </a:xfrm>
          <a:prstGeom prst="rect">
            <a:avLst/>
          </a:prstGeom>
          <a:noFill/>
          <a:ln w="9525">
            <a:noFill/>
            <a:round/>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214290"/>
            <a:ext cx="7790712" cy="6357982"/>
          </a:xfrm>
        </p:spPr>
        <p:txBody>
          <a:bodyPr>
            <a:normAutofit/>
          </a:bodyPr>
          <a:lstStyle/>
          <a:p>
            <a:pPr>
              <a:buFont typeface="Wingdings" pitchFamily="2" charset="2"/>
              <a:buChar char="Ø"/>
            </a:pPr>
            <a:r>
              <a:rPr lang="en-US" sz="2000" dirty="0" smtClean="0">
                <a:latin typeface="Times New Roman" pitchFamily="18" charset="0"/>
                <a:cs typeface="Times New Roman" pitchFamily="18" charset="0"/>
              </a:rPr>
              <a:t>In the maximum mode, the 8086 is operated by strapping the MN/MX* pin to </a:t>
            </a:r>
            <a:r>
              <a:rPr lang="en-US" sz="2000" dirty="0" smtClean="0">
                <a:latin typeface="Times New Roman" pitchFamily="18" charset="0"/>
                <a:cs typeface="Times New Roman" pitchFamily="18" charset="0"/>
              </a:rPr>
              <a:t>0.</a:t>
            </a:r>
          </a:p>
          <a:p>
            <a:pPr>
              <a:buFont typeface="Wingdings" pitchFamily="2" charset="2"/>
              <a:buChar char="Ø"/>
            </a:pPr>
            <a:r>
              <a:rPr lang="en-US" sz="2000" dirty="0" smtClean="0">
                <a:latin typeface="Times New Roman" pitchFamily="18" charset="0"/>
                <a:cs typeface="Times New Roman" pitchFamily="18" charset="0"/>
              </a:rPr>
              <a:t>This mode works for Multiprocessor system.</a:t>
            </a:r>
          </a:p>
          <a:p>
            <a:pPr>
              <a:buFont typeface="Wingdings" pitchFamily="2" charset="2"/>
              <a:buChar char="Ø"/>
            </a:pPr>
            <a:r>
              <a:rPr lang="en-US" sz="2000" dirty="0" smtClean="0">
                <a:latin typeface="Times New Roman" pitchFamily="18" charset="0"/>
                <a:cs typeface="Times New Roman" pitchFamily="18" charset="0"/>
              </a:rPr>
              <a:t>Microprocessor does not directly provide all control signals.</a:t>
            </a:r>
          </a:p>
          <a:p>
            <a:pPr>
              <a:buFont typeface="Wingdings" pitchFamily="2" charset="2"/>
              <a:buChar char="Ø"/>
            </a:pPr>
            <a:r>
              <a:rPr lang="en-US" sz="2000" dirty="0" smtClean="0">
                <a:latin typeface="Times New Roman" pitchFamily="18" charset="0"/>
                <a:cs typeface="Times New Roman" pitchFamily="18" charset="0"/>
              </a:rPr>
              <a:t>Intel 8288 bus controller is used to implement the control circuitry.</a:t>
            </a:r>
          </a:p>
          <a:p>
            <a:pPr>
              <a:buFont typeface="Wingdings" pitchFamily="2" charset="2"/>
              <a:buChar char="Ø"/>
            </a:pPr>
            <a:r>
              <a:rPr lang="en-US" sz="2000" dirty="0" smtClean="0">
                <a:latin typeface="Times New Roman" pitchFamily="18" charset="0"/>
                <a:cs typeface="Times New Roman" pitchFamily="18" charset="0"/>
              </a:rPr>
              <a:t>Prior to operation, three status signals s2,s1,s0 are produced, which identify the type of bus cycle.</a:t>
            </a:r>
          </a:p>
          <a:p>
            <a:pPr>
              <a:buFont typeface="Wingdings" pitchFamily="2" charset="2"/>
              <a:buChar char="Ø"/>
            </a:pPr>
            <a:r>
              <a:rPr lang="en-US" sz="2000" dirty="0" smtClean="0"/>
              <a:t>bus controller derives the control signals using this status information.</a:t>
            </a:r>
            <a:endParaRPr lang="en-US" sz="2000" dirty="0" smtClean="0">
              <a:latin typeface="Times New Roman" pitchFamily="18" charset="0"/>
              <a:cs typeface="Times New Roman" pitchFamily="18" charset="0"/>
            </a:endParaRPr>
          </a:p>
          <a:p>
            <a:pPr>
              <a:buFont typeface="Wingdings" pitchFamily="2" charset="2"/>
              <a:buChar char="Ø"/>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76" y="274638"/>
            <a:ext cx="7790712" cy="511156"/>
          </a:xfrm>
        </p:spPr>
        <p:txBody>
          <a:bodyPr>
            <a:normAutofit fontScale="90000"/>
          </a:bodyPr>
          <a:lstStyle/>
          <a:p>
            <a:r>
              <a:rPr lang="en-US" dirty="0" smtClean="0"/>
              <a:t>Bus Controller</a:t>
            </a:r>
            <a:endParaRPr lang="en-US" dirty="0"/>
          </a:p>
        </p:txBody>
      </p:sp>
      <p:sp>
        <p:nvSpPr>
          <p:cNvPr id="3" name="Content Placeholder 2"/>
          <p:cNvSpPr>
            <a:spLocks noGrp="1"/>
          </p:cNvSpPr>
          <p:nvPr>
            <p:ph idx="1"/>
          </p:nvPr>
        </p:nvSpPr>
        <p:spPr>
          <a:xfrm>
            <a:off x="1071538" y="785794"/>
            <a:ext cx="8072462" cy="5929354"/>
          </a:xfrm>
        </p:spPr>
        <p:txBody>
          <a:bodyPr/>
          <a:lstStyle/>
          <a:p>
            <a:pPr>
              <a:buFont typeface="Wingdings" pitchFamily="2" charset="2"/>
              <a:buChar char="Ø"/>
            </a:pPr>
            <a:r>
              <a:rPr lang="en-US" sz="2000" dirty="0" smtClean="0">
                <a:latin typeface="Times New Roman" pitchFamily="18" charset="0"/>
                <a:cs typeface="Times New Roman" pitchFamily="18" charset="0"/>
              </a:rPr>
              <a:t>The bus controller chip has input lines S2*, S1* and S0* and </a:t>
            </a:r>
            <a:r>
              <a:rPr lang="en-US" sz="2000" dirty="0" smtClean="0">
                <a:latin typeface="Times New Roman" pitchFamily="18" charset="0"/>
                <a:cs typeface="Times New Roman" pitchFamily="18" charset="0"/>
              </a:rPr>
              <a:t>CLK.</a:t>
            </a:r>
          </a:p>
          <a:p>
            <a:pPr>
              <a:buFont typeface="Wingdings" pitchFamily="2" charset="2"/>
              <a:buChar char="Ø"/>
            </a:pPr>
            <a:r>
              <a:rPr lang="en-US" sz="2000" dirty="0" smtClean="0"/>
              <a:t>These inputs to 8288 are driven by the </a:t>
            </a:r>
            <a:r>
              <a:rPr lang="en-US" sz="2000" dirty="0" smtClean="0"/>
              <a:t>CPU.</a:t>
            </a:r>
          </a:p>
          <a:p>
            <a:pPr>
              <a:buFont typeface="Wingdings" pitchFamily="2" charset="2"/>
              <a:buChar char="Ø"/>
            </a:pPr>
            <a:r>
              <a:rPr lang="en-US" sz="2000" dirty="0" smtClean="0">
                <a:latin typeface="Times New Roman" pitchFamily="18" charset="0"/>
                <a:cs typeface="Times New Roman" pitchFamily="18" charset="0"/>
              </a:rPr>
              <a:t>The values of status signals are decoded by the bus controller and generates INTA’, MRDC’, MWTC’,IORC’,IOWC’,AMWC’ and AIOWC’.</a:t>
            </a: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These signals are used to interfacing 8086 to memory and I/O devices.</a:t>
            </a:r>
          </a:p>
          <a:p>
            <a:pPr>
              <a:buFont typeface="Wingdings" pitchFamily="2" charset="2"/>
              <a:buChar char="Ø"/>
            </a:pPr>
            <a:r>
              <a:rPr lang="en-US" sz="2000" dirty="0" smtClean="0">
                <a:latin typeface="Times New Roman" pitchFamily="18" charset="0"/>
                <a:cs typeface="Times New Roman" pitchFamily="18" charset="0"/>
              </a:rPr>
              <a:t>ALE,DT/R’,DEN’ are also generated by 8288 bus controller.</a:t>
            </a:r>
            <a:endParaRPr lang="en-US" sz="2000" dirty="0" smtClean="0">
              <a:latin typeface="Times New Roman" pitchFamily="18" charset="0"/>
              <a:cs typeface="Times New Roman"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16</a:t>
            </a:fld>
            <a:endParaRPr lang="en-US"/>
          </a:p>
        </p:txBody>
      </p:sp>
      <p:sp>
        <p:nvSpPr>
          <p:cNvPr id="6" name="TextBox 5"/>
          <p:cNvSpPr txBox="1"/>
          <p:nvPr/>
        </p:nvSpPr>
        <p:spPr>
          <a:xfrm>
            <a:off x="2071670" y="2786058"/>
            <a:ext cx="184731" cy="369332"/>
          </a:xfrm>
          <a:prstGeom prst="rect">
            <a:avLst/>
          </a:prstGeom>
          <a:noFill/>
        </p:spPr>
        <p:txBody>
          <a:bodyPr wrap="none" rtlCol="0">
            <a:spAutoFit/>
          </a:bodyPr>
          <a:lstStyle/>
          <a:p>
            <a:endParaRPr lang="en-US" dirty="0"/>
          </a:p>
        </p:txBody>
      </p:sp>
      <p:pic>
        <p:nvPicPr>
          <p:cNvPr id="1028" name="Picture 4"/>
          <p:cNvPicPr>
            <a:picLocks noChangeAspect="1" noChangeArrowheads="1"/>
          </p:cNvPicPr>
          <p:nvPr/>
        </p:nvPicPr>
        <p:blipFill>
          <a:blip r:embed="rId2"/>
          <a:srcRect/>
          <a:stretch>
            <a:fillRect/>
          </a:stretch>
        </p:blipFill>
        <p:spPr bwMode="auto">
          <a:xfrm>
            <a:off x="1428728" y="2500306"/>
            <a:ext cx="6786610" cy="268314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200" b="1" dirty="0" err="1" smtClean="0">
                <a:solidFill>
                  <a:srgbClr val="000000"/>
                </a:solidFill>
                <a:latin typeface="Times New Roman" pitchFamily="18" charset="0"/>
                <a:cs typeface="Times New Roman" pitchFamily="18" charset="0"/>
              </a:rPr>
              <a:t>AEN’:</a:t>
            </a:r>
            <a:r>
              <a:rPr lang="en-US" sz="2200" dirty="0" err="1" smtClean="0">
                <a:solidFill>
                  <a:srgbClr val="000000"/>
                </a:solidFill>
                <a:latin typeface="Times New Roman" pitchFamily="18" charset="0"/>
                <a:cs typeface="Times New Roman" pitchFamily="18" charset="0"/>
              </a:rPr>
              <a:t>The</a:t>
            </a:r>
            <a:r>
              <a:rPr lang="en-US" sz="2200" dirty="0" smtClean="0">
                <a:solidFill>
                  <a:srgbClr val="000000"/>
                </a:solidFill>
                <a:latin typeface="Times New Roman" pitchFamily="18" charset="0"/>
                <a:cs typeface="Times New Roman" pitchFamily="18" charset="0"/>
              </a:rPr>
              <a:t> </a:t>
            </a:r>
            <a:r>
              <a:rPr lang="en-US" sz="2200" b="1" dirty="0" smtClean="0">
                <a:solidFill>
                  <a:srgbClr val="FF0000"/>
                </a:solidFill>
                <a:latin typeface="Times New Roman" pitchFamily="18" charset="0"/>
                <a:cs typeface="Times New Roman" pitchFamily="18" charset="0"/>
              </a:rPr>
              <a:t>address enable</a:t>
            </a:r>
            <a:r>
              <a:rPr lang="en-US" sz="2200" dirty="0" smtClean="0">
                <a:solidFill>
                  <a:srgbClr val="000000"/>
                </a:solidFill>
                <a:latin typeface="Times New Roman" pitchFamily="18" charset="0"/>
                <a:cs typeface="Times New Roman" pitchFamily="18" charset="0"/>
              </a:rPr>
              <a:t> input causes the 8288 to enable the memory control signals. </a:t>
            </a:r>
          </a:p>
          <a:p>
            <a:r>
              <a:rPr lang="en-US" sz="2200" b="1" dirty="0" smtClean="0">
                <a:solidFill>
                  <a:srgbClr val="000000"/>
                </a:solidFill>
                <a:latin typeface="Times New Roman" pitchFamily="18" charset="0"/>
                <a:cs typeface="Times New Roman" pitchFamily="18" charset="0"/>
              </a:rPr>
              <a:t>CEN</a:t>
            </a:r>
            <a:r>
              <a:rPr lang="en-US" sz="2200" dirty="0" smtClean="0">
                <a:solidFill>
                  <a:srgbClr val="000000"/>
                </a:solidFill>
                <a:latin typeface="Times New Roman" pitchFamily="18" charset="0"/>
                <a:cs typeface="Times New Roman" pitchFamily="18" charset="0"/>
              </a:rPr>
              <a:t> </a:t>
            </a:r>
            <a:r>
              <a:rPr lang="en-US" sz="2200" dirty="0" smtClean="0">
                <a:solidFill>
                  <a:srgbClr val="000000"/>
                </a:solidFill>
                <a:latin typeface="Times New Roman" pitchFamily="18" charset="0"/>
                <a:cs typeface="Times New Roman" pitchFamily="18" charset="0"/>
              </a:rPr>
              <a:t>:</a:t>
            </a:r>
            <a:r>
              <a:rPr lang="en-US" sz="2200" dirty="0" smtClean="0">
                <a:solidFill>
                  <a:srgbClr val="000000"/>
                </a:solidFill>
                <a:latin typeface="Times New Roman" pitchFamily="18" charset="0"/>
                <a:cs typeface="Times New Roman" pitchFamily="18" charset="0"/>
              </a:rPr>
              <a:t>The </a:t>
            </a:r>
            <a:r>
              <a:rPr lang="en-US" sz="2200" b="1" dirty="0" smtClean="0">
                <a:solidFill>
                  <a:srgbClr val="FF0000"/>
                </a:solidFill>
                <a:latin typeface="Times New Roman" pitchFamily="18" charset="0"/>
                <a:cs typeface="Times New Roman" pitchFamily="18" charset="0"/>
              </a:rPr>
              <a:t>control enable</a:t>
            </a:r>
            <a:r>
              <a:rPr lang="en-US" sz="2200" dirty="0" smtClean="0">
                <a:solidFill>
                  <a:srgbClr val="000000"/>
                </a:solidFill>
                <a:latin typeface="Times New Roman" pitchFamily="18" charset="0"/>
                <a:cs typeface="Times New Roman" pitchFamily="18" charset="0"/>
              </a:rPr>
              <a:t> input enables the command output pins on the 8288. </a:t>
            </a:r>
          </a:p>
          <a:p>
            <a:r>
              <a:rPr lang="en-US" sz="2200" b="1" dirty="0" smtClean="0">
                <a:solidFill>
                  <a:srgbClr val="000000"/>
                </a:solidFill>
                <a:latin typeface="Times New Roman" pitchFamily="18" charset="0"/>
                <a:cs typeface="Times New Roman" pitchFamily="18" charset="0"/>
              </a:rPr>
              <a:t>IOB</a:t>
            </a:r>
            <a:r>
              <a:rPr lang="en-US" sz="2200" dirty="0" smtClean="0">
                <a:solidFill>
                  <a:srgbClr val="000000"/>
                </a:solidFill>
                <a:latin typeface="Times New Roman" pitchFamily="18" charset="0"/>
                <a:cs typeface="Times New Roman" pitchFamily="18" charset="0"/>
              </a:rPr>
              <a:t> </a:t>
            </a:r>
            <a:r>
              <a:rPr lang="en-US" sz="2200" dirty="0" smtClean="0">
                <a:solidFill>
                  <a:srgbClr val="000000"/>
                </a:solidFill>
                <a:latin typeface="Times New Roman" pitchFamily="18" charset="0"/>
                <a:cs typeface="Times New Roman" pitchFamily="18" charset="0"/>
              </a:rPr>
              <a:t>:</a:t>
            </a:r>
            <a:r>
              <a:rPr lang="en-US" sz="2200" dirty="0" smtClean="0">
                <a:solidFill>
                  <a:srgbClr val="000000"/>
                </a:solidFill>
                <a:latin typeface="Times New Roman" pitchFamily="18" charset="0"/>
                <a:cs typeface="Times New Roman" pitchFamily="18" charset="0"/>
              </a:rPr>
              <a:t>The </a:t>
            </a:r>
            <a:r>
              <a:rPr lang="en-US" sz="2200" b="1" dirty="0" smtClean="0">
                <a:solidFill>
                  <a:srgbClr val="FF0000"/>
                </a:solidFill>
                <a:latin typeface="Times New Roman" pitchFamily="18" charset="0"/>
                <a:cs typeface="Times New Roman" pitchFamily="18" charset="0"/>
              </a:rPr>
              <a:t>I/O bus mode</a:t>
            </a:r>
            <a:r>
              <a:rPr lang="en-US" sz="2200" dirty="0" smtClean="0">
                <a:solidFill>
                  <a:srgbClr val="000000"/>
                </a:solidFill>
                <a:latin typeface="Times New Roman" pitchFamily="18" charset="0"/>
                <a:cs typeface="Times New Roman" pitchFamily="18" charset="0"/>
              </a:rPr>
              <a:t> input selects either I/O </a:t>
            </a:r>
            <a:br>
              <a:rPr lang="en-US" sz="2200" dirty="0" smtClean="0">
                <a:solidFill>
                  <a:srgbClr val="000000"/>
                </a:solidFill>
                <a:latin typeface="Times New Roman" pitchFamily="18" charset="0"/>
                <a:cs typeface="Times New Roman" pitchFamily="18" charset="0"/>
              </a:rPr>
            </a:br>
            <a:r>
              <a:rPr lang="en-US" sz="2200" dirty="0" smtClean="0">
                <a:solidFill>
                  <a:srgbClr val="000000"/>
                </a:solidFill>
                <a:latin typeface="Times New Roman" pitchFamily="18" charset="0"/>
                <a:cs typeface="Times New Roman" pitchFamily="18" charset="0"/>
              </a:rPr>
              <a:t>bus mode or system bus mode operation. </a:t>
            </a:r>
          </a:p>
          <a:p>
            <a:endParaRPr lang="en-US" sz="4000" dirty="0" smtClean="0">
              <a:solidFill>
                <a:srgbClr val="000000"/>
              </a:solidFill>
            </a:endParaRPr>
          </a:p>
          <a:p>
            <a:endParaRPr lang="en-US" sz="3600" dirty="0" smtClean="0">
              <a:solidFill>
                <a:srgbClr val="000000"/>
              </a:solidFill>
            </a:endParaRPr>
          </a:p>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Max mode Read Cycle</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18</a:t>
            </a:fld>
            <a:endParaRPr lang="en-US"/>
          </a:p>
        </p:txBody>
      </p:sp>
      <p:pic>
        <p:nvPicPr>
          <p:cNvPr id="5" name="Picture 2"/>
          <p:cNvPicPr>
            <a:picLocks noGrp="1" noChangeAspect="1" noChangeArrowheads="1"/>
          </p:cNvPicPr>
          <p:nvPr>
            <p:ph idx="1"/>
          </p:nvPr>
        </p:nvPicPr>
        <p:blipFill>
          <a:blip r:embed="rId2"/>
          <a:srcRect/>
          <a:stretch>
            <a:fillRect/>
          </a:stretch>
        </p:blipFill>
        <p:spPr bwMode="auto">
          <a:xfrm>
            <a:off x="1142976" y="1285860"/>
            <a:ext cx="7643865" cy="5202807"/>
          </a:xfrm>
          <a:prstGeom prst="rect">
            <a:avLst/>
          </a:prstGeom>
          <a:noFill/>
          <a:ln w="9525">
            <a:noFill/>
            <a:round/>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Max mode Write Cycle</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19</a:t>
            </a:fld>
            <a:endParaRPr lang="en-US"/>
          </a:p>
        </p:txBody>
      </p:sp>
      <p:pic>
        <p:nvPicPr>
          <p:cNvPr id="5" name="Picture 2"/>
          <p:cNvPicPr>
            <a:picLocks noGrp="1" noChangeAspect="1" noChangeArrowheads="1"/>
          </p:cNvPicPr>
          <p:nvPr>
            <p:ph idx="1"/>
          </p:nvPr>
        </p:nvPicPr>
        <p:blipFill>
          <a:blip r:embed="rId2"/>
          <a:srcRect/>
          <a:stretch>
            <a:fillRect/>
          </a:stretch>
        </p:blipFill>
        <p:spPr bwMode="auto">
          <a:xfrm>
            <a:off x="1214414" y="1447800"/>
            <a:ext cx="7143799" cy="5053034"/>
          </a:xfrm>
          <a:prstGeom prst="rect">
            <a:avLst/>
          </a:prstGeom>
          <a:noFill/>
          <a:ln w="9525">
            <a:noFill/>
            <a:round/>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1E79AC49-16EF-4FE2-AFCD-22497A2D05A4}" type="slidenum">
              <a:rPr lang="en-US" smtClean="0"/>
              <a:pPr/>
              <a:t>20</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5504</TotalTime>
  <Words>855</Words>
  <Application>Microsoft Office PowerPoint</Application>
  <PresentationFormat>On-screen Show (4:3)</PresentationFormat>
  <Paragraphs>138</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Solstice</vt:lpstr>
      <vt:lpstr>Slide 1</vt:lpstr>
      <vt:lpstr>8086 Minimum Mode Configuration</vt:lpstr>
      <vt:lpstr>Slide 3</vt:lpstr>
      <vt:lpstr>Pins in minimum mode</vt:lpstr>
      <vt:lpstr>Slide 5</vt:lpstr>
      <vt:lpstr>Clock Generator Intel 8284</vt:lpstr>
      <vt:lpstr>8282 Address Latch </vt:lpstr>
      <vt:lpstr>8286 Transceiver</vt:lpstr>
      <vt:lpstr>Timing Diagram</vt:lpstr>
      <vt:lpstr>Representation of signals</vt:lpstr>
      <vt:lpstr>Slide 11</vt:lpstr>
      <vt:lpstr>Read Cycle Timing Diagram of Min Mode</vt:lpstr>
      <vt:lpstr>Write Cycle Timing Diagram of Min Mode</vt:lpstr>
      <vt:lpstr>Max Mode of 8086</vt:lpstr>
      <vt:lpstr>Slide 15</vt:lpstr>
      <vt:lpstr>Bus Controller</vt:lpstr>
      <vt:lpstr>Slide 17</vt:lpstr>
      <vt:lpstr>Max mode Read Cycle</vt:lpstr>
      <vt:lpstr>Max mode Write Cycle</vt:lpstr>
      <vt:lpstr>Slide 20</vt:lpstr>
    </vt:vector>
  </TitlesOfParts>
  <Company>Tata Steel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Kshiramani</dc:creator>
  <cp:lastModifiedBy>Kshiramani</cp:lastModifiedBy>
  <cp:revision>252</cp:revision>
  <dcterms:created xsi:type="dcterms:W3CDTF">2020-09-19T06:55:40Z</dcterms:created>
  <dcterms:modified xsi:type="dcterms:W3CDTF">2020-11-26T10:22:20Z</dcterms:modified>
</cp:coreProperties>
</file>