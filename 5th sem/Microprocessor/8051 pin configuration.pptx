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0" r:id="rId2"/>
    <p:sldId id="304" r:id="rId3"/>
    <p:sldId id="309" r:id="rId4"/>
    <p:sldId id="31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946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34E5-8504-4330-A12E-6C3403FD2A40}" type="datetimeFigureOut">
              <a:rPr lang="en-US" smtClean="0"/>
              <a:pPr/>
              <a:t>12/17/2020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6E43D-C79D-4B39-8257-5EC2E1B8C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DAEB126-6801-43E9-A8B3-58C9D3168E6A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2DACB8-3BA7-4002-A7AD-C8647D9CA189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4AFFFE-839E-42EF-84DD-E0158050FE0F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810B4C-547F-478A-B83B-708C38DE0944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D17806-C4D3-4254-B953-9105470292AE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C25880-1A7D-4DEC-B8C2-E79257111B40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967D1-DF5F-467A-BE56-518076760F03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CB778D-2364-4912-8698-387B4C1FC6AB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62B2C2-EBA0-4DCA-9606-A50885129859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5C6E7-F489-4D87-9858-1BB05BD8AF4C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76317-255B-493D-A1FF-EBE9A398B387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D59FB09-536B-4489-9409-02A247E91D00}" type="datetime1">
              <a:rPr lang="en-US" smtClean="0"/>
              <a:pPr/>
              <a:t>12/17/2020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1472" y="1714488"/>
            <a:ext cx="8153400" cy="399256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6000" dirty="0" smtClean="0">
              <a:latin typeface="Bernard MT Condensed" pitchFamily="18" charset="0"/>
            </a:endParaRPr>
          </a:p>
          <a:p>
            <a:pPr algn="ctr">
              <a:buNone/>
            </a:pPr>
            <a:r>
              <a:rPr lang="en-US" sz="6000" dirty="0" smtClean="0">
                <a:latin typeface="Bernard MT Condensed" pitchFamily="18" charset="0"/>
              </a:rPr>
              <a:t>8051 </a:t>
            </a:r>
            <a:r>
              <a:rPr lang="en-US" sz="6000" dirty="0" smtClean="0">
                <a:latin typeface="Bernard MT Condensed" pitchFamily="18" charset="0"/>
              </a:rPr>
              <a:t>Pin Configuration</a:t>
            </a:r>
            <a:endParaRPr lang="en-US" sz="6000" dirty="0">
              <a:latin typeface="Bernard MT Condense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Pin 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71538" y="1214422"/>
            <a:ext cx="4500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It has 40-pin DIP (Dual Inline Package) chip.</a:t>
            </a:r>
          </a:p>
          <a:p>
            <a:pPr algn="just">
              <a:buFont typeface="Wingdings" pitchFamily="2" charset="2"/>
              <a:buChar char="Ø"/>
            </a:pPr>
            <a:endParaRPr lang="en-US" dirty="0" smtClean="0"/>
          </a:p>
          <a:p>
            <a:pPr algn="just"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2050" name="Picture 2" descr="8051 Microcontroller Pin Diagram and Pin Description Imag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7921" y="857232"/>
            <a:ext cx="2971797" cy="4762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071538" y="1714488"/>
            <a:ext cx="4929223" cy="4844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IO Port Pins</a:t>
            </a:r>
          </a:p>
          <a:p>
            <a:pPr>
              <a:buFont typeface="Wingdings" pitchFamily="2" charset="2"/>
              <a:buChar char="§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One of the most useful features of the 8051 is that it contains four I/O ports (P0 - P3)</a:t>
            </a:r>
          </a:p>
          <a:p>
            <a:pPr>
              <a:lnSpc>
                <a:spcPct val="90000"/>
              </a:lnSpc>
            </a:pP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Port 0 </a:t>
            </a:r>
            <a:r>
              <a:rPr lang="zh-TW" alt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（</a:t>
            </a:r>
            <a:r>
              <a:rPr lang="en-US" altLang="zh-TW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pins 32-39</a:t>
            </a:r>
            <a:r>
              <a:rPr lang="zh-TW" alt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）：</a:t>
            </a:r>
            <a:r>
              <a:rPr lang="en-US" altLang="zh-TW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P0</a:t>
            </a:r>
            <a:r>
              <a:rPr lang="zh-TW" alt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（</a:t>
            </a:r>
            <a:r>
              <a:rPr lang="en-US" altLang="zh-TW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P0.0</a:t>
            </a:r>
            <a:r>
              <a:rPr lang="zh-TW" alt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～</a:t>
            </a:r>
            <a:r>
              <a:rPr lang="en-US" altLang="zh-TW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P0.7</a:t>
            </a:r>
            <a:r>
              <a:rPr lang="zh-TW" alt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）</a:t>
            </a:r>
            <a:endParaRPr lang="en-US" altLang="zh-TW" sz="16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PMingLiU" pitchFamily="26" charset="-12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zh-TW" altLang="en-US" sz="1600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PMingLiU" pitchFamily="26" charset="-12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1600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8-bit R/W - General Purpose I/O Or acts as a multiplexed low byte address and data bus for external memory design</a:t>
            </a:r>
          </a:p>
          <a:p>
            <a:pPr>
              <a:lnSpc>
                <a:spcPct val="80000"/>
              </a:lnSpc>
              <a:buClr>
                <a:srgbClr val="CC0066"/>
              </a:buClr>
            </a:pPr>
            <a:endParaRPr lang="en-US" sz="1600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PMingLiU" pitchFamily="26" charset="-12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Clr>
                <a:schemeClr val="accent2"/>
              </a:buClr>
            </a:pPr>
            <a:r>
              <a:rPr 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Port 1 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（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pins 1-8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）</a:t>
            </a:r>
            <a:r>
              <a:rPr lang="ar-SA" altLang="fa-IR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    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：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P1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（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P1.0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～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P1.7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）</a:t>
            </a:r>
            <a:endParaRPr lang="en-US" altLang="zh-TW" sz="1600" b="1" dirty="0" smtClean="0">
              <a:latin typeface="Times New Roman" pitchFamily="18" charset="0"/>
              <a:ea typeface="PMingLiU" pitchFamily="26" charset="-12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Clr>
                <a:schemeClr val="accent2"/>
              </a:buClr>
            </a:pPr>
            <a:endParaRPr lang="en-US" sz="1600" b="1" dirty="0" smtClean="0">
              <a:latin typeface="Times New Roman" pitchFamily="18" charset="0"/>
              <a:ea typeface="PMingLiU" pitchFamily="26" charset="-120"/>
              <a:cs typeface="Times New Roman" pitchFamily="18" charset="0"/>
            </a:endParaRPr>
          </a:p>
          <a:p>
            <a:pPr marL="0" lvl="1" algn="just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1600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Only 8-bit R/W - General Purpose I/O</a:t>
            </a:r>
          </a:p>
          <a:p>
            <a:pPr algn="just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n-US" sz="1600" dirty="0" smtClean="0">
              <a:latin typeface="Times New Roman" pitchFamily="18" charset="0"/>
              <a:ea typeface="PMingLiU" pitchFamily="26" charset="-12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Clr>
                <a:schemeClr val="accent2"/>
              </a:buClr>
            </a:pPr>
            <a:r>
              <a:rPr lang="en-US" sz="1600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Port 2 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（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pins 21-28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）：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P2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（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P2.0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～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P2.7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）</a:t>
            </a:r>
          </a:p>
          <a:p>
            <a:pPr marL="0" lvl="1" algn="just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1600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8-bit R/W - General Purpose I/O Or high byte of the address bus for external memory design</a:t>
            </a:r>
          </a:p>
          <a:p>
            <a:pPr algn="just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n-US" sz="1600" dirty="0" smtClean="0">
              <a:latin typeface="Times New Roman" pitchFamily="18" charset="0"/>
              <a:ea typeface="PMingLiU" pitchFamily="26" charset="-12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Clr>
                <a:schemeClr val="accent2"/>
              </a:buClr>
            </a:pPr>
            <a:r>
              <a:rPr lang="en-US" sz="1600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Port 3 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（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pins 10-17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）：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P3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（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P3.0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～</a:t>
            </a:r>
            <a:r>
              <a:rPr lang="en-US" altLang="zh-TW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P3.7</a:t>
            </a:r>
            <a:r>
              <a:rPr lang="zh-TW" altLang="en-US" sz="1600" b="1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）</a:t>
            </a:r>
          </a:p>
          <a:p>
            <a:pPr marL="0" lvl="1" algn="just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1600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 General Purpose I/O  if not using any of the internal peripherals (timers) or external interrupts.</a:t>
            </a:r>
          </a:p>
          <a:p>
            <a:r>
              <a:rPr lang="en-US" altLang="zh-TW" sz="1600" dirty="0" smtClean="0">
                <a:latin typeface="Times New Roman" pitchFamily="18" charset="0"/>
                <a:ea typeface="PMingLiU" pitchFamily="26" charset="-120"/>
                <a:cs typeface="Times New Roman" pitchFamily="18" charset="0"/>
              </a:rPr>
              <a:t>Each port can be used as input or output (bi-direction)</a:t>
            </a:r>
            <a:endParaRPr lang="en-US" sz="1600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PMingLiU" pitchFamily="26" charset="-12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86576" y="1857364"/>
            <a:ext cx="5199151" cy="2798697"/>
          </a:xfrm>
          <a:noFill/>
          <a:ln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323848"/>
            <a:ext cx="7862150" cy="603411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rgbClr val="CC0066"/>
              </a:buClr>
              <a:buSzPct val="130000"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PSEN (out):  </a:t>
            </a: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rogram </a:t>
            </a:r>
            <a:r>
              <a:rPr lang="en-US" sz="2000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tore </a:t>
            </a:r>
            <a:r>
              <a:rPr lang="en-US" sz="2000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En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able, the read signal for external program memory (active low).</a:t>
            </a: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</a:pPr>
            <a:endParaRPr lang="en-US" sz="2000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ALE (out): </a:t>
            </a: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ddress </a:t>
            </a:r>
            <a:r>
              <a:rPr lang="en-US" sz="2000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atch </a:t>
            </a:r>
            <a:r>
              <a:rPr lang="en-US" sz="2000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nable, to latch address outputs at Port0 and Port2</a:t>
            </a: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</a:pPr>
            <a:endParaRPr lang="en-US" sz="2000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  <a:buNone/>
            </a:pP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EA (in):  </a:t>
            </a: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xternal </a:t>
            </a:r>
            <a:r>
              <a:rPr lang="en-US" sz="2000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ccess Enable, active low to access external program memory locations 0 to 4K </a:t>
            </a: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</a:pPr>
            <a:endParaRPr lang="en-US" sz="2000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RXD,TXD: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UART pins for serial I/O on Port 3</a:t>
            </a: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</a:pPr>
            <a:endParaRPr lang="en-US" sz="2000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XTAL1 &amp; XTAL2: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lnSpc>
                <a:spcPct val="80000"/>
              </a:lnSpc>
              <a:buClr>
                <a:srgbClr val="CC0066"/>
              </a:buClr>
              <a:buSzPct val="130000"/>
              <a:buFont typeface="Wingdings" pitchFamily="2" charset="2"/>
              <a:buChar char="§"/>
            </a:pP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Crystal inputs for internal oscillator.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4313</TotalTime>
  <Words>248</Words>
  <Application>Microsoft Office PowerPoint</Application>
  <PresentationFormat>On-screen Show (4:3)</PresentationFormat>
  <Paragraphs>38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Solstice</vt:lpstr>
      <vt:lpstr>Slide 1</vt:lpstr>
      <vt:lpstr>Pin Structure</vt:lpstr>
      <vt:lpstr>Slide 3</vt:lpstr>
      <vt:lpstr>Slide 4</vt:lpstr>
    </vt:vector>
  </TitlesOfParts>
  <Company>Tata Steel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Kshiramani</dc:creator>
  <cp:lastModifiedBy>Kshiramani</cp:lastModifiedBy>
  <cp:revision>177</cp:revision>
  <dcterms:created xsi:type="dcterms:W3CDTF">2020-09-19T06:55:40Z</dcterms:created>
  <dcterms:modified xsi:type="dcterms:W3CDTF">2020-12-17T15:45:19Z</dcterms:modified>
</cp:coreProperties>
</file>