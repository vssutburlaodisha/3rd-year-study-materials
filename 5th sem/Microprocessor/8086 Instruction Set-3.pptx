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0" r:id="rId2"/>
    <p:sldId id="312" r:id="rId3"/>
    <p:sldId id="310" r:id="rId4"/>
    <p:sldId id="321" r:id="rId5"/>
    <p:sldId id="313" r:id="rId6"/>
    <p:sldId id="322" r:id="rId7"/>
    <p:sldId id="327" r:id="rId8"/>
    <p:sldId id="323" r:id="rId9"/>
    <p:sldId id="314" r:id="rId10"/>
    <p:sldId id="325" r:id="rId11"/>
    <p:sldId id="324" r:id="rId12"/>
    <p:sldId id="315" r:id="rId13"/>
    <p:sldId id="328" r:id="rId14"/>
    <p:sldId id="329" r:id="rId15"/>
    <p:sldId id="330" r:id="rId16"/>
    <p:sldId id="331" r:id="rId17"/>
    <p:sldId id="332" r:id="rId18"/>
    <p:sldId id="333" r:id="rId19"/>
    <p:sldId id="318" r:id="rId20"/>
    <p:sldId id="319" r:id="rId21"/>
    <p:sldId id="317" r:id="rId22"/>
    <p:sldId id="32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34E5-8504-4330-A12E-6C3403FD2A40}" type="datetimeFigureOut">
              <a:rPr lang="en-US" smtClean="0"/>
              <a:pPr/>
              <a:t>11/20/2020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6E43D-C79D-4B39-8257-5EC2E1B8CD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6E43D-C79D-4B39-8257-5EC2E1B8CD37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DAEB126-6801-43E9-A8B3-58C9D3168E6A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02DACB8-3BA7-4002-A7AD-C8647D9CA189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04AFFFE-839E-42EF-84DD-E0158050FE0F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4810B4C-547F-478A-B83B-708C38DE0944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D17806-C4D3-4254-B953-9105470292AE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6C25880-1A7D-4DEC-B8C2-E79257111B40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0C967D1-DF5F-467A-BE56-518076760F03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1CB778D-2364-4912-8698-387B4C1FC6AB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62B2C2-EBA0-4DCA-9606-A50885129859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5C6E7-F489-4D87-9858-1BB05BD8AF4C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C076317-255B-493D-A1FF-EBE9A398B387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D59FB09-536B-4489-9409-02A247E91D00}" type="datetime1">
              <a:rPr lang="en-US" smtClean="0"/>
              <a:pPr/>
              <a:t>11/20/2020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E79AC49-16EF-4FE2-AFCD-22497A2D05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71472" y="1714488"/>
            <a:ext cx="8153400" cy="399256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6000" dirty="0" smtClean="0">
              <a:latin typeface="Bernard MT Condensed" pitchFamily="18" charset="0"/>
            </a:endParaRPr>
          </a:p>
          <a:p>
            <a:pPr algn="ctr">
              <a:buNone/>
            </a:pPr>
            <a:r>
              <a:rPr lang="en-US" sz="6000" dirty="0" smtClean="0">
                <a:latin typeface="Bernard MT Condensed" pitchFamily="18" charset="0"/>
              </a:rPr>
              <a:t>8086 Instruction Set</a:t>
            </a:r>
            <a:endParaRPr lang="en-US" sz="6000" dirty="0">
              <a:latin typeface="Bernard MT Condense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8086 microprocessor supports 8 types of instructions −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Data Transfer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Arithmetic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Bit Manipulation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String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Program Execution Transfer Instructions (Branch &amp; Loop Instructions)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Processor Control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Iteration Control Instructions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solidFill>
                  <a:srgbClr val="FF0000"/>
                </a:solidFill>
              </a:rPr>
              <a:t>Interrupt Instructions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76" y="142852"/>
            <a:ext cx="7498080" cy="868346"/>
          </a:xfrm>
        </p:spPr>
        <p:txBody>
          <a:bodyPr/>
          <a:lstStyle/>
          <a:p>
            <a:r>
              <a:rPr lang="en-US" dirty="0" smtClean="0"/>
              <a:t>Data Transfer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928670"/>
            <a:ext cx="7858180" cy="592933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instructions are used to transfer the data from the source operand to the destination operand. Following are the list of instructions under this group −</a:t>
            </a:r>
          </a:p>
          <a:p>
            <a:pPr algn="just"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General purpose byte or word transfer instructions: </a:t>
            </a:r>
          </a:p>
          <a:p>
            <a:pPr algn="just"/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MOV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Copy byte or word from specified source to specified     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destination </a:t>
            </a:r>
          </a:p>
          <a:p>
            <a:pPr algn="just">
              <a:buNone/>
            </a:pPr>
            <a:r>
              <a:rPr lang="en-US" sz="20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Syntax: MOV  Destination, Source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Possible Combinations:</a:t>
            </a:r>
          </a:p>
          <a:p>
            <a:pPr algn="just">
              <a:buNone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Source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Destination</a:t>
            </a: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Offset register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Segment register except CS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-The branching instructions can use the registers CS and IP to store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data.Other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instructions are not permitted to write data in CS and IP.</a:t>
            </a: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0"/>
            <a:ext cx="7790712" cy="650083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XCHG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: Exchange the contents of the specified source and destination operands one of which may be a register or memory location.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Possible Combinations:</a:t>
            </a:r>
          </a:p>
          <a:p>
            <a:pPr algn="just"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Source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Destination</a:t>
            </a: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XCHG  AL, BL</a:t>
            </a:r>
          </a:p>
          <a:p>
            <a:pPr marL="261938" indent="-261938">
              <a:lnSpc>
                <a:spcPct val="90000"/>
              </a:lnSpc>
              <a:spcBef>
                <a:spcPts val="625"/>
              </a:spcBef>
              <a:spcAft>
                <a:spcPts val="1200"/>
              </a:spcAft>
              <a:buClr>
                <a:srgbClr val="E7BC29"/>
              </a:buClr>
              <a:buNone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5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PUSH Operand: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pushes the operand into top of stack.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PUSH BX</a:t>
            </a:r>
          </a:p>
          <a:p>
            <a:pPr marL="261938" indent="-261938">
              <a:lnSpc>
                <a:spcPct val="90000"/>
              </a:lnSpc>
              <a:spcBef>
                <a:spcPts val="625"/>
              </a:spcBef>
              <a:spcAft>
                <a:spcPts val="1200"/>
              </a:spcAft>
              <a:buClr>
                <a:srgbClr val="E7BC29"/>
              </a:buClr>
              <a:buNone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5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POP Des: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pops the operand from top of stack to Des.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Des can be a general purpose register, segment register (except CS) or memory location.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POP AX</a:t>
            </a:r>
          </a:p>
          <a:p>
            <a:pPr marL="628650" lvl="1" indent="-239713">
              <a:lnSpc>
                <a:spcPct val="90000"/>
              </a:lnSpc>
              <a:spcBef>
                <a:spcPts val="575"/>
              </a:spcBef>
              <a:spcAft>
                <a:spcPts val="1200"/>
              </a:spcAft>
              <a:buClr>
                <a:srgbClr val="A5B592"/>
              </a:buClr>
              <a:buNone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endParaRPr lang="en-US" sz="2300" dirty="0" smtClean="0">
              <a:solidFill>
                <a:srgbClr val="000000"/>
              </a:solidFill>
              <a:latin typeface="Constantia" pitchFamily="16" charset="0"/>
              <a:ea typeface="Droid Sans Fallback" charset="0"/>
              <a:cs typeface="Droid Sans Fallback" charset="0"/>
            </a:endParaRPr>
          </a:p>
          <a:p>
            <a:pPr algn="just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214290"/>
            <a:ext cx="7929618" cy="65008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Simple input and output port transfer instructions </a:t>
            </a:r>
          </a:p>
          <a:p>
            <a:pPr>
              <a:buNone/>
            </a:pPr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marL="261938" indent="-261938">
              <a:spcBef>
                <a:spcPts val="575"/>
              </a:spcBef>
              <a:spcAft>
                <a:spcPts val="1200"/>
              </a:spcAft>
              <a:buClr>
                <a:srgbClr val="E7BC29"/>
              </a:buClr>
              <a:buNone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IN Accumulator, Port Address:</a:t>
            </a:r>
          </a:p>
          <a:p>
            <a:pPr marL="628650" lvl="1" indent="-239713">
              <a:spcBef>
                <a:spcPts val="52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1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transfers the operand from specified port to accumulator register.</a:t>
            </a:r>
          </a:p>
          <a:p>
            <a:pPr marL="628650" lvl="1" indent="-239713">
              <a:spcBef>
                <a:spcPts val="52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1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IN AX, 0028 H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61938" indent="-261938">
              <a:spcBef>
                <a:spcPts val="575"/>
              </a:spcBef>
              <a:spcAft>
                <a:spcPts val="1200"/>
              </a:spcAft>
              <a:buClr>
                <a:srgbClr val="E7BC29"/>
              </a:buClr>
              <a:buNone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3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OUT Port Address, Accumulator:</a:t>
            </a:r>
          </a:p>
          <a:p>
            <a:pPr marL="628650" lvl="1" indent="-239713">
              <a:spcBef>
                <a:spcPts val="52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1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transfers the operand from accumulator to specified port.</a:t>
            </a:r>
          </a:p>
          <a:p>
            <a:pPr marL="628650" lvl="1" indent="-239713">
              <a:spcBef>
                <a:spcPts val="525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1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OUT 0028 H, AX</a:t>
            </a:r>
          </a:p>
          <a:p>
            <a:pPr>
              <a:buNone/>
            </a:pPr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285728"/>
            <a:ext cx="8072462" cy="671517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Special address transfer instructions </a:t>
            </a:r>
          </a:p>
          <a:p>
            <a:pPr marL="261938" indent="-261938">
              <a:spcBef>
                <a:spcPts val="900"/>
              </a:spcBef>
              <a:spcAft>
                <a:spcPts val="1200"/>
              </a:spcAft>
              <a:buClr>
                <a:srgbClr val="E7BC29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36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LEA  Register, </a:t>
            </a:r>
            <a:r>
              <a:rPr lang="en-US" sz="3600" b="1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Src</a:t>
            </a:r>
            <a:r>
              <a:rPr lang="en-US" sz="36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:</a:t>
            </a:r>
          </a:p>
          <a:p>
            <a:pPr marL="628650" lvl="1" indent="-239713">
              <a:spcBef>
                <a:spcPts val="8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32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loads a 16-bit register with the offset address of the data specified by the </a:t>
            </a:r>
            <a:r>
              <a:rPr lang="en-US" sz="3200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Src</a:t>
            </a:r>
            <a:r>
              <a:rPr lang="en-US" sz="32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.</a:t>
            </a:r>
          </a:p>
          <a:p>
            <a:pPr marL="628650" lvl="1" indent="-239713">
              <a:spcBef>
                <a:spcPts val="8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32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LEA BX, [DI]</a:t>
            </a:r>
          </a:p>
          <a:p>
            <a:pPr marL="903288" lvl="2" indent="-236538">
              <a:spcBef>
                <a:spcPts val="700"/>
              </a:spcBef>
              <a:spcAft>
                <a:spcPts val="1200"/>
              </a:spcAft>
              <a:buClr>
                <a:srgbClr val="F3A447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8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This instruction loads the contents of DI (offset) into the BX register.</a:t>
            </a:r>
          </a:p>
          <a:p>
            <a:pPr marL="261938" indent="-261938">
              <a:spcBef>
                <a:spcPts val="700"/>
              </a:spcBef>
              <a:spcAft>
                <a:spcPts val="1200"/>
              </a:spcAft>
              <a:buClr>
                <a:srgbClr val="E7BC29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LDS Des, </a:t>
            </a:r>
            <a:r>
              <a:rPr lang="en-IN" sz="2800" b="1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Src</a:t>
            </a:r>
            <a:r>
              <a:rPr lang="en-IN" sz="28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: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loads 32-bit pointer from memory source to destination register  and DS.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The word is placed in the destination register and the segment is placed in DS.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This instruction Copies the word at the lower memory address to the Des </a:t>
            </a:r>
            <a:r>
              <a:rPr lang="en-IN" sz="2400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reg</a:t>
            </a: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 and the word at the higher address to the segment </a:t>
            </a:r>
            <a:r>
              <a:rPr lang="en-IN" sz="2400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reg</a:t>
            </a: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 i.e. DS.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LDS BX, [0301 H]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61938" indent="-261938">
              <a:spcBef>
                <a:spcPts val="700"/>
              </a:spcBef>
              <a:spcAft>
                <a:spcPts val="1200"/>
              </a:spcAft>
              <a:buClr>
                <a:srgbClr val="E7BC29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LES Des, </a:t>
            </a:r>
            <a:r>
              <a:rPr lang="en-IN" sz="2800" b="1" dirty="0" err="1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Src</a:t>
            </a:r>
            <a:r>
              <a:rPr lang="en-IN" sz="2800" b="1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: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It loads 32-bit pointer from memory source to destination register and ES.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The Word is placed in the destination register and the segment is placed in ES.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IN" sz="2400" dirty="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This instruction is very similar to LDS except that it initializes ES instead of DS.</a:t>
            </a:r>
          </a:p>
          <a:p>
            <a:pPr marL="628650" lvl="1" indent="-239713">
              <a:spcBef>
                <a:spcPts val="600"/>
              </a:spcBef>
              <a:spcAft>
                <a:spcPts val="1200"/>
              </a:spcAft>
              <a:buClr>
                <a:srgbClr val="A5B592"/>
              </a:buClr>
              <a:buFont typeface="Wingdings 2" pitchFamily="18" charset="2"/>
              <a:buChar char="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</a:pPr>
            <a:r>
              <a:rPr lang="en-US" sz="2400" smtClean="0">
                <a:solidFill>
                  <a:srgbClr val="000000"/>
                </a:solidFill>
                <a:latin typeface="Constantia" pitchFamily="16" charset="0"/>
                <a:ea typeface="Droid Sans Fallback" charset="0"/>
                <a:cs typeface="Droid Sans Fallback" charset="0"/>
              </a:rPr>
              <a:t>E.g.: LES BX, [0301 H]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2976" y="214290"/>
            <a:ext cx="5429288" cy="63579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Assuming that (BX)=100H, DI=200H, DS=1200H, SI= F002H, AX= 0105H, and the following memory content. what is the result of executing the following instructions?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a. LEA SI , [ DI + BX +2H]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b. MOV SI , [DI+BX+2H]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15140" y="0"/>
            <a:ext cx="2141220" cy="3863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3" y="3681683"/>
            <a:ext cx="5643601" cy="2242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214290"/>
            <a:ext cx="7786742" cy="603411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Flag transfer registers </a:t>
            </a:r>
          </a:p>
          <a:p>
            <a:pPr>
              <a:buNone/>
            </a:pPr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LAHF : Load AH with the low byte of the flag register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SAHF : Store AH register to low byte of flag register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PUSHF : Copy flag register to top of the stack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POPF : Copy word at top of the stack to flag register </a:t>
            </a:r>
            <a:endParaRPr lang="en-US" b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142852"/>
            <a:ext cx="7929618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Arithmetic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1000108"/>
            <a:ext cx="7929618" cy="571504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instructions are used to perform various mathematical operations like addition, subtraction, multiplication and division etc…. </a:t>
            </a:r>
          </a:p>
          <a:p>
            <a:pPr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Addition instructions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: Add specified byte to byte or word to word </a:t>
            </a:r>
          </a:p>
          <a:p>
            <a:pPr>
              <a:buNone/>
            </a:pPr>
            <a:r>
              <a:rPr lang="en-IN" altLang="en-US" sz="2000" b="1" i="1" dirty="0" smtClean="0">
                <a:solidFill>
                  <a:srgbClr val="C00000"/>
                </a:solidFill>
              </a:rPr>
              <a:t>Syntax:   ADD Destination, Source</a:t>
            </a:r>
            <a:endParaRPr lang="en-US" sz="2000" b="1" i="1" u="sng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</a:t>
            </a:r>
            <a:r>
              <a:rPr lang="en-US" altLang="en-US" sz="2000" dirty="0" smtClean="0"/>
              <a:t>ADD AX,BX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ADC : Add with carry </a:t>
            </a:r>
          </a:p>
          <a:p>
            <a:pPr>
              <a:buNone/>
            </a:pPr>
            <a:r>
              <a:rPr lang="en-IN" altLang="en-US" sz="2000" b="1" i="1" dirty="0" smtClean="0">
                <a:solidFill>
                  <a:srgbClr val="C00000"/>
                </a:solidFill>
              </a:rPr>
              <a:t>Syntax:   ADC Destination, Source</a:t>
            </a:r>
            <a:endParaRPr lang="en-US" sz="2000" b="1" i="1" u="sng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 : Increment specified byte or specified word by 1</a:t>
            </a:r>
          </a:p>
          <a:p>
            <a:pPr>
              <a:buNone/>
            </a:pPr>
            <a:r>
              <a:rPr lang="en-IN" altLang="en-US" sz="20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IN" alt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INC AX</a:t>
            </a:r>
          </a:p>
          <a:p>
            <a:pPr>
              <a:buNone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altLang="en-US" sz="2400" dirty="0" smtClean="0"/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428728" y="5643578"/>
          <a:ext cx="2500330" cy="357190"/>
        </p:xfrm>
        <a:graphic>
          <a:graphicData uri="http://schemas.openxmlformats.org/presentationml/2006/ole">
            <p:oleObj spid="_x0000_s1026" name="Equation" r:id="rId4" imgW="888840" imgH="177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715304" cy="121442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DAA : Decimal adjust after addition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-This instruction is used to convert invalid BCD numbers into valid BCD numbers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214422"/>
            <a:ext cx="7215238" cy="1957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185788"/>
            <a:ext cx="7143800" cy="367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0"/>
            <a:ext cx="7929618" cy="6429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Subtraction instructions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SUB : Subtract byte from byte or word from word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Syntax: SUB Destination, Source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 AL, 0FH ; subtract the immediate content, 0FH from the content of AL and  store the result in AL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 SUB AX, BX ; AX &lt;= AX-BX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SBB: SUBTRACT WITH BORROW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subtracts the source operand and the borrow flag (CF) which may reflect the result of the previous calculations, from the destination operand.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Subtraction with borrow, here means subtracting 1 from the subtraction obtained by SUB, if carry (borrow) flag is set.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214290"/>
            <a:ext cx="8072462" cy="65722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lang="en-US" sz="1900" b="1" u="sng" dirty="0" smtClean="0">
                <a:latin typeface="Times New Roman" pitchFamily="18" charset="0"/>
                <a:cs typeface="Times New Roman" pitchFamily="18" charset="0"/>
              </a:rPr>
              <a:t>Multiplication instructions </a:t>
            </a:r>
          </a:p>
          <a:p>
            <a:pPr>
              <a:lnSpc>
                <a:spcPct val="90000"/>
              </a:lnSpc>
              <a:buNone/>
            </a:pPr>
            <a:endParaRPr lang="en-US" sz="19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MUL : Multiply unsigned byte by byte or unsigned word or word. 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This instruction will multiple unsigned operand 8-bit/16-bit with AL/AX and store the result in AX/DX-AX.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If operand is of 8-bit then multiply it with contents of AL and the result will be of 16-bit.</a:t>
            </a:r>
          </a:p>
          <a:p>
            <a:pPr>
              <a:lnSpc>
                <a:spcPct val="90000"/>
              </a:lnSpc>
              <a:buNone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-The MSB will be stored in AH and LSB will be stored in AL.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If operand is of 16-bit then multiply it with contents of AX and the result will be of 32 bit.</a:t>
            </a:r>
          </a:p>
          <a:p>
            <a:pPr>
              <a:lnSpc>
                <a:spcPct val="90000"/>
              </a:lnSpc>
              <a:buNone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-The lower 16-bit will be stored in AX and upper 16 bit will be stored in DX.</a:t>
            </a:r>
          </a:p>
          <a:p>
            <a:pPr>
              <a:lnSpc>
                <a:spcPct val="90000"/>
              </a:lnSpc>
              <a:buNone/>
            </a:pPr>
            <a:r>
              <a:rPr lang="en-IN" altLang="en-US" sz="19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en-US" sz="2000" dirty="0" smtClean="0"/>
              <a:t>MUL BH </a:t>
            </a:r>
          </a:p>
          <a:p>
            <a:pPr>
              <a:lnSpc>
                <a:spcPct val="90000"/>
              </a:lnSpc>
              <a:buNone/>
            </a:pPr>
            <a:endParaRPr lang="en-US" altLang="en-US" sz="2000" dirty="0" smtClean="0"/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None/>
            </a:pPr>
            <a:endParaRPr lang="en-US" sz="2000" dirty="0" smtClean="0"/>
          </a:p>
          <a:p>
            <a:pPr>
              <a:lnSpc>
                <a:spcPct val="90000"/>
              </a:lnSpc>
              <a:buNone/>
            </a:pPr>
            <a:r>
              <a:rPr lang="en-US" sz="20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3" name="TextBox 43"/>
          <p:cNvSpPr txBox="1">
            <a:spLocks noChangeArrowheads="1"/>
          </p:cNvSpPr>
          <p:nvPr/>
        </p:nvSpPr>
        <p:spPr bwMode="auto">
          <a:xfrm>
            <a:off x="3673451" y="4830803"/>
            <a:ext cx="1425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AH   AL</a:t>
            </a:r>
            <a:endParaRPr lang="en-US" altLang="en-US" sz="1200"/>
          </a:p>
        </p:txBody>
      </p:sp>
      <p:sp>
        <p:nvSpPr>
          <p:cNvPr id="34" name="TextBox 45"/>
          <p:cNvSpPr txBox="1">
            <a:spLocks noChangeArrowheads="1"/>
          </p:cNvSpPr>
          <p:nvPr/>
        </p:nvSpPr>
        <p:spPr bwMode="auto">
          <a:xfrm>
            <a:off x="4032226" y="3622715"/>
            <a:ext cx="6683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AX</a:t>
            </a:r>
            <a:endParaRPr lang="en-US" altLang="en-US" sz="1200"/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654401" y="4237047"/>
          <a:ext cx="1423988" cy="62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3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36" name="TextBox 24"/>
          <p:cNvSpPr txBox="1">
            <a:spLocks noChangeArrowheads="1"/>
          </p:cNvSpPr>
          <p:nvPr/>
        </p:nvSpPr>
        <p:spPr bwMode="auto">
          <a:xfrm>
            <a:off x="5202213" y="4264065"/>
            <a:ext cx="403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X</a:t>
            </a:r>
            <a:endParaRPr lang="en-US" altLang="en-US" sz="1200"/>
          </a:p>
        </p:txBody>
      </p:sp>
      <p:sp>
        <p:nvSpPr>
          <p:cNvPr id="37" name="TextBox 25"/>
          <p:cNvSpPr txBox="1">
            <a:spLocks noChangeArrowheads="1"/>
          </p:cNvSpPr>
          <p:nvPr/>
        </p:nvSpPr>
        <p:spPr bwMode="auto">
          <a:xfrm>
            <a:off x="1242988" y="4884778"/>
            <a:ext cx="1425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AH   AL</a:t>
            </a:r>
            <a:endParaRPr lang="en-US" altLang="en-US" sz="1200"/>
          </a:p>
        </p:txBody>
      </p:sp>
      <p:sp>
        <p:nvSpPr>
          <p:cNvPr id="38" name="TextBox 26"/>
          <p:cNvSpPr txBox="1">
            <a:spLocks noChangeArrowheads="1"/>
          </p:cNvSpPr>
          <p:nvPr/>
        </p:nvSpPr>
        <p:spPr bwMode="auto">
          <a:xfrm>
            <a:off x="1601763" y="3676690"/>
            <a:ext cx="4235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 dirty="0" smtClean="0"/>
              <a:t>A</a:t>
            </a:r>
            <a:endParaRPr lang="en-US" altLang="en-US" sz="1200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1223938" y="4302165"/>
          <a:ext cx="1423988" cy="62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3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40" name="Right Arrow 39"/>
          <p:cNvSpPr/>
          <p:nvPr/>
        </p:nvSpPr>
        <p:spPr>
          <a:xfrm flipH="1">
            <a:off x="2789213" y="4448215"/>
            <a:ext cx="600075" cy="3556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41" name="TextBox 32"/>
          <p:cNvSpPr txBox="1">
            <a:spLocks noChangeArrowheads="1"/>
          </p:cNvSpPr>
          <p:nvPr/>
        </p:nvSpPr>
        <p:spPr bwMode="auto">
          <a:xfrm>
            <a:off x="3695676" y="4233903"/>
            <a:ext cx="136842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 dirty="0"/>
              <a:t>XX  04</a:t>
            </a:r>
            <a:endParaRPr lang="en-US" altLang="en-US" sz="1400" dirty="0"/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142976" y="4273560"/>
            <a:ext cx="14366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 dirty="0"/>
              <a:t> 00  08</a:t>
            </a:r>
            <a:endParaRPr lang="en-US" altLang="en-US" sz="1400" dirty="0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1230288" y="4265653"/>
            <a:ext cx="128272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 dirty="0"/>
              <a:t>XX  </a:t>
            </a:r>
            <a:r>
              <a:rPr lang="en-US" altLang="en-US" sz="3200" dirty="0" smtClean="0"/>
              <a:t>X</a:t>
            </a:r>
            <a:endParaRPr lang="en-US" altLang="en-US" sz="1400" dirty="0"/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810226" y="4237047"/>
          <a:ext cx="1423988" cy="62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3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46" name="TextBox 28"/>
          <p:cNvSpPr txBox="1">
            <a:spLocks noChangeArrowheads="1"/>
          </p:cNvSpPr>
          <p:nvPr/>
        </p:nvSpPr>
        <p:spPr bwMode="auto">
          <a:xfrm>
            <a:off x="5684813" y="4267240"/>
            <a:ext cx="1595438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 02   XX</a:t>
            </a:r>
            <a:endParaRPr lang="en-US" altLang="en-US" sz="1400"/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6151538" y="3622715"/>
            <a:ext cx="60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BX</a:t>
            </a:r>
            <a:endParaRPr lang="en-US" altLang="en-US" sz="1200"/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5810226" y="4887953"/>
            <a:ext cx="1306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BH   BL</a:t>
            </a:r>
            <a:endParaRPr lang="en-US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14290"/>
            <a:ext cx="7790712" cy="603411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IMUL : Multiply signed bye by byte or signed word by word </a:t>
            </a:r>
          </a:p>
          <a:p>
            <a:pPr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AAM : ASCII adjust after multiplication </a:t>
            </a:r>
          </a:p>
          <a:p>
            <a:pPr>
              <a:lnSpc>
                <a:spcPct val="90000"/>
              </a:lnSpc>
              <a:buNone/>
            </a:pPr>
            <a:endParaRPr lang="en-US" sz="20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Division instructions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DIV : </a:t>
            </a:r>
            <a:r>
              <a:rPr lang="en-IN" altLang="en-US" sz="2000" dirty="0" smtClean="0"/>
              <a:t>This instruction will divide unsigned operand AX/DX-AX by 8-bit/16-bit number and store the result in AX/DX-AX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en-US" sz="2000" dirty="0" smtClean="0"/>
              <a:t>DIV BL</a:t>
            </a:r>
          </a:p>
          <a:p>
            <a:pPr algn="just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defTabSz="457200">
              <a:buClr>
                <a:srgbClr val="3891A7"/>
              </a:buClr>
              <a:buNone/>
            </a:pPr>
            <a:endParaRPr lang="en-US" alt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defTabSz="457200">
              <a:buClr>
                <a:srgbClr val="3891A7"/>
              </a:buClr>
              <a:buNone/>
            </a:pPr>
            <a:r>
              <a:rPr lang="en-US" altLang="en-US" sz="2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altLang="en-US" sz="2000" dirty="0" smtClean="0"/>
              <a:t>AL=AX/Operand (8-bit) </a:t>
            </a:r>
          </a:p>
          <a:p>
            <a:pPr marL="342900" indent="-342900" defTabSz="457200">
              <a:buClr>
                <a:srgbClr val="3891A7"/>
              </a:buClr>
              <a:buNone/>
            </a:pPr>
            <a:r>
              <a:rPr lang="en-IN" altLang="en-US" sz="2000" dirty="0" smtClean="0"/>
              <a:t>Then AL= Quotient,  AH=Remainder.</a:t>
            </a:r>
          </a:p>
          <a:p>
            <a:pPr marL="342900" indent="-342900" defTabSz="457200">
              <a:buClr>
                <a:srgbClr val="3891A7"/>
              </a:buClr>
              <a:buNone/>
            </a:pPr>
            <a:r>
              <a:rPr lang="en-IN" altLang="en-US" sz="2000" dirty="0" smtClean="0"/>
              <a:t>If AX=DX-AX(32 bit)/Operand (16-bit) </a:t>
            </a:r>
          </a:p>
          <a:p>
            <a:pPr marL="342900" indent="-342900" defTabSz="457200">
              <a:buClr>
                <a:srgbClr val="3891A7"/>
              </a:buClr>
              <a:buNone/>
            </a:pPr>
            <a:r>
              <a:rPr lang="en-IN" altLang="en-US" sz="2000" dirty="0" smtClean="0"/>
              <a:t>Then AX= Quotient,  DX=Remainder.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3"/>
          <p:cNvSpPr txBox="1">
            <a:spLocks noChangeArrowheads="1"/>
          </p:cNvSpPr>
          <p:nvPr/>
        </p:nvSpPr>
        <p:spPr bwMode="auto">
          <a:xfrm>
            <a:off x="3800452" y="3636956"/>
            <a:ext cx="1425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AH   AL</a:t>
            </a:r>
            <a:endParaRPr lang="en-US" altLang="en-US" sz="1200"/>
          </a:p>
        </p:txBody>
      </p:sp>
      <p:sp>
        <p:nvSpPr>
          <p:cNvPr id="6" name="TextBox 45"/>
          <p:cNvSpPr txBox="1">
            <a:spLocks noChangeArrowheads="1"/>
          </p:cNvSpPr>
          <p:nvPr/>
        </p:nvSpPr>
        <p:spPr bwMode="auto">
          <a:xfrm>
            <a:off x="4159227" y="2428868"/>
            <a:ext cx="6683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AX</a:t>
            </a:r>
            <a:endParaRPr lang="en-US" altLang="en-US" sz="12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81402" y="3054343"/>
          <a:ext cx="1423988" cy="62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3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8" name="TextBox 24"/>
          <p:cNvSpPr txBox="1">
            <a:spLocks noChangeArrowheads="1"/>
          </p:cNvSpPr>
          <p:nvPr/>
        </p:nvSpPr>
        <p:spPr bwMode="auto">
          <a:xfrm>
            <a:off x="5329214" y="3070218"/>
            <a:ext cx="342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/</a:t>
            </a:r>
            <a:endParaRPr lang="en-US" altLang="en-US" sz="1200"/>
          </a:p>
        </p:txBody>
      </p:sp>
      <p:sp>
        <p:nvSpPr>
          <p:cNvPr id="9" name="TextBox 25"/>
          <p:cNvSpPr txBox="1">
            <a:spLocks noChangeArrowheads="1"/>
          </p:cNvSpPr>
          <p:nvPr/>
        </p:nvSpPr>
        <p:spPr bwMode="auto">
          <a:xfrm>
            <a:off x="1369989" y="3636956"/>
            <a:ext cx="142557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AH   AL</a:t>
            </a:r>
            <a:endParaRPr lang="en-US" altLang="en-US" sz="1200"/>
          </a:p>
        </p:txBody>
      </p:sp>
      <p:sp>
        <p:nvSpPr>
          <p:cNvPr id="10" name="TextBox 26"/>
          <p:cNvSpPr txBox="1">
            <a:spLocks noChangeArrowheads="1"/>
          </p:cNvSpPr>
          <p:nvPr/>
        </p:nvSpPr>
        <p:spPr bwMode="auto">
          <a:xfrm>
            <a:off x="1724002" y="2430456"/>
            <a:ext cx="6683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AX</a:t>
            </a:r>
            <a:endParaRPr lang="en-US" altLang="en-US" sz="12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50939" y="3052756"/>
          <a:ext cx="1423988" cy="620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2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12" name="Right Arrow 11"/>
          <p:cNvSpPr/>
          <p:nvPr/>
        </p:nvSpPr>
        <p:spPr>
          <a:xfrm flipH="1">
            <a:off x="2967014" y="3152768"/>
            <a:ext cx="600075" cy="3556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13" name="TextBox 32"/>
          <p:cNvSpPr txBox="1">
            <a:spLocks noChangeArrowheads="1"/>
          </p:cNvSpPr>
          <p:nvPr/>
        </p:nvSpPr>
        <p:spPr bwMode="auto">
          <a:xfrm>
            <a:off x="3822677" y="3040056"/>
            <a:ext cx="1323975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88  88</a:t>
            </a:r>
            <a:endParaRPr lang="en-US" altLang="en-US" sz="140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285852" y="3051168"/>
            <a:ext cx="143668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 04  04</a:t>
            </a:r>
            <a:endParaRPr lang="en-US" altLang="en-US" sz="14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371577" y="3038468"/>
            <a:ext cx="13239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88  88</a:t>
            </a:r>
            <a:endParaRPr lang="en-US" altLang="en-US" sz="1400"/>
          </a:p>
        </p:txBody>
      </p:sp>
      <p:sp>
        <p:nvSpPr>
          <p:cNvPr id="16" name="TextBox 22"/>
          <p:cNvSpPr txBox="1">
            <a:spLocks noChangeArrowheads="1"/>
          </p:cNvSpPr>
          <p:nvPr/>
        </p:nvSpPr>
        <p:spPr bwMode="auto">
          <a:xfrm>
            <a:off x="6583339" y="3052756"/>
            <a:ext cx="639763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12</a:t>
            </a:r>
            <a:endParaRPr lang="en-US" altLang="en-US" sz="140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37227" y="3054343"/>
          <a:ext cx="1423988" cy="62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994"/>
                <a:gridCol w="711994"/>
              </a:tblGrid>
              <a:tr h="620713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21927" marR="121927" marT="60990" marB="60990"/>
                </a:tc>
              </a:tr>
            </a:tbl>
          </a:graphicData>
        </a:graphic>
      </p:graphicFrame>
      <p:sp>
        <p:nvSpPr>
          <p:cNvPr id="18" name="TextBox 28"/>
          <p:cNvSpPr txBox="1">
            <a:spLocks noChangeArrowheads="1"/>
          </p:cNvSpPr>
          <p:nvPr/>
        </p:nvSpPr>
        <p:spPr bwMode="auto">
          <a:xfrm>
            <a:off x="5857852" y="3063868"/>
            <a:ext cx="14811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3200"/>
              <a:t> XX  22</a:t>
            </a:r>
            <a:endParaRPr lang="en-US" altLang="en-US" sz="1400"/>
          </a:p>
        </p:txBody>
      </p:sp>
      <p:sp>
        <p:nvSpPr>
          <p:cNvPr id="19" name="TextBox 35"/>
          <p:cNvSpPr txBox="1">
            <a:spLocks noChangeArrowheads="1"/>
          </p:cNvSpPr>
          <p:nvPr/>
        </p:nvSpPr>
        <p:spPr bwMode="auto">
          <a:xfrm>
            <a:off x="6278539" y="2428868"/>
            <a:ext cx="60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BX</a:t>
            </a:r>
            <a:endParaRPr lang="en-US" altLang="en-US" sz="1200"/>
          </a:p>
        </p:txBody>
      </p:sp>
      <p:sp>
        <p:nvSpPr>
          <p:cNvPr id="20" name="TextBox 36"/>
          <p:cNvSpPr txBox="1">
            <a:spLocks noChangeArrowheads="1"/>
          </p:cNvSpPr>
          <p:nvPr/>
        </p:nvSpPr>
        <p:spPr bwMode="auto">
          <a:xfrm>
            <a:off x="5937227" y="3694106"/>
            <a:ext cx="1306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2800"/>
              <a:t>BH   BL</a:t>
            </a:r>
            <a:endParaRPr lang="en-US" alt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14290"/>
            <a:ext cx="7786742" cy="664371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IDIV : Divide signed word by byte or signed double word by word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operand is a byte: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AL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 AX / operand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AH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 remainder (modulus)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operand is a word: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AX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 (DX AX) /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operand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DX = remainder (modulus)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AAD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ASCII adjust after division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CBW : Fill upper byte of word with copies of sign bit of lower byte </a:t>
            </a:r>
          </a:p>
          <a:p>
            <a:pPr algn="just">
              <a:lnSpc>
                <a:spcPct val="9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CWD : Fill upper word of double word with sign bit of lower word.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2547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Bit </a:t>
            </a:r>
            <a:r>
              <a:rPr lang="en-US" dirty="0" smtClean="0"/>
              <a:t>Manipulation Instructions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1142984"/>
            <a:ext cx="7719274" cy="510541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instructions are used to perform operations where data bits are involved, i.e. operations like logical, shift, etc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Instructions to perform logical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operation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Used to invert each bit of a byte or word.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Used for adding each bit in a byte/word with the corresponding bit in another byte/word.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Used to multiply each bit in a byte/word with the corresponding bit in another byte/word.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Used to perform Exclusive-OR operation over each bit in a byte/word with the corresponding bit in another byte/word.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− Used to add operands to update flags, without affecting operands.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76" y="285728"/>
            <a:ext cx="7858180" cy="6357982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Instructions to perform shift </a:t>
            </a:r>
            <a:r>
              <a:rPr lang="en-US" dirty="0" smtClean="0"/>
              <a:t>operations</a:t>
            </a:r>
          </a:p>
          <a:p>
            <a:r>
              <a:rPr lang="en-US" b="1" dirty="0" smtClean="0"/>
              <a:t>SHL/SAL</a:t>
            </a:r>
            <a:r>
              <a:rPr lang="en-US" dirty="0" smtClean="0"/>
              <a:t> − Used to shift bits of a byte/word towards left and put zero(S) in LSBs.</a:t>
            </a:r>
          </a:p>
          <a:p>
            <a:r>
              <a:rPr lang="en-US" b="1" dirty="0" smtClean="0"/>
              <a:t>SHR</a:t>
            </a:r>
            <a:r>
              <a:rPr lang="en-US" dirty="0" smtClean="0"/>
              <a:t> − Used to shift bits of a byte/word towards the right and put zero(S) in MSBs.</a:t>
            </a:r>
          </a:p>
          <a:p>
            <a:r>
              <a:rPr lang="en-US" b="1" dirty="0" smtClean="0"/>
              <a:t>SAR</a:t>
            </a:r>
            <a:r>
              <a:rPr lang="en-US" dirty="0" smtClean="0"/>
              <a:t> − Used to shift bits of a byte/word towards the right and copy the old MSB into the new MSB.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357166"/>
            <a:ext cx="7715304" cy="614366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Instructions to perform rotate </a:t>
            </a:r>
            <a:r>
              <a:rPr lang="en-US" dirty="0" smtClean="0"/>
              <a:t>operations</a:t>
            </a:r>
          </a:p>
          <a:p>
            <a:r>
              <a:rPr lang="en-US" b="1" dirty="0" smtClean="0"/>
              <a:t>ROL</a:t>
            </a:r>
            <a:r>
              <a:rPr lang="en-US" dirty="0" smtClean="0"/>
              <a:t> − Used to rotate bits of byte/word towards the left, i.e. MSB to LSB and to Carry Flag [CF].</a:t>
            </a:r>
          </a:p>
          <a:p>
            <a:r>
              <a:rPr lang="en-US" b="1" dirty="0" smtClean="0"/>
              <a:t>ROR</a:t>
            </a:r>
            <a:r>
              <a:rPr lang="en-US" dirty="0" smtClean="0"/>
              <a:t> − Used to rotate bits of byte/word towards the right, i.e. LSB to MSB and to Carry Flag [CF].</a:t>
            </a:r>
          </a:p>
          <a:p>
            <a:r>
              <a:rPr lang="en-US" b="1" dirty="0" smtClean="0"/>
              <a:t>RCR</a:t>
            </a:r>
            <a:r>
              <a:rPr lang="en-US" dirty="0" smtClean="0"/>
              <a:t> − Used to rotate bits of byte/word towards the right, i.e. LSB to CF and CF to MSB.</a:t>
            </a:r>
          </a:p>
          <a:p>
            <a:r>
              <a:rPr lang="en-US" b="1" dirty="0" smtClean="0"/>
              <a:t>RCL</a:t>
            </a:r>
            <a:r>
              <a:rPr lang="en-US" dirty="0" smtClean="0"/>
              <a:t> − Used to rotate bits of byte/word towards the left, i.e. MSB to CF and CF to LSB.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285728"/>
            <a:ext cx="7715304" cy="6286544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/>
              <a:t>String </a:t>
            </a:r>
            <a:r>
              <a:rPr lang="en-US" dirty="0" smtClean="0"/>
              <a:t>Instructions</a:t>
            </a:r>
          </a:p>
          <a:p>
            <a:r>
              <a:rPr lang="en-US" dirty="0" smtClean="0"/>
              <a:t>String is a group of bytes/words and their memory is always allocated in a sequential order.</a:t>
            </a:r>
          </a:p>
          <a:p>
            <a:r>
              <a:rPr lang="en-US" dirty="0" smtClean="0"/>
              <a:t>Following is the list of instructions under this group −</a:t>
            </a:r>
          </a:p>
          <a:p>
            <a:r>
              <a:rPr lang="en-US" b="1" dirty="0" smtClean="0"/>
              <a:t>REP</a:t>
            </a:r>
            <a:r>
              <a:rPr lang="en-US" dirty="0" smtClean="0"/>
              <a:t> − Used to repeat the given instruction till CX ≠ 0.</a:t>
            </a:r>
          </a:p>
          <a:p>
            <a:r>
              <a:rPr lang="en-US" b="1" dirty="0" smtClean="0"/>
              <a:t>REPE/REPZ</a:t>
            </a:r>
            <a:r>
              <a:rPr lang="en-US" dirty="0" smtClean="0"/>
              <a:t> − Used to repeat the given instruction until CX = 0 or zero flag ZF = 1.</a:t>
            </a:r>
          </a:p>
          <a:p>
            <a:r>
              <a:rPr lang="en-US" b="1" dirty="0" smtClean="0"/>
              <a:t>REPNE/REPNZ</a:t>
            </a:r>
            <a:r>
              <a:rPr lang="en-US" dirty="0" smtClean="0"/>
              <a:t> − Used to repeat the given instruction until CX = 0 or zero flag ZF = 1.</a:t>
            </a:r>
          </a:p>
          <a:p>
            <a:r>
              <a:rPr lang="en-US" b="1" dirty="0" smtClean="0"/>
              <a:t>MOVS/MOVSB/MOVSW</a:t>
            </a:r>
            <a:r>
              <a:rPr lang="en-US" dirty="0" smtClean="0"/>
              <a:t> − Used to move the byte/word from one string to another.</a:t>
            </a:r>
          </a:p>
          <a:p>
            <a:r>
              <a:rPr lang="en-US" b="1" dirty="0" smtClean="0"/>
              <a:t>COMS/COMPSB/COMPSW</a:t>
            </a:r>
            <a:r>
              <a:rPr lang="en-US" dirty="0" smtClean="0"/>
              <a:t> − Used to compare two string bytes/words.</a:t>
            </a:r>
          </a:p>
          <a:p>
            <a:r>
              <a:rPr lang="en-US" b="1" dirty="0" smtClean="0"/>
              <a:t>INS/INSB/INSW</a:t>
            </a:r>
            <a:r>
              <a:rPr lang="en-US" dirty="0" smtClean="0"/>
              <a:t> − Used as an input string/byte/word from the I/O port to the provided memory location.</a:t>
            </a:r>
          </a:p>
          <a:p>
            <a:r>
              <a:rPr lang="en-US" b="1" dirty="0" smtClean="0"/>
              <a:t>OUTS/OUTSB/OUTSW</a:t>
            </a:r>
            <a:r>
              <a:rPr lang="en-US" dirty="0" smtClean="0"/>
              <a:t> − Used as an output string/byte/word from the provided memory location to the I/O port.</a:t>
            </a:r>
          </a:p>
          <a:p>
            <a:r>
              <a:rPr lang="en-US" b="1" dirty="0" smtClean="0"/>
              <a:t>SCAS/SCASB/SCASW</a:t>
            </a:r>
            <a:r>
              <a:rPr lang="en-US" dirty="0" smtClean="0"/>
              <a:t> − Used to scan a string and compare its byte with a byte in AL or string word with a word in AX.</a:t>
            </a:r>
          </a:p>
          <a:p>
            <a:r>
              <a:rPr lang="en-US" b="1" dirty="0" smtClean="0"/>
              <a:t>LODS/LODSB/LODSW</a:t>
            </a:r>
            <a:r>
              <a:rPr lang="en-US" dirty="0" smtClean="0"/>
              <a:t> − Used to store the string byte into AL or string word into AX.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538" y="142852"/>
            <a:ext cx="7929618" cy="642942"/>
          </a:xfrm>
        </p:spPr>
        <p:txBody>
          <a:bodyPr>
            <a:normAutofit fontScale="9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Ex:  Write 8086 Assembly language program to add two 16-bit number stored in memory location 3000H – 3001H and 3002H – 3003H.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5602" name="Picture 2" descr="V:\vssut\mpmc\flowchart1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000108"/>
            <a:ext cx="3571900" cy="50323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6626" name="Picture 2" descr="V:\vssut\mpmc\prog1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42961" y="428604"/>
            <a:ext cx="7567309" cy="49292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538" y="928670"/>
            <a:ext cx="8001056" cy="578647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Three consecutive memory locations i.e. 3000H,3001H,3002Hwill contain three data like 10H,20H,30H respectively. Write a program to add all these numbers and store the result in 4002H location. Neglect if any carry is generated.</a:t>
            </a:r>
          </a:p>
          <a:p>
            <a:pPr algn="just">
              <a:buNone/>
            </a:pP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AX,3000H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DS, AX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SI, 0000H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 BL,00H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    BL,[SI]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 SI,0001H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    BL, [SI]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MOV     SI,  0002H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ADD      BL, [SI]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 –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Write a program to add the content of memory location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2000 : 0500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with content of memory location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3000 : 0600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and store result into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5000 : 0700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memory location.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9AC49-16EF-4FE2-AFCD-22497A2D05A4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4720</TotalTime>
  <Words>1115</Words>
  <Application>Microsoft Office PowerPoint</Application>
  <PresentationFormat>On-screen Show (4:3)</PresentationFormat>
  <Paragraphs>234</Paragraphs>
  <Slides>22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Solstice</vt:lpstr>
      <vt:lpstr>Equation</vt:lpstr>
      <vt:lpstr>Slide 1</vt:lpstr>
      <vt:lpstr>Slide 2</vt:lpstr>
      <vt:lpstr>Data Transfer Instructions</vt:lpstr>
      <vt:lpstr>Slide 4</vt:lpstr>
      <vt:lpstr>Slide 5</vt:lpstr>
      <vt:lpstr>Slide 6</vt:lpstr>
      <vt:lpstr>Slide 7</vt:lpstr>
      <vt:lpstr>Slide 8</vt:lpstr>
      <vt:lpstr>Arithmetic Instruction</vt:lpstr>
      <vt:lpstr>Slide 10</vt:lpstr>
      <vt:lpstr>Slide 11</vt:lpstr>
      <vt:lpstr>Slide 12</vt:lpstr>
      <vt:lpstr>Slide 13</vt:lpstr>
      <vt:lpstr>Slide 14</vt:lpstr>
      <vt:lpstr> Bit Manipulation Instructions </vt:lpstr>
      <vt:lpstr>Slide 16</vt:lpstr>
      <vt:lpstr>Slide 17</vt:lpstr>
      <vt:lpstr>Slide 18</vt:lpstr>
      <vt:lpstr>Ex:  Write 8086 Assembly language program to add two 16-bit number stored in memory location 3000H – 3001H and 3002H – 3003H.</vt:lpstr>
      <vt:lpstr>Slide 20</vt:lpstr>
      <vt:lpstr>Ex:</vt:lpstr>
      <vt:lpstr>Problem – Write a program to add the content of memory location 2000 : 0500 with content of memory location 3000 : 0600 and store result into 5000 : 0700 memory location.</vt:lpstr>
    </vt:vector>
  </TitlesOfParts>
  <Company>Tata Steel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Kshiramani</dc:creator>
  <cp:lastModifiedBy>Kshiramani</cp:lastModifiedBy>
  <cp:revision>214</cp:revision>
  <dcterms:created xsi:type="dcterms:W3CDTF">2020-09-19T06:55:40Z</dcterms:created>
  <dcterms:modified xsi:type="dcterms:W3CDTF">2020-11-20T05:39:09Z</dcterms:modified>
</cp:coreProperties>
</file>