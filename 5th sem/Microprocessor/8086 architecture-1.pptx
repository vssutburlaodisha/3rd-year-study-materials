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60" r:id="rId2"/>
    <p:sldId id="284" r:id="rId3"/>
    <p:sldId id="285" r:id="rId4"/>
    <p:sldId id="286" r:id="rId5"/>
    <p:sldId id="273" r:id="rId6"/>
    <p:sldId id="303" r:id="rId7"/>
    <p:sldId id="304" r:id="rId8"/>
    <p:sldId id="308" r:id="rId9"/>
    <p:sldId id="289" r:id="rId10"/>
    <p:sldId id="294" r:id="rId11"/>
    <p:sldId id="306" r:id="rId12"/>
    <p:sldId id="305" r:id="rId13"/>
    <p:sldId id="307" r:id="rId14"/>
    <p:sldId id="291" r:id="rId15"/>
    <p:sldId id="292" r:id="rId16"/>
    <p:sldId id="288"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90" d="100"/>
          <a:sy n="90" d="100"/>
        </p:scale>
        <p:origin x="-1234" y="67"/>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8234E5-8504-4330-A12E-6C3403FD2A40}" type="datetimeFigureOut">
              <a:rPr lang="en-US" smtClean="0"/>
              <a:pPr/>
              <a:t>11/15/2020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796E43D-C79D-4B39-8257-5EC2E1B8CD3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796E43D-C79D-4B39-8257-5EC2E1B8CD37}"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796E43D-C79D-4B39-8257-5EC2E1B8CD37}"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3DAEB126-6801-43E9-A8B3-58C9D3168E6A}" type="datetime1">
              <a:rPr lang="en-US" smtClean="0"/>
              <a:pPr/>
              <a:t>11/15/2020</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1E79AC49-16EF-4FE2-AFCD-22497A2D05A4}"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802DACB8-3BA7-4002-A7AD-C8647D9CA189}" type="datetime1">
              <a:rPr lang="en-US" smtClean="0"/>
              <a:pPr/>
              <a:t>11/15/2020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1E79AC49-16EF-4FE2-AFCD-22497A2D05A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F04AFFFE-839E-42EF-84DD-E0158050FE0F}" type="datetime1">
              <a:rPr lang="en-US" smtClean="0"/>
              <a:pPr/>
              <a:t>11/15/2020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1E79AC49-16EF-4FE2-AFCD-22497A2D05A4}"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74810B4C-547F-478A-B83B-708C38DE0944}" type="datetime1">
              <a:rPr lang="en-US" smtClean="0"/>
              <a:pPr/>
              <a:t>11/15/2020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1E79AC49-16EF-4FE2-AFCD-22497A2D05A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3AD17806-C4D3-4254-B953-9105470292AE}" type="datetime1">
              <a:rPr lang="en-US" smtClean="0"/>
              <a:pPr/>
              <a:t>11/15/2020</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1E79AC49-16EF-4FE2-AFCD-22497A2D05A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86C25880-1A7D-4DEC-B8C2-E79257111B40}" type="datetime1">
              <a:rPr lang="en-US" smtClean="0"/>
              <a:pPr/>
              <a:t>11/15/2020</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1E79AC49-16EF-4FE2-AFCD-22497A2D05A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C0C967D1-DF5F-467A-BE56-518076760F03}" type="datetime1">
              <a:rPr lang="en-US" smtClean="0"/>
              <a:pPr/>
              <a:t>11/15/2020</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1E79AC49-16EF-4FE2-AFCD-22497A2D05A4}"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81CB778D-2364-4912-8698-387B4C1FC6AB}" type="datetime1">
              <a:rPr lang="en-US" smtClean="0"/>
              <a:pPr/>
              <a:t>11/15/2020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1E79AC49-16EF-4FE2-AFCD-22497A2D05A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F562B2C2-EBA0-4DCA-9606-A50885129859}" type="datetime1">
              <a:rPr lang="en-US" smtClean="0"/>
              <a:pPr/>
              <a:t>11/15/2020</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1E79AC49-16EF-4FE2-AFCD-22497A2D05A4}"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9FD5C6E7-F489-4D87-9858-1BB05BD8AF4C}" type="datetime1">
              <a:rPr lang="en-US" smtClean="0"/>
              <a:pPr/>
              <a:t>11/15/2020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1E79AC49-16EF-4FE2-AFCD-22497A2D05A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FC076317-255B-493D-A1FF-EBE9A398B387}" type="datetime1">
              <a:rPr lang="en-US" smtClean="0"/>
              <a:pPr/>
              <a:t>11/15/2020</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1E79AC49-16EF-4FE2-AFCD-22497A2D05A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6D59FB09-536B-4489-9409-02A247E91D00}" type="datetime1">
              <a:rPr lang="en-US" smtClean="0"/>
              <a:pPr/>
              <a:t>11/15/2020</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1E79AC49-16EF-4FE2-AFCD-22497A2D05A4}"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1"/>
          </p:nvPr>
        </p:nvSpPr>
        <p:spPr>
          <a:xfrm>
            <a:off x="571472" y="1714488"/>
            <a:ext cx="8153400" cy="3992563"/>
          </a:xfrm>
        </p:spPr>
        <p:txBody>
          <a:bodyPr>
            <a:normAutofit/>
          </a:bodyPr>
          <a:lstStyle/>
          <a:p>
            <a:pPr algn="ctr">
              <a:buNone/>
            </a:pPr>
            <a:endParaRPr lang="en-US" sz="6000" dirty="0" smtClean="0">
              <a:latin typeface="Bernard MT Condensed" pitchFamily="18" charset="0"/>
            </a:endParaRPr>
          </a:p>
          <a:p>
            <a:pPr algn="ctr">
              <a:buNone/>
            </a:pPr>
            <a:r>
              <a:rPr lang="en-US" sz="6000" dirty="0" smtClean="0">
                <a:latin typeface="Bernard MT Condensed" pitchFamily="18" charset="0"/>
              </a:rPr>
              <a:t>8086 Microprocessor</a:t>
            </a:r>
            <a:endParaRPr lang="en-US" sz="6000" dirty="0">
              <a:latin typeface="Bernard MT Condensed" pitchFamily="18" charset="0"/>
            </a:endParaRPr>
          </a:p>
        </p:txBody>
      </p:sp>
      <p:sp>
        <p:nvSpPr>
          <p:cNvPr id="5" name="Slide Number Placeholder 4"/>
          <p:cNvSpPr>
            <a:spLocks noGrp="1"/>
          </p:cNvSpPr>
          <p:nvPr>
            <p:ph type="sldNum" sz="quarter" idx="12"/>
          </p:nvPr>
        </p:nvSpPr>
        <p:spPr/>
        <p:txBody>
          <a:bodyPr/>
          <a:lstStyle/>
          <a:p>
            <a:fld id="{1E79AC49-16EF-4FE2-AFCD-22497A2D05A4}" type="slidenum">
              <a:rPr lang="en-US" smtClean="0"/>
              <a:pPr/>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a:xfrm>
            <a:off x="1071538" y="1447800"/>
            <a:ext cx="7929618" cy="5267348"/>
          </a:xfrm>
        </p:spPr>
        <p:txBody>
          <a:bodyPr>
            <a:normAutofit/>
          </a:bodyPr>
          <a:lstStyle/>
          <a:p>
            <a:r>
              <a:rPr lang="en-US" sz="2000" dirty="0" smtClean="0">
                <a:latin typeface="Times New Roman" pitchFamily="18" charset="0"/>
                <a:cs typeface="Times New Roman" pitchFamily="18" charset="0"/>
              </a:rPr>
              <a:t>designed by Intel in 1976.</a:t>
            </a:r>
          </a:p>
          <a:p>
            <a:r>
              <a:rPr lang="en-US" sz="2000" dirty="0" smtClean="0">
                <a:latin typeface="Times New Roman" pitchFamily="18" charset="0"/>
                <a:cs typeface="Times New Roman" pitchFamily="18" charset="0"/>
              </a:rPr>
              <a:t>16-bit Microprocessor having 16 data lines.</a:t>
            </a:r>
          </a:p>
          <a:p>
            <a:r>
              <a:rPr lang="en-US" sz="2000" dirty="0" smtClean="0">
                <a:latin typeface="Times New Roman" pitchFamily="18" charset="0"/>
                <a:cs typeface="Times New Roman" pitchFamily="18" charset="0"/>
              </a:rPr>
              <a:t>It has 20 bit address bus and can access up to 2</a:t>
            </a:r>
            <a:r>
              <a:rPr lang="en-US" sz="2000" baseline="30000" dirty="0" smtClean="0">
                <a:latin typeface="Times New Roman" pitchFamily="18" charset="0"/>
                <a:cs typeface="Times New Roman" pitchFamily="18" charset="0"/>
              </a:rPr>
              <a:t>20 </a:t>
            </a:r>
            <a:r>
              <a:rPr lang="en-US" sz="2000" dirty="0" smtClean="0">
                <a:latin typeface="Times New Roman" pitchFamily="18" charset="0"/>
                <a:cs typeface="Times New Roman" pitchFamily="18" charset="0"/>
              </a:rPr>
              <a:t>memory locations (1 MB). </a:t>
            </a:r>
          </a:p>
          <a:p>
            <a:r>
              <a:rPr lang="en-US" sz="2000" dirty="0" smtClean="0">
                <a:latin typeface="Times New Roman" pitchFamily="18" charset="0"/>
                <a:cs typeface="Times New Roman" pitchFamily="18" charset="0"/>
              </a:rPr>
              <a:t>40 pin dual-in-line package</a:t>
            </a:r>
          </a:p>
          <a:p>
            <a:r>
              <a:rPr lang="en-US" sz="2000" dirty="0" smtClean="0">
                <a:latin typeface="Times New Roman" pitchFamily="18" charset="0"/>
                <a:cs typeface="Times New Roman" pitchFamily="18" charset="0"/>
              </a:rPr>
              <a:t> It provides 14, 16-bit registers </a:t>
            </a:r>
          </a:p>
          <a:p>
            <a:r>
              <a:rPr lang="en-US" sz="2000" dirty="0" err="1" smtClean="0">
                <a:latin typeface="Times New Roman" pitchFamily="18" charset="0"/>
                <a:cs typeface="Times New Roman" pitchFamily="18" charset="0"/>
              </a:rPr>
              <a:t>Prefetches</a:t>
            </a:r>
            <a:r>
              <a:rPr lang="en-US" sz="2000" dirty="0" smtClean="0">
                <a:latin typeface="Times New Roman" pitchFamily="18" charset="0"/>
                <a:cs typeface="Times New Roman" pitchFamily="18" charset="0"/>
              </a:rPr>
              <a:t> up to 6 instruction bytes from memory and queues them in order to speed up the processing. </a:t>
            </a:r>
          </a:p>
          <a:p>
            <a:r>
              <a:rPr lang="en-US" sz="2000" dirty="0" smtClean="0">
                <a:latin typeface="Times New Roman" pitchFamily="18" charset="0"/>
                <a:cs typeface="Times New Roman" pitchFamily="18" charset="0"/>
              </a:rPr>
              <a:t> 8086 supports 2 modes of operation </a:t>
            </a:r>
          </a:p>
          <a:p>
            <a:pPr>
              <a:buNone/>
            </a:pPr>
            <a:r>
              <a:rPr lang="en-US" sz="2000" dirty="0" smtClean="0">
                <a:latin typeface="Times New Roman" pitchFamily="18" charset="0"/>
                <a:cs typeface="Times New Roman" pitchFamily="18" charset="0"/>
              </a:rPr>
              <a:t>        a. Minimum mode b. Maximum mode</a:t>
            </a:r>
          </a:p>
          <a:p>
            <a:r>
              <a:rPr lang="en-US" sz="2000" dirty="0" smtClean="0">
                <a:latin typeface="Times New Roman" pitchFamily="18" charset="0"/>
                <a:cs typeface="Times New Roman" pitchFamily="18" charset="0"/>
              </a:rPr>
              <a:t>It is available in 3 versions based on the frequency of operation −</a:t>
            </a:r>
          </a:p>
          <a:p>
            <a:pPr>
              <a:buNone/>
            </a:pPr>
            <a:r>
              <a:rPr lang="en-US" sz="2000" dirty="0" smtClean="0">
                <a:latin typeface="Times New Roman" pitchFamily="18" charset="0"/>
                <a:cs typeface="Times New Roman" pitchFamily="18" charset="0"/>
              </a:rPr>
              <a:t>8086 → 5MHz</a:t>
            </a:r>
          </a:p>
          <a:p>
            <a:pPr>
              <a:buNone/>
            </a:pPr>
            <a:r>
              <a:rPr lang="en-US" sz="2000" dirty="0" smtClean="0">
                <a:latin typeface="Times New Roman" pitchFamily="18" charset="0"/>
                <a:cs typeface="Times New Roman" pitchFamily="18" charset="0"/>
              </a:rPr>
              <a:t>8086-2 → 8MHz</a:t>
            </a:r>
          </a:p>
          <a:p>
            <a:pPr>
              <a:buNone/>
            </a:pPr>
            <a:r>
              <a:rPr lang="en-US" sz="2000" dirty="0" smtClean="0">
                <a:latin typeface="Times New Roman" pitchFamily="18" charset="0"/>
                <a:cs typeface="Times New Roman" pitchFamily="18" charset="0"/>
              </a:rPr>
              <a:t>8086-1 → 10 MHz</a:t>
            </a:r>
          </a:p>
          <a:p>
            <a:pPr>
              <a:buFont typeface="Arial" pitchFamily="34" charset="0"/>
              <a:buChar char="•"/>
            </a:pPr>
            <a:endParaRPr lang="en-US" sz="2000" baseline="30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E79AC49-16EF-4FE2-AFCD-22497A2D05A4}"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Difference between 8085 and 8086</a:t>
            </a:r>
            <a:endParaRPr lang="en-US" dirty="0"/>
          </a:p>
        </p:txBody>
      </p:sp>
      <p:graphicFrame>
        <p:nvGraphicFramePr>
          <p:cNvPr id="5" name="Content Placeholder 4"/>
          <p:cNvGraphicFramePr>
            <a:graphicFrameLocks noGrp="1"/>
          </p:cNvGraphicFramePr>
          <p:nvPr>
            <p:ph idx="1"/>
          </p:nvPr>
        </p:nvGraphicFramePr>
        <p:xfrm>
          <a:off x="1214414" y="1447800"/>
          <a:ext cx="7720035" cy="3409960"/>
        </p:xfrm>
        <a:graphic>
          <a:graphicData uri="http://schemas.openxmlformats.org/drawingml/2006/table">
            <a:tbl>
              <a:tblPr firstRow="1" bandRow="1">
                <a:tableStyleId>{5C22544A-7EE6-4342-B048-85BDC9FD1C3A}</a:tableStyleId>
              </a:tblPr>
              <a:tblGrid>
                <a:gridCol w="1243624"/>
                <a:gridCol w="3903066"/>
                <a:gridCol w="2573345"/>
              </a:tblGrid>
              <a:tr h="387134">
                <a:tc>
                  <a:txBody>
                    <a:bodyPr/>
                    <a:lstStyle/>
                    <a:p>
                      <a:endParaRPr lang="en-US" dirty="0"/>
                    </a:p>
                  </a:txBody>
                  <a:tcPr/>
                </a:tc>
                <a:tc>
                  <a:txBody>
                    <a:bodyPr/>
                    <a:lstStyle/>
                    <a:p>
                      <a:r>
                        <a:rPr lang="en-US" dirty="0" smtClean="0"/>
                        <a:t>8085</a:t>
                      </a:r>
                      <a:endParaRPr lang="en-US" dirty="0"/>
                    </a:p>
                  </a:txBody>
                  <a:tcPr/>
                </a:tc>
                <a:tc>
                  <a:txBody>
                    <a:bodyPr/>
                    <a:lstStyle/>
                    <a:p>
                      <a:r>
                        <a:rPr lang="en-US" dirty="0" smtClean="0"/>
                        <a:t>8086</a:t>
                      </a:r>
                      <a:endParaRPr lang="en-US" dirty="0"/>
                    </a:p>
                  </a:txBody>
                  <a:tcPr/>
                </a:tc>
              </a:tr>
              <a:tr h="413650">
                <a:tc>
                  <a:txBody>
                    <a:bodyPr/>
                    <a:lstStyle/>
                    <a:p>
                      <a:r>
                        <a:rPr lang="en-US" sz="2000" b="1" dirty="0" smtClean="0">
                          <a:latin typeface="Times New Roman" pitchFamily="18" charset="0"/>
                          <a:cs typeface="Times New Roman" pitchFamily="18" charset="0"/>
                        </a:rPr>
                        <a:t>size</a:t>
                      </a:r>
                      <a:endParaRPr lang="en-US" sz="2000" b="1" dirty="0">
                        <a:latin typeface="Times New Roman" pitchFamily="18" charset="0"/>
                        <a:cs typeface="Times New Roman" pitchFamily="18" charset="0"/>
                      </a:endParaRPr>
                    </a:p>
                  </a:txBody>
                  <a:tcPr/>
                </a:tc>
                <a:tc>
                  <a:txBody>
                    <a:bodyPr/>
                    <a:lstStyle/>
                    <a:p>
                      <a:r>
                        <a:rPr kumimoji="0" lang="en-US" sz="2000" b="0" i="0" kern="1200" dirty="0" smtClean="0">
                          <a:solidFill>
                            <a:schemeClr val="dk1"/>
                          </a:solidFill>
                          <a:latin typeface="Times New Roman" pitchFamily="18" charset="0"/>
                          <a:ea typeface="+mn-ea"/>
                          <a:cs typeface="Times New Roman" pitchFamily="18" charset="0"/>
                        </a:rPr>
                        <a:t>8-bit microprocessor</a:t>
                      </a:r>
                      <a:endParaRPr lang="en-US" sz="2000" dirty="0">
                        <a:latin typeface="Times New Roman" pitchFamily="18" charset="0"/>
                        <a:cs typeface="Times New Roman" pitchFamily="18" charset="0"/>
                      </a:endParaRPr>
                    </a:p>
                  </a:txBody>
                  <a:tcPr/>
                </a:tc>
                <a:tc>
                  <a:txBody>
                    <a:bodyPr/>
                    <a:lstStyle/>
                    <a:p>
                      <a:r>
                        <a:rPr kumimoji="0" lang="en-US" sz="2000" b="0" i="0" kern="1200" dirty="0" smtClean="0">
                          <a:solidFill>
                            <a:schemeClr val="dk1"/>
                          </a:solidFill>
                          <a:latin typeface="Times New Roman" pitchFamily="18" charset="0"/>
                          <a:ea typeface="+mn-ea"/>
                          <a:cs typeface="Times New Roman" pitchFamily="18" charset="0"/>
                        </a:rPr>
                        <a:t>16-bit microprocessor</a:t>
                      </a:r>
                      <a:endParaRPr lang="en-US" sz="2000" dirty="0">
                        <a:latin typeface="Times New Roman" pitchFamily="18" charset="0"/>
                        <a:cs typeface="Times New Roman" pitchFamily="18" charset="0"/>
                      </a:endParaRPr>
                    </a:p>
                  </a:txBody>
                  <a:tcPr/>
                </a:tc>
              </a:tr>
              <a:tr h="731842">
                <a:tc>
                  <a:txBody>
                    <a:bodyPr/>
                    <a:lstStyle/>
                    <a:p>
                      <a:r>
                        <a:rPr kumimoji="0" lang="en-US" sz="2000" b="1" i="0" kern="1200" dirty="0" smtClean="0">
                          <a:solidFill>
                            <a:schemeClr val="dk1"/>
                          </a:solidFill>
                          <a:latin typeface="Times New Roman" pitchFamily="18" charset="0"/>
                          <a:ea typeface="+mn-ea"/>
                          <a:cs typeface="Times New Roman" pitchFamily="18" charset="0"/>
                        </a:rPr>
                        <a:t>Address Bus</a:t>
                      </a:r>
                      <a:endParaRPr lang="en-US" sz="2000" dirty="0">
                        <a:latin typeface="Times New Roman" pitchFamily="18" charset="0"/>
                        <a:cs typeface="Times New Roman" pitchFamily="18" charset="0"/>
                      </a:endParaRPr>
                    </a:p>
                  </a:txBody>
                  <a:tcPr/>
                </a:tc>
                <a:tc>
                  <a:txBody>
                    <a:bodyPr/>
                    <a:lstStyle/>
                    <a:p>
                      <a:r>
                        <a:rPr kumimoji="0" lang="en-US" sz="2000" b="0" i="0" kern="1200" dirty="0" smtClean="0">
                          <a:solidFill>
                            <a:schemeClr val="dk1"/>
                          </a:solidFill>
                          <a:latin typeface="Times New Roman" pitchFamily="18" charset="0"/>
                          <a:ea typeface="+mn-ea"/>
                          <a:cs typeface="Times New Roman" pitchFamily="18" charset="0"/>
                        </a:rPr>
                        <a:t>16-bit address bus </a:t>
                      </a:r>
                      <a:endParaRPr lang="en-US" sz="2000" dirty="0">
                        <a:latin typeface="Times New Roman" pitchFamily="18" charset="0"/>
                        <a:cs typeface="Times New Roman" pitchFamily="18" charset="0"/>
                      </a:endParaRPr>
                    </a:p>
                  </a:txBody>
                  <a:tcPr/>
                </a:tc>
                <a:tc>
                  <a:txBody>
                    <a:bodyPr/>
                    <a:lstStyle/>
                    <a:p>
                      <a:r>
                        <a:rPr kumimoji="0" lang="en-US" sz="2000" b="0" i="0" kern="1200" dirty="0" smtClean="0">
                          <a:solidFill>
                            <a:schemeClr val="dk1"/>
                          </a:solidFill>
                          <a:latin typeface="Times New Roman" pitchFamily="18" charset="0"/>
                          <a:ea typeface="+mn-ea"/>
                          <a:cs typeface="Times New Roman" pitchFamily="18" charset="0"/>
                        </a:rPr>
                        <a:t>20-bit address bus </a:t>
                      </a:r>
                      <a:endParaRPr lang="en-US" sz="2000" dirty="0">
                        <a:latin typeface="Times New Roman" pitchFamily="18" charset="0"/>
                        <a:cs typeface="Times New Roman" pitchFamily="18" charset="0"/>
                      </a:endParaRPr>
                    </a:p>
                  </a:txBody>
                  <a:tcPr/>
                </a:tc>
              </a:tr>
              <a:tr h="413650">
                <a:tc>
                  <a:txBody>
                    <a:bodyPr/>
                    <a:lstStyle/>
                    <a:p>
                      <a:r>
                        <a:rPr kumimoji="0" lang="en-US" sz="2000" b="1" i="0" kern="1200" dirty="0" smtClean="0">
                          <a:solidFill>
                            <a:schemeClr val="dk1"/>
                          </a:solidFill>
                          <a:latin typeface="Times New Roman" pitchFamily="18" charset="0"/>
                          <a:ea typeface="+mn-ea"/>
                          <a:cs typeface="Times New Roman" pitchFamily="18" charset="0"/>
                        </a:rPr>
                        <a:t>Memory</a:t>
                      </a:r>
                      <a:r>
                        <a:rPr kumimoji="0" lang="en-US" sz="2000" b="0" i="0" kern="1200" dirty="0" smtClean="0">
                          <a:solidFill>
                            <a:schemeClr val="dk1"/>
                          </a:solidFill>
                          <a:latin typeface="Times New Roman" pitchFamily="18" charset="0"/>
                          <a:ea typeface="+mn-ea"/>
                          <a:cs typeface="Times New Roman" pitchFamily="18" charset="0"/>
                        </a:rPr>
                        <a:t> </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Access </a:t>
                      </a:r>
                      <a:r>
                        <a:rPr lang="en-US" sz="2000" dirty="0" err="1" smtClean="0">
                          <a:latin typeface="Times New Roman" pitchFamily="18" charset="0"/>
                          <a:cs typeface="Times New Roman" pitchFamily="18" charset="0"/>
                        </a:rPr>
                        <a:t>upto</a:t>
                      </a:r>
                      <a:r>
                        <a:rPr lang="en-US" sz="2000" dirty="0" smtClean="0">
                          <a:latin typeface="Times New Roman" pitchFamily="18" charset="0"/>
                          <a:cs typeface="Times New Roman" pitchFamily="18" charset="0"/>
                        </a:rPr>
                        <a:t> 64kb</a:t>
                      </a:r>
                      <a:endParaRPr lang="en-US" sz="2000" dirty="0">
                        <a:latin typeface="Times New Roman" pitchFamily="18" charset="0"/>
                        <a:cs typeface="Times New Roman" pitchFamily="18" charset="0"/>
                      </a:endParaRPr>
                    </a:p>
                  </a:txBody>
                  <a:tcPr/>
                </a:tc>
                <a:tc>
                  <a:txBody>
                    <a:bodyPr/>
                    <a:lstStyle/>
                    <a:p>
                      <a:r>
                        <a:rPr kumimoji="0" lang="en-US" sz="2000" b="0" i="0" kern="1200" dirty="0" smtClean="0">
                          <a:solidFill>
                            <a:schemeClr val="dk1"/>
                          </a:solidFill>
                          <a:latin typeface="Times New Roman" pitchFamily="18" charset="0"/>
                          <a:ea typeface="+mn-ea"/>
                          <a:cs typeface="Times New Roman" pitchFamily="18" charset="0"/>
                        </a:rPr>
                        <a:t>access up to 1 Mb</a:t>
                      </a:r>
                      <a:endParaRPr lang="en-US" sz="2000" dirty="0">
                        <a:latin typeface="Times New Roman" pitchFamily="18" charset="0"/>
                        <a:cs typeface="Times New Roman" pitchFamily="18" charset="0"/>
                      </a:endParaRPr>
                    </a:p>
                  </a:txBody>
                  <a:tcPr/>
                </a:tc>
              </a:tr>
              <a:tr h="731842">
                <a:tc>
                  <a:txBody>
                    <a:bodyPr/>
                    <a:lstStyle/>
                    <a:p>
                      <a:r>
                        <a:rPr kumimoji="0" lang="en-US" sz="2000" b="1" i="0" kern="1200" dirty="0" smtClean="0">
                          <a:solidFill>
                            <a:schemeClr val="dk1"/>
                          </a:solidFill>
                          <a:latin typeface="Times New Roman" pitchFamily="18" charset="0"/>
                          <a:ea typeface="+mn-ea"/>
                          <a:cs typeface="Times New Roman" pitchFamily="18" charset="0"/>
                        </a:rPr>
                        <a:t>Instruction</a:t>
                      </a:r>
                      <a:endParaRPr lang="en-US" sz="2000" dirty="0">
                        <a:latin typeface="Times New Roman" pitchFamily="18" charset="0"/>
                        <a:cs typeface="Times New Roman" pitchFamily="18" charset="0"/>
                      </a:endParaRPr>
                    </a:p>
                  </a:txBody>
                  <a:tcPr/>
                </a:tc>
                <a:tc>
                  <a:txBody>
                    <a:bodyPr/>
                    <a:lstStyle/>
                    <a:p>
                      <a:r>
                        <a:rPr kumimoji="0" lang="en-US" sz="2000" b="0" i="0" kern="1200" dirty="0" smtClean="0">
                          <a:solidFill>
                            <a:schemeClr val="dk1"/>
                          </a:solidFill>
                          <a:latin typeface="Times New Roman" pitchFamily="18" charset="0"/>
                          <a:ea typeface="+mn-ea"/>
                          <a:cs typeface="Times New Roman" pitchFamily="18" charset="0"/>
                        </a:rPr>
                        <a:t>doesn’t have an instruction queue</a:t>
                      </a:r>
                      <a:endParaRPr lang="en-US" sz="2000" dirty="0">
                        <a:latin typeface="Times New Roman" pitchFamily="18" charset="0"/>
                        <a:cs typeface="Times New Roman" pitchFamily="18" charset="0"/>
                      </a:endParaRPr>
                    </a:p>
                  </a:txBody>
                  <a:tcPr/>
                </a:tc>
                <a:tc>
                  <a:txBody>
                    <a:bodyPr/>
                    <a:lstStyle/>
                    <a:p>
                      <a:r>
                        <a:rPr kumimoji="0" lang="en-US" sz="2000" b="0" i="0" kern="1200" dirty="0" smtClean="0">
                          <a:solidFill>
                            <a:schemeClr val="dk1"/>
                          </a:solidFill>
                          <a:latin typeface="Times New Roman" pitchFamily="18" charset="0"/>
                          <a:ea typeface="+mn-ea"/>
                          <a:cs typeface="Times New Roman" pitchFamily="18" charset="0"/>
                        </a:rPr>
                        <a:t>has an instruction queue.</a:t>
                      </a:r>
                      <a:endParaRPr lang="en-US" sz="2000" dirty="0">
                        <a:latin typeface="Times New Roman" pitchFamily="18" charset="0"/>
                        <a:cs typeface="Times New Roman" pitchFamily="18" charset="0"/>
                      </a:endParaRPr>
                    </a:p>
                  </a:txBody>
                  <a:tcPr/>
                </a:tc>
              </a:tr>
              <a:tr h="731842">
                <a:tc>
                  <a:txBody>
                    <a:bodyPr/>
                    <a:lstStyle/>
                    <a:p>
                      <a:r>
                        <a:rPr kumimoji="0" lang="en-US" sz="2000" b="1" i="0" kern="1200" dirty="0" smtClean="0">
                          <a:solidFill>
                            <a:schemeClr val="dk1"/>
                          </a:solidFill>
                          <a:latin typeface="Times New Roman" pitchFamily="18" charset="0"/>
                          <a:ea typeface="+mn-ea"/>
                          <a:cs typeface="Times New Roman" pitchFamily="18" charset="0"/>
                        </a:rPr>
                        <a:t>Pipelining</a:t>
                      </a:r>
                      <a:endParaRPr lang="en-US" sz="2000" dirty="0">
                        <a:latin typeface="Times New Roman" pitchFamily="18" charset="0"/>
                        <a:cs typeface="Times New Roman" pitchFamily="18" charset="0"/>
                      </a:endParaRPr>
                    </a:p>
                  </a:txBody>
                  <a:tcPr/>
                </a:tc>
                <a:tc>
                  <a:txBody>
                    <a:bodyPr/>
                    <a:lstStyle/>
                    <a:p>
                      <a:r>
                        <a:rPr kumimoji="0" lang="en-US" sz="2000" b="0" i="0" kern="1200" dirty="0" smtClean="0">
                          <a:solidFill>
                            <a:schemeClr val="dk1"/>
                          </a:solidFill>
                          <a:latin typeface="Times New Roman" pitchFamily="18" charset="0"/>
                          <a:ea typeface="+mn-ea"/>
                          <a:cs typeface="Times New Roman" pitchFamily="18" charset="0"/>
                        </a:rPr>
                        <a:t>doesn’t support a pipelined architecture </a:t>
                      </a:r>
                      <a:endParaRPr lang="en-US" sz="2000" dirty="0">
                        <a:latin typeface="Times New Roman" pitchFamily="18" charset="0"/>
                        <a:cs typeface="Times New Roman" pitchFamily="18" charset="0"/>
                      </a:endParaRPr>
                    </a:p>
                  </a:txBody>
                  <a:tcPr/>
                </a:tc>
                <a:tc>
                  <a:txBody>
                    <a:bodyPr/>
                    <a:lstStyle/>
                    <a:p>
                      <a:r>
                        <a:rPr kumimoji="0" lang="en-US" sz="2000" b="0" i="0" kern="1200" dirty="0" smtClean="0">
                          <a:solidFill>
                            <a:schemeClr val="dk1"/>
                          </a:solidFill>
                          <a:latin typeface="Times New Roman" pitchFamily="18" charset="0"/>
                          <a:ea typeface="+mn-ea"/>
                          <a:cs typeface="Times New Roman" pitchFamily="18" charset="0"/>
                        </a:rPr>
                        <a:t>supports a pipelined architecture.</a:t>
                      </a:r>
                      <a:endParaRPr lang="en-US" sz="2000" dirty="0">
                        <a:latin typeface="Times New Roman" pitchFamily="18" charset="0"/>
                        <a:cs typeface="Times New Roman" pitchFamily="18" charset="0"/>
                      </a:endParaRPr>
                    </a:p>
                  </a:txBody>
                  <a:tcPr/>
                </a:tc>
              </a:tr>
            </a:tbl>
          </a:graphicData>
        </a:graphic>
      </p:graphicFrame>
      <p:sp>
        <p:nvSpPr>
          <p:cNvPr id="4" name="Slide Number Placeholder 3"/>
          <p:cNvSpPr>
            <a:spLocks noGrp="1"/>
          </p:cNvSpPr>
          <p:nvPr>
            <p:ph type="sldNum" sz="quarter" idx="12"/>
          </p:nvPr>
        </p:nvSpPr>
        <p:spPr/>
        <p:txBody>
          <a:bodyPr/>
          <a:lstStyle/>
          <a:p>
            <a:fld id="{1E79AC49-16EF-4FE2-AFCD-22497A2D05A4}"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Architecture of 8086 microprocessor:</a:t>
            </a:r>
            <a:endParaRPr lang="en-US" dirty="0"/>
          </a:p>
        </p:txBody>
      </p:sp>
      <p:sp>
        <p:nvSpPr>
          <p:cNvPr id="4" name="Slide Number Placeholder 3"/>
          <p:cNvSpPr>
            <a:spLocks noGrp="1"/>
          </p:cNvSpPr>
          <p:nvPr>
            <p:ph type="sldNum" sz="quarter" idx="12"/>
          </p:nvPr>
        </p:nvSpPr>
        <p:spPr/>
        <p:txBody>
          <a:bodyPr/>
          <a:lstStyle/>
          <a:p>
            <a:fld id="{1E79AC49-16EF-4FE2-AFCD-22497A2D05A4}" type="slidenum">
              <a:rPr lang="en-US" smtClean="0"/>
              <a:pPr/>
              <a:t>4</a:t>
            </a:fld>
            <a:endParaRPr lang="en-US"/>
          </a:p>
        </p:txBody>
      </p:sp>
      <p:pic>
        <p:nvPicPr>
          <p:cNvPr id="1026" name="Picture 2" descr="https://1.bp.blogspot.com/-vrL1xMRXZNg/VmKwCWB3jEI/AAAAAAAAAwI/Fva6lmR9iEo/s640/image3.png"/>
          <p:cNvPicPr>
            <a:picLocks noGrp="1" noChangeAspect="1" noChangeArrowheads="1"/>
          </p:cNvPicPr>
          <p:nvPr>
            <p:ph idx="1"/>
          </p:nvPr>
        </p:nvPicPr>
        <p:blipFill>
          <a:blip r:embed="rId2"/>
          <a:srcRect/>
          <a:stretch>
            <a:fillRect/>
          </a:stretch>
        </p:blipFill>
        <p:spPr bwMode="auto">
          <a:xfrm>
            <a:off x="1214414" y="1357298"/>
            <a:ext cx="7643866" cy="5214974"/>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1538" y="142852"/>
            <a:ext cx="7929618" cy="6715172"/>
          </a:xfrm>
        </p:spPr>
        <p:txBody>
          <a:bodyPr>
            <a:normAutofit fontScale="92500" lnSpcReduction="10000"/>
          </a:bodyPr>
          <a:lstStyle/>
          <a:p>
            <a:pPr marL="539496" indent="-457200">
              <a:buFont typeface="Wingdings" pitchFamily="2" charset="2"/>
              <a:buChar char="Ø"/>
            </a:pPr>
            <a:r>
              <a:rPr lang="en-US" sz="2000" dirty="0" smtClean="0">
                <a:latin typeface="Times New Roman" pitchFamily="18" charset="0"/>
                <a:cs typeface="Times New Roman" pitchFamily="18" charset="0"/>
              </a:rPr>
              <a:t>8086 has two major functional unit:</a:t>
            </a:r>
          </a:p>
          <a:p>
            <a:pPr marL="539496" indent="-457200">
              <a:buFont typeface="Wingdings" pitchFamily="2" charset="2"/>
              <a:buChar char="Ø"/>
            </a:pPr>
            <a:endParaRPr lang="en-US" sz="2000" dirty="0" smtClean="0">
              <a:latin typeface="Times New Roman" pitchFamily="18" charset="0"/>
              <a:cs typeface="Times New Roman" pitchFamily="18" charset="0"/>
            </a:endParaRPr>
          </a:p>
          <a:p>
            <a:pPr marL="539496" indent="-457200">
              <a:buFont typeface="Wingdings" pitchFamily="2" charset="2"/>
              <a:buChar char="q"/>
            </a:pPr>
            <a:r>
              <a:rPr lang="en-US" sz="2000" b="1" dirty="0" smtClean="0">
                <a:latin typeface="Times New Roman" pitchFamily="18" charset="0"/>
                <a:cs typeface="Times New Roman" pitchFamily="18" charset="0"/>
              </a:rPr>
              <a:t>Bus Interface Unit(BIU)</a:t>
            </a:r>
          </a:p>
          <a:p>
            <a:pPr marL="539496" indent="-457200">
              <a:buFont typeface="Wingdings" pitchFamily="2" charset="2"/>
              <a:buChar char="q"/>
            </a:pPr>
            <a:r>
              <a:rPr lang="en-US" sz="2000" b="1" dirty="0" smtClean="0">
                <a:latin typeface="Times New Roman" pitchFamily="18" charset="0"/>
                <a:cs typeface="Times New Roman" pitchFamily="18" charset="0"/>
              </a:rPr>
              <a:t>Execution Unit(EU)</a:t>
            </a:r>
          </a:p>
          <a:p>
            <a:pPr marL="539496" indent="-457200">
              <a:buFont typeface="Wingdings" pitchFamily="2" charset="2"/>
              <a:buChar char="Ø"/>
            </a:pPr>
            <a:r>
              <a:rPr lang="en-US" sz="2000" dirty="0" smtClean="0">
                <a:latin typeface="Times New Roman" pitchFamily="18" charset="0"/>
                <a:cs typeface="Times New Roman" pitchFamily="18" charset="0"/>
              </a:rPr>
              <a:t>BIU and EU   are connected with the Internal Bus.</a:t>
            </a:r>
          </a:p>
          <a:p>
            <a:pPr marL="539496" indent="-457200">
              <a:buFont typeface="Wingdings" pitchFamily="2" charset="2"/>
              <a:buChar char="q"/>
            </a:pPr>
            <a:endParaRPr lang="en-US" sz="1200" b="1" dirty="0" smtClean="0">
              <a:latin typeface="Times New Roman" pitchFamily="18" charset="0"/>
              <a:cs typeface="Times New Roman" pitchFamily="18" charset="0"/>
            </a:endParaRPr>
          </a:p>
          <a:p>
            <a:pPr>
              <a:buNone/>
            </a:pPr>
            <a:r>
              <a:rPr lang="en-US" sz="2000" b="1" u="sng" dirty="0" smtClean="0"/>
              <a:t>Bus Interface Unit (BIU):</a:t>
            </a:r>
          </a:p>
          <a:p>
            <a:pPr marL="539496" indent="-457200">
              <a:buFont typeface="Wingdings" pitchFamily="2" charset="2"/>
              <a:buChar char="Ø"/>
            </a:pPr>
            <a:r>
              <a:rPr lang="en-US" sz="2000" dirty="0" smtClean="0">
                <a:latin typeface="Times New Roman" pitchFamily="18" charset="0"/>
                <a:cs typeface="Times New Roman" pitchFamily="18" charset="0"/>
              </a:rPr>
              <a:t>handles all transfers of data and addresses on the buses for the execution unit.</a:t>
            </a:r>
          </a:p>
          <a:p>
            <a:pPr marL="539496" indent="-457200">
              <a:buFont typeface="Wingdings" pitchFamily="2" charset="2"/>
              <a:buChar char="Ø"/>
            </a:pPr>
            <a:r>
              <a:rPr lang="en-US" sz="2000" dirty="0" smtClean="0">
                <a:latin typeface="Times New Roman" pitchFamily="18" charset="0"/>
                <a:cs typeface="Times New Roman" pitchFamily="18" charset="0"/>
              </a:rPr>
              <a:t>The BIU sends out addresses, fetches instructions from memory, reads data from ports and memory, and writes data to ports and memory.</a:t>
            </a:r>
          </a:p>
          <a:p>
            <a:pPr marL="539496" indent="-457200">
              <a:buFont typeface="Wingdings" pitchFamily="2" charset="2"/>
              <a:buChar char="Ø"/>
            </a:pPr>
            <a:r>
              <a:rPr lang="en-US" sz="2000" dirty="0" smtClean="0"/>
              <a:t>It has the following functional parts:</a:t>
            </a:r>
          </a:p>
          <a:p>
            <a:pPr marL="539496" indent="-457200">
              <a:buFont typeface="Wingdings" pitchFamily="2" charset="2"/>
              <a:buChar char="v"/>
            </a:pPr>
            <a:r>
              <a:rPr lang="en-US" sz="2000" b="1" u="sng" dirty="0" smtClean="0">
                <a:solidFill>
                  <a:srgbClr val="FF0000"/>
                </a:solidFill>
                <a:latin typeface="Times New Roman" pitchFamily="18" charset="0"/>
                <a:cs typeface="Times New Roman" pitchFamily="18" charset="0"/>
              </a:rPr>
              <a:t>Instruction queue</a:t>
            </a:r>
          </a:p>
          <a:p>
            <a:r>
              <a:rPr lang="en-US" sz="2100" dirty="0" smtClean="0">
                <a:latin typeface="Times New Roman" pitchFamily="18" charset="0"/>
                <a:cs typeface="Times New Roman" pitchFamily="18" charset="0"/>
              </a:rPr>
              <a:t>To increase the execution speed, BIU fetches as many as six instruction bytes ahead to time from memory.</a:t>
            </a:r>
          </a:p>
          <a:p>
            <a:r>
              <a:rPr lang="en-US" sz="2100" dirty="0" smtClean="0">
                <a:latin typeface="Times New Roman" pitchFamily="18" charset="0"/>
                <a:cs typeface="Times New Roman" pitchFamily="18" charset="0"/>
              </a:rPr>
              <a:t>All six bytes are then held in first in first out 6 byte register called instruction queue.</a:t>
            </a:r>
          </a:p>
          <a:p>
            <a:r>
              <a:rPr lang="en-US" sz="2100" dirty="0" smtClean="0">
                <a:latin typeface="Times New Roman" pitchFamily="18" charset="0"/>
                <a:cs typeface="Times New Roman" pitchFamily="18" charset="0"/>
              </a:rPr>
              <a:t>Then all bytes have to be given to EU one by one.</a:t>
            </a:r>
          </a:p>
          <a:p>
            <a:r>
              <a:rPr lang="en-US" sz="2100" dirty="0" smtClean="0">
                <a:latin typeface="Times New Roman" pitchFamily="18" charset="0"/>
                <a:cs typeface="Times New Roman" pitchFamily="18" charset="0"/>
              </a:rPr>
              <a:t>This pre fetching operation of BIU may be in parallel with execution operation of EU, which </a:t>
            </a:r>
            <a:r>
              <a:rPr lang="en-US" sz="2000" dirty="0" smtClean="0"/>
              <a:t>is called </a:t>
            </a:r>
            <a:r>
              <a:rPr lang="en-US" sz="2000" b="1" dirty="0" smtClean="0"/>
              <a:t>pipelining.</a:t>
            </a:r>
          </a:p>
          <a:p>
            <a:r>
              <a:rPr lang="en-US" sz="2000" b="1" dirty="0" smtClean="0">
                <a:latin typeface="Times New Roman" pitchFamily="18" charset="0"/>
                <a:cs typeface="Times New Roman" pitchFamily="18" charset="0"/>
              </a:rPr>
              <a:t>Pipelining</a:t>
            </a:r>
            <a:r>
              <a:rPr lang="en-US" sz="2100" dirty="0" smtClean="0">
                <a:latin typeface="Times New Roman" pitchFamily="18" charset="0"/>
                <a:cs typeface="Times New Roman" pitchFamily="18" charset="0"/>
              </a:rPr>
              <a:t> improves the execution speed of the instruction.</a:t>
            </a:r>
          </a:p>
          <a:p>
            <a:pPr marL="539496" indent="-457200">
              <a:buFont typeface="Wingdings" pitchFamily="2" charset="2"/>
              <a:buChar char="Ø"/>
            </a:pPr>
            <a:endParaRPr lang="en-US" sz="2000" dirty="0" smtClean="0">
              <a:solidFill>
                <a:srgbClr val="FF0000"/>
              </a:solidFill>
              <a:latin typeface="Times New Roman" pitchFamily="18" charset="0"/>
              <a:cs typeface="Times New Roman" pitchFamily="18" charset="0"/>
            </a:endParaRPr>
          </a:p>
          <a:p>
            <a:pPr marL="539496" indent="-457200">
              <a:buFont typeface="Wingdings" pitchFamily="2" charset="2"/>
              <a:buChar char="Ø"/>
            </a:pPr>
            <a:endParaRPr lang="en-US" sz="2000" dirty="0" smtClean="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E79AC49-16EF-4FE2-AFCD-22497A2D05A4}"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dirty="0" smtClean="0"/>
              <a:t>pipelining</a:t>
            </a:r>
            <a:endParaRPr lang="en-US" dirty="0"/>
          </a:p>
        </p:txBody>
      </p:sp>
      <p:sp>
        <p:nvSpPr>
          <p:cNvPr id="4" name="Slide Number Placeholder 3"/>
          <p:cNvSpPr>
            <a:spLocks noGrp="1"/>
          </p:cNvSpPr>
          <p:nvPr>
            <p:ph type="sldNum" sz="quarter" idx="12"/>
          </p:nvPr>
        </p:nvSpPr>
        <p:spPr/>
        <p:txBody>
          <a:bodyPr/>
          <a:lstStyle/>
          <a:p>
            <a:fld id="{1E79AC49-16EF-4FE2-AFCD-22497A2D05A4}" type="slidenum">
              <a:rPr lang="en-US" smtClean="0"/>
              <a:pPr/>
              <a:t>6</a:t>
            </a:fld>
            <a:endParaRPr lang="en-US"/>
          </a:p>
        </p:txBody>
      </p:sp>
      <p:pic>
        <p:nvPicPr>
          <p:cNvPr id="1026" name="Picture 2"/>
          <p:cNvPicPr>
            <a:picLocks noGrp="1" noChangeAspect="1" noChangeArrowheads="1"/>
          </p:cNvPicPr>
          <p:nvPr>
            <p:ph idx="1"/>
          </p:nvPr>
        </p:nvPicPr>
        <p:blipFill>
          <a:blip r:embed="rId2" cstate="print"/>
          <a:srcRect/>
          <a:stretch>
            <a:fillRect/>
          </a:stretch>
        </p:blipFill>
        <p:spPr bwMode="auto">
          <a:xfrm>
            <a:off x="4572000" y="1000108"/>
            <a:ext cx="3583537" cy="2000264"/>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cstate="print"/>
          <a:srcRect/>
          <a:stretch>
            <a:fillRect/>
          </a:stretch>
        </p:blipFill>
        <p:spPr bwMode="auto">
          <a:xfrm>
            <a:off x="1428728" y="1428736"/>
            <a:ext cx="2928958" cy="1076728"/>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a:srcRect/>
          <a:stretch>
            <a:fillRect/>
          </a:stretch>
        </p:blipFill>
        <p:spPr bwMode="auto">
          <a:xfrm>
            <a:off x="1571604" y="3429000"/>
            <a:ext cx="5072098" cy="1878555"/>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71538" y="214290"/>
            <a:ext cx="3929090" cy="6357982"/>
          </a:xfrm>
        </p:spPr>
        <p:txBody>
          <a:bodyPr>
            <a:normAutofit lnSpcReduction="10000"/>
          </a:bodyPr>
          <a:lstStyle/>
          <a:p>
            <a:pPr>
              <a:buFont typeface="Wingdings" pitchFamily="2" charset="2"/>
              <a:buChar char="v"/>
            </a:pPr>
            <a:r>
              <a:rPr lang="en-US" sz="2000" b="1" u="sng" dirty="0" smtClean="0">
                <a:solidFill>
                  <a:srgbClr val="FF0000"/>
                </a:solidFill>
                <a:latin typeface="Times New Roman" pitchFamily="18" charset="0"/>
                <a:cs typeface="Times New Roman" pitchFamily="18" charset="0"/>
              </a:rPr>
              <a:t>Segment register</a:t>
            </a:r>
          </a:p>
          <a:p>
            <a:pPr>
              <a:buFont typeface="Wingdings" pitchFamily="2" charset="2"/>
              <a:buChar char="Ø"/>
            </a:pPr>
            <a:r>
              <a:rPr lang="en-US" sz="1800" dirty="0" smtClean="0">
                <a:latin typeface="Times New Roman" pitchFamily="18" charset="0"/>
                <a:cs typeface="Times New Roman" pitchFamily="18" charset="0"/>
              </a:rPr>
              <a:t>8086 has a concept of Memory Segmentation, a method where the whole memory is segmented (divided) into smaller parts called </a:t>
            </a:r>
            <a:r>
              <a:rPr lang="en-US" sz="1800" b="1" dirty="0" smtClean="0">
                <a:latin typeface="Times New Roman" pitchFamily="18" charset="0"/>
                <a:cs typeface="Times New Roman" pitchFamily="18" charset="0"/>
              </a:rPr>
              <a:t>segments</a:t>
            </a:r>
            <a:r>
              <a:rPr lang="en-US" sz="1800" dirty="0" smtClean="0">
                <a:latin typeface="Times New Roman" pitchFamily="18" charset="0"/>
                <a:cs typeface="Times New Roman" pitchFamily="18" charset="0"/>
              </a:rPr>
              <a:t>.</a:t>
            </a:r>
          </a:p>
          <a:p>
            <a:pPr>
              <a:buFont typeface="Wingdings" pitchFamily="2" charset="2"/>
              <a:buChar char="Ø"/>
            </a:pPr>
            <a:r>
              <a:rPr lang="en-US" sz="1800" dirty="0" smtClean="0">
                <a:latin typeface="Times New Roman" pitchFamily="18" charset="0"/>
                <a:cs typeface="Times New Roman" pitchFamily="18" charset="0"/>
              </a:rPr>
              <a:t>It is basically used to enhance the speed of execution of the computer system, so that the processor is able to fetch and execute the data from the memory easily and fast.</a:t>
            </a:r>
          </a:p>
          <a:p>
            <a:pPr>
              <a:buFont typeface="Wingdings" pitchFamily="2" charset="2"/>
              <a:buChar char="Ø"/>
            </a:pPr>
            <a:endParaRPr lang="en-US" sz="1800" dirty="0" smtClean="0">
              <a:latin typeface="Times New Roman" pitchFamily="18" charset="0"/>
              <a:cs typeface="Times New Roman" pitchFamily="18" charset="0"/>
            </a:endParaRPr>
          </a:p>
          <a:p>
            <a:pPr>
              <a:buFont typeface="Wingdings" pitchFamily="2" charset="2"/>
              <a:buChar char="Ø"/>
            </a:pPr>
            <a:r>
              <a:rPr lang="en-US" sz="1800" dirty="0" smtClean="0">
                <a:latin typeface="Times New Roman" pitchFamily="18" charset="0"/>
                <a:cs typeface="Times New Roman" pitchFamily="18" charset="0"/>
              </a:rPr>
              <a:t>The 1 MB(2</a:t>
            </a:r>
            <a:r>
              <a:rPr lang="en-US" sz="1800" baseline="30000" dirty="0" smtClean="0">
                <a:latin typeface="Times New Roman" pitchFamily="18" charset="0"/>
                <a:cs typeface="Times New Roman" pitchFamily="18" charset="0"/>
              </a:rPr>
              <a:t>20</a:t>
            </a:r>
            <a:r>
              <a:rPr lang="en-US" sz="1800" dirty="0" smtClean="0">
                <a:latin typeface="Times New Roman" pitchFamily="18" charset="0"/>
                <a:cs typeface="Times New Roman" pitchFamily="18" charset="0"/>
              </a:rPr>
              <a:t>)</a:t>
            </a:r>
            <a:r>
              <a:rPr lang="en-US" sz="1800" baseline="30000" dirty="0" smtClean="0">
                <a:latin typeface="Times New Roman" pitchFamily="18" charset="0"/>
                <a:cs typeface="Times New Roman" pitchFamily="18" charset="0"/>
              </a:rPr>
              <a:t>  </a:t>
            </a:r>
            <a:r>
              <a:rPr lang="en-US" sz="1800" dirty="0" smtClean="0">
                <a:latin typeface="Times New Roman" pitchFamily="18" charset="0"/>
                <a:cs typeface="Times New Roman" pitchFamily="18" charset="0"/>
              </a:rPr>
              <a:t> memory is divided into 16 sections each containing 64 KB memory locations.</a:t>
            </a:r>
          </a:p>
          <a:p>
            <a:pPr>
              <a:buFont typeface="Wingdings" pitchFamily="2" charset="2"/>
              <a:buChar char="Ø"/>
            </a:pPr>
            <a:endParaRPr lang="en-US" sz="1800" baseline="30000" dirty="0" smtClean="0">
              <a:latin typeface="Times New Roman" pitchFamily="18" charset="0"/>
              <a:cs typeface="Times New Roman" pitchFamily="18" charset="0"/>
            </a:endParaRPr>
          </a:p>
          <a:p>
            <a:pPr>
              <a:buFont typeface="Wingdings" pitchFamily="2" charset="2"/>
              <a:buChar char="Ø"/>
            </a:pPr>
            <a:r>
              <a:rPr lang="en-US" sz="1800" baseline="30000" dirty="0" smtClean="0">
                <a:latin typeface="Times New Roman" pitchFamily="18" charset="0"/>
                <a:cs typeface="Times New Roman" pitchFamily="18" charset="0"/>
              </a:rPr>
              <a:t> </a:t>
            </a:r>
            <a:r>
              <a:rPr lang="en-US" sz="1800" dirty="0" smtClean="0">
                <a:latin typeface="Times New Roman" pitchFamily="18" charset="0"/>
                <a:cs typeface="Times New Roman" pitchFamily="18" charset="0"/>
              </a:rPr>
              <a:t> At one time we can work with 4 sections or segments.</a:t>
            </a:r>
            <a:r>
              <a:rPr lang="en-US" sz="1800" baseline="30000" dirty="0" smtClean="0">
                <a:latin typeface="Times New Roman" pitchFamily="18" charset="0"/>
                <a:cs typeface="Times New Roman" pitchFamily="18" charset="0"/>
              </a:rPr>
              <a:t> </a:t>
            </a:r>
            <a:endParaRPr lang="en-US" sz="1800" baseline="30000" dirty="0" smtClean="0">
              <a:latin typeface="Times New Roman" pitchFamily="18" charset="0"/>
              <a:cs typeface="Times New Roman" pitchFamily="18" charset="0"/>
            </a:endParaRPr>
          </a:p>
          <a:p>
            <a:pPr>
              <a:buFont typeface="Wingdings" pitchFamily="2" charset="2"/>
              <a:buChar char="Ø"/>
            </a:pPr>
            <a:r>
              <a:rPr lang="en-US" sz="1800" dirty="0" smtClean="0">
                <a:latin typeface="Times New Roman" pitchFamily="18" charset="0"/>
                <a:cs typeface="Times New Roman" pitchFamily="18" charset="0"/>
              </a:rPr>
              <a:t>The </a:t>
            </a:r>
            <a:r>
              <a:rPr lang="en-US" sz="1800" dirty="0" smtClean="0">
                <a:latin typeface="Times New Roman" pitchFamily="18" charset="0"/>
                <a:cs typeface="Times New Roman" pitchFamily="18" charset="0"/>
              </a:rPr>
              <a:t>segments are</a:t>
            </a:r>
            <a:br>
              <a:rPr lang="en-US" sz="1800" dirty="0" smtClean="0">
                <a:latin typeface="Times New Roman" pitchFamily="18" charset="0"/>
                <a:cs typeface="Times New Roman" pitchFamily="18" charset="0"/>
              </a:rPr>
            </a:br>
            <a:r>
              <a:rPr lang="en-US" sz="1800" dirty="0" smtClean="0">
                <a:latin typeface="Times New Roman" pitchFamily="18" charset="0"/>
                <a:cs typeface="Times New Roman" pitchFamily="18" charset="0"/>
              </a:rPr>
              <a:t>• </a:t>
            </a:r>
            <a:r>
              <a:rPr lang="en-US" sz="1800" b="1" i="1" dirty="0" smtClean="0">
                <a:latin typeface="Times New Roman" pitchFamily="18" charset="0"/>
                <a:cs typeface="Times New Roman" pitchFamily="18" charset="0"/>
              </a:rPr>
              <a:t>Code Segment </a:t>
            </a:r>
            <a:br>
              <a:rPr lang="en-US" sz="1800" b="1" i="1" dirty="0" smtClean="0">
                <a:latin typeface="Times New Roman" pitchFamily="18" charset="0"/>
                <a:cs typeface="Times New Roman" pitchFamily="18" charset="0"/>
              </a:rPr>
            </a:br>
            <a:r>
              <a:rPr lang="en-US" sz="1800" b="1" i="1" dirty="0" smtClean="0">
                <a:latin typeface="Times New Roman" pitchFamily="18" charset="0"/>
                <a:cs typeface="Times New Roman" pitchFamily="18" charset="0"/>
              </a:rPr>
              <a:t>• Stack Segment </a:t>
            </a:r>
            <a:br>
              <a:rPr lang="en-US" sz="1800" b="1" i="1" dirty="0" smtClean="0">
                <a:latin typeface="Times New Roman" pitchFamily="18" charset="0"/>
                <a:cs typeface="Times New Roman" pitchFamily="18" charset="0"/>
              </a:rPr>
            </a:br>
            <a:r>
              <a:rPr lang="en-US" sz="1800" b="1" i="1" dirty="0" smtClean="0">
                <a:latin typeface="Times New Roman" pitchFamily="18" charset="0"/>
                <a:cs typeface="Times New Roman" pitchFamily="18" charset="0"/>
              </a:rPr>
              <a:t>• Data Segment </a:t>
            </a:r>
            <a:br>
              <a:rPr lang="en-US" sz="1800" b="1" i="1" dirty="0" smtClean="0">
                <a:latin typeface="Times New Roman" pitchFamily="18" charset="0"/>
                <a:cs typeface="Times New Roman" pitchFamily="18" charset="0"/>
              </a:rPr>
            </a:br>
            <a:r>
              <a:rPr lang="en-US" sz="1800" b="1" i="1" dirty="0" smtClean="0">
                <a:latin typeface="Times New Roman" pitchFamily="18" charset="0"/>
                <a:cs typeface="Times New Roman" pitchFamily="18" charset="0"/>
              </a:rPr>
              <a:t>• Extra Segment </a:t>
            </a:r>
          </a:p>
        </p:txBody>
      </p:sp>
      <p:sp>
        <p:nvSpPr>
          <p:cNvPr id="6" name="Content Placeholder 5"/>
          <p:cNvSpPr>
            <a:spLocks noGrp="1"/>
          </p:cNvSpPr>
          <p:nvPr>
            <p:ph sz="half" idx="2"/>
          </p:nvPr>
        </p:nvSpPr>
        <p:spPr>
          <a:xfrm>
            <a:off x="5214942" y="285728"/>
            <a:ext cx="3718746" cy="6215106"/>
          </a:xfrm>
        </p:spPr>
        <p:txBody>
          <a:bodyPr>
            <a:normAutofit lnSpcReduction="10000"/>
          </a:bodyPr>
          <a:lstStyle/>
          <a:p>
            <a:endParaRPr lang="en-US" dirty="0"/>
          </a:p>
        </p:txBody>
      </p:sp>
      <p:sp>
        <p:nvSpPr>
          <p:cNvPr id="4" name="Slide Number Placeholder 3"/>
          <p:cNvSpPr>
            <a:spLocks noGrp="1"/>
          </p:cNvSpPr>
          <p:nvPr>
            <p:ph type="sldNum" sz="quarter" idx="12"/>
          </p:nvPr>
        </p:nvSpPr>
        <p:spPr/>
        <p:txBody>
          <a:bodyPr/>
          <a:lstStyle/>
          <a:p>
            <a:fld id="{1E79AC49-16EF-4FE2-AFCD-22497A2D05A4}"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1071538" y="0"/>
            <a:ext cx="7858180" cy="6715148"/>
          </a:xfrm>
        </p:spPr>
        <p:txBody>
          <a:bodyPr>
            <a:normAutofit/>
          </a:bodyPr>
          <a:lstStyle/>
          <a:p>
            <a:r>
              <a:rPr lang="en-US" sz="2000" u="sng" dirty="0" smtClean="0">
                <a:latin typeface="Times New Roman" pitchFamily="18" charset="0"/>
                <a:cs typeface="Times New Roman" pitchFamily="18" charset="0"/>
              </a:rPr>
              <a:t>Code Segment: </a:t>
            </a:r>
          </a:p>
          <a:p>
            <a:pPr>
              <a:buFont typeface="Wingdings" pitchFamily="2" charset="2"/>
              <a:buChar char="ü"/>
            </a:pPr>
            <a:r>
              <a:rPr lang="en-US" sz="2000" dirty="0" smtClean="0">
                <a:latin typeface="Times New Roman" pitchFamily="18" charset="0"/>
                <a:cs typeface="Times New Roman" pitchFamily="18" charset="0"/>
              </a:rPr>
              <a:t>It </a:t>
            </a:r>
            <a:r>
              <a:rPr lang="en-US" sz="2000" dirty="0" smtClean="0">
                <a:latin typeface="Times New Roman" pitchFamily="18" charset="0"/>
                <a:cs typeface="Times New Roman" pitchFamily="18" charset="0"/>
              </a:rPr>
              <a:t>is used </a:t>
            </a:r>
            <a:r>
              <a:rPr lang="en-US" sz="2000" dirty="0" smtClean="0">
                <a:latin typeface="Times New Roman" pitchFamily="18" charset="0"/>
                <a:cs typeface="Times New Roman" pitchFamily="18" charset="0"/>
              </a:rPr>
              <a:t>to store instruction code of a program.</a:t>
            </a:r>
          </a:p>
          <a:p>
            <a:r>
              <a:rPr lang="en-US" sz="2000" u="sng" dirty="0" smtClean="0">
                <a:latin typeface="Times New Roman" pitchFamily="18" charset="0"/>
                <a:cs typeface="Times New Roman" pitchFamily="18" charset="0"/>
              </a:rPr>
              <a:t>Data Segment</a:t>
            </a:r>
            <a:r>
              <a:rPr lang="en-US" sz="2000" u="sng" dirty="0" smtClean="0">
                <a:latin typeface="Times New Roman" pitchFamily="18" charset="0"/>
                <a:cs typeface="Times New Roman" pitchFamily="18" charset="0"/>
              </a:rPr>
              <a:t>:</a:t>
            </a:r>
            <a:endParaRPr lang="en-US" sz="2000" u="sng" dirty="0" smtClean="0">
              <a:latin typeface="Times New Roman" pitchFamily="18" charset="0"/>
              <a:cs typeface="Times New Roman" pitchFamily="18" charset="0"/>
            </a:endParaRPr>
          </a:p>
          <a:p>
            <a:pPr>
              <a:buFont typeface="Wingdings" pitchFamily="2" charset="2"/>
              <a:buChar char="ü"/>
            </a:pPr>
            <a:r>
              <a:rPr lang="en-US" sz="2000" dirty="0" smtClean="0">
                <a:latin typeface="Times New Roman" pitchFamily="18" charset="0"/>
                <a:cs typeface="Times New Roman" pitchFamily="18" charset="0"/>
              </a:rPr>
              <a:t> It stores data bytes or words.</a:t>
            </a:r>
            <a:endParaRPr lang="en-US" sz="2000" dirty="0" smtClean="0">
              <a:latin typeface="Times New Roman" pitchFamily="18" charset="0"/>
              <a:cs typeface="Times New Roman" pitchFamily="18" charset="0"/>
            </a:endParaRPr>
          </a:p>
          <a:p>
            <a:r>
              <a:rPr lang="en-US" sz="2000" u="sng" dirty="0" smtClean="0">
                <a:latin typeface="Times New Roman" pitchFamily="18" charset="0"/>
                <a:cs typeface="Times New Roman" pitchFamily="18" charset="0"/>
              </a:rPr>
              <a:t>Stack Segment:</a:t>
            </a:r>
          </a:p>
          <a:p>
            <a:pPr>
              <a:buFont typeface="Wingdings" pitchFamily="2" charset="2"/>
              <a:buChar char="ü"/>
            </a:pPr>
            <a:r>
              <a:rPr lang="en-US" sz="2000" dirty="0" smtClean="0">
                <a:latin typeface="Times New Roman" pitchFamily="18" charset="0"/>
                <a:cs typeface="Times New Roman" pitchFamily="18" charset="0"/>
              </a:rPr>
              <a:t>It is used to store stack of data used in PUSH/POP operation.</a:t>
            </a:r>
            <a:endParaRPr lang="en-US" sz="2000" dirty="0" smtClean="0">
              <a:latin typeface="Times New Roman" pitchFamily="18" charset="0"/>
              <a:cs typeface="Times New Roman" pitchFamily="18" charset="0"/>
            </a:endParaRPr>
          </a:p>
          <a:p>
            <a:r>
              <a:rPr lang="en-US" sz="2000" u="sng" dirty="0" smtClean="0">
                <a:latin typeface="Times New Roman" pitchFamily="18" charset="0"/>
                <a:cs typeface="Times New Roman" pitchFamily="18" charset="0"/>
              </a:rPr>
              <a:t>Extra Segment</a:t>
            </a:r>
            <a:r>
              <a:rPr lang="en-US" sz="2000" u="sng" dirty="0" smtClean="0">
                <a:latin typeface="Times New Roman" pitchFamily="18" charset="0"/>
                <a:cs typeface="Times New Roman" pitchFamily="18" charset="0"/>
              </a:rPr>
              <a:t>:</a:t>
            </a:r>
            <a:endParaRPr lang="en-US" sz="2000" u="sng" dirty="0" smtClean="0">
              <a:latin typeface="Times New Roman" pitchFamily="18" charset="0"/>
              <a:cs typeface="Times New Roman" pitchFamily="18" charset="0"/>
            </a:endParaRPr>
          </a:p>
          <a:p>
            <a:pPr>
              <a:buFont typeface="Wingdings" pitchFamily="2" charset="2"/>
              <a:buChar char="ü"/>
            </a:pPr>
            <a:r>
              <a:rPr lang="en-US" sz="2000" dirty="0" smtClean="0">
                <a:latin typeface="Times New Roman" pitchFamily="18" charset="0"/>
                <a:cs typeface="Times New Roman" pitchFamily="18" charset="0"/>
              </a:rPr>
              <a:t>ES </a:t>
            </a:r>
            <a:r>
              <a:rPr lang="en-US" sz="2000" dirty="0" smtClean="0">
                <a:latin typeface="Times New Roman" pitchFamily="18" charset="0"/>
                <a:cs typeface="Times New Roman" pitchFamily="18" charset="0"/>
              </a:rPr>
              <a:t>is </a:t>
            </a:r>
            <a:r>
              <a:rPr lang="en-US" sz="2000" dirty="0" smtClean="0">
                <a:latin typeface="Times New Roman" pitchFamily="18" charset="0"/>
                <a:cs typeface="Times New Roman" pitchFamily="18" charset="0"/>
              </a:rPr>
              <a:t>an additional </a:t>
            </a:r>
            <a:r>
              <a:rPr lang="en-US" sz="2000" dirty="0" smtClean="0">
                <a:latin typeface="Times New Roman" pitchFamily="18" charset="0"/>
                <a:cs typeface="Times New Roman" pitchFamily="18" charset="0"/>
              </a:rPr>
              <a:t>data segment, which is used by the string to hold the extra destination data.</a:t>
            </a:r>
          </a:p>
          <a:p>
            <a:endParaRPr lang="en-US" sz="2000" dirty="0"/>
          </a:p>
        </p:txBody>
      </p:sp>
      <p:sp>
        <p:nvSpPr>
          <p:cNvPr id="5" name="Slide Number Placeholder 4"/>
          <p:cNvSpPr>
            <a:spLocks noGrp="1"/>
          </p:cNvSpPr>
          <p:nvPr>
            <p:ph type="sldNum" sz="quarter" idx="12"/>
          </p:nvPr>
        </p:nvSpPr>
        <p:spPr/>
        <p:txBody>
          <a:bodyPr/>
          <a:lstStyle/>
          <a:p>
            <a:fld id="{1E79AC49-16EF-4FE2-AFCD-22497A2D05A4}" type="slidenum">
              <a:rPr lang="en-US" smtClean="0"/>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71538" y="0"/>
            <a:ext cx="4021670" cy="6429396"/>
          </a:xfrm>
        </p:spPr>
        <p:txBody>
          <a:bodyPr>
            <a:normAutofit/>
          </a:bodyPr>
          <a:lstStyle/>
          <a:p>
            <a:pPr algn="just">
              <a:buFont typeface="Wingdings" pitchFamily="2" charset="2"/>
              <a:buChar char="Ø"/>
            </a:pPr>
            <a:r>
              <a:rPr lang="en-US" sz="1500" dirty="0" smtClean="0">
                <a:latin typeface="Times New Roman" pitchFamily="18" charset="0"/>
                <a:cs typeface="Times New Roman" pitchFamily="18" charset="0"/>
              </a:rPr>
              <a:t> BIU has 4 segment registers </a:t>
            </a:r>
            <a:r>
              <a:rPr lang="es-ES" sz="1500" dirty="0" err="1" smtClean="0">
                <a:latin typeface="Times New Roman" pitchFamily="18" charset="0"/>
                <a:cs typeface="Times New Roman" pitchFamily="18" charset="0"/>
              </a:rPr>
              <a:t>i.e.</a:t>
            </a:r>
            <a:r>
              <a:rPr lang="es-ES" sz="1500" dirty="0" smtClean="0">
                <a:latin typeface="Times New Roman" pitchFamily="18" charset="0"/>
                <a:cs typeface="Times New Roman" pitchFamily="18" charset="0"/>
              </a:rPr>
              <a:t> </a:t>
            </a:r>
            <a:r>
              <a:rPr lang="es-ES" sz="1500" b="1" dirty="0" smtClean="0">
                <a:latin typeface="Times New Roman" pitchFamily="18" charset="0"/>
                <a:cs typeface="Times New Roman" pitchFamily="18" charset="0"/>
              </a:rPr>
              <a:t>CS, DS, SS&amp; </a:t>
            </a:r>
            <a:r>
              <a:rPr lang="es-ES" sz="1500" b="1" dirty="0" smtClean="0">
                <a:latin typeface="Times New Roman" pitchFamily="18" charset="0"/>
                <a:cs typeface="Times New Roman" pitchFamily="18" charset="0"/>
              </a:rPr>
              <a:t>ES</a:t>
            </a:r>
            <a:r>
              <a:rPr lang="es-ES" sz="1500" dirty="0" smtClean="0">
                <a:latin typeface="Times New Roman" pitchFamily="18" charset="0"/>
                <a:cs typeface="Times New Roman" pitchFamily="18" charset="0"/>
              </a:rPr>
              <a:t>, </a:t>
            </a:r>
            <a:r>
              <a:rPr lang="es-ES" sz="1500" dirty="0" err="1" smtClean="0">
                <a:latin typeface="Times New Roman" pitchFamily="18" charset="0"/>
                <a:cs typeface="Times New Roman" pitchFamily="18" charset="0"/>
              </a:rPr>
              <a:t>corresponds</a:t>
            </a:r>
            <a:r>
              <a:rPr lang="es-ES" sz="1500" dirty="0" smtClean="0">
                <a:latin typeface="Times New Roman" pitchFamily="18" charset="0"/>
                <a:cs typeface="Times New Roman" pitchFamily="18" charset="0"/>
              </a:rPr>
              <a:t> </a:t>
            </a:r>
            <a:r>
              <a:rPr lang="es-ES" sz="1500" dirty="0" err="1" smtClean="0">
                <a:latin typeface="Times New Roman" pitchFamily="18" charset="0"/>
                <a:cs typeface="Times New Roman" pitchFamily="18" charset="0"/>
              </a:rPr>
              <a:t>to</a:t>
            </a:r>
            <a:r>
              <a:rPr lang="es-ES" sz="1500" dirty="0" smtClean="0">
                <a:latin typeface="Times New Roman" pitchFamily="18" charset="0"/>
                <a:cs typeface="Times New Roman" pitchFamily="18" charset="0"/>
              </a:rPr>
              <a:t> </a:t>
            </a:r>
            <a:r>
              <a:rPr lang="es-ES" sz="1500" b="1" dirty="0" err="1" smtClean="0">
                <a:latin typeface="Times New Roman" pitchFamily="18" charset="0"/>
                <a:cs typeface="Times New Roman" pitchFamily="18" charset="0"/>
              </a:rPr>
              <a:t>Code</a:t>
            </a:r>
            <a:r>
              <a:rPr lang="es-ES" sz="1500" b="1" dirty="0" smtClean="0">
                <a:latin typeface="Times New Roman" pitchFamily="18" charset="0"/>
                <a:cs typeface="Times New Roman" pitchFamily="18" charset="0"/>
              </a:rPr>
              <a:t> </a:t>
            </a:r>
            <a:r>
              <a:rPr lang="es-ES" sz="1500" b="1" dirty="0" err="1" smtClean="0">
                <a:latin typeface="Times New Roman" pitchFamily="18" charset="0"/>
                <a:cs typeface="Times New Roman" pitchFamily="18" charset="0"/>
              </a:rPr>
              <a:t>Segment</a:t>
            </a:r>
            <a:r>
              <a:rPr lang="es-ES" sz="1500" b="1" dirty="0" smtClean="0">
                <a:latin typeface="Times New Roman" pitchFamily="18" charset="0"/>
                <a:cs typeface="Times New Roman" pitchFamily="18" charset="0"/>
              </a:rPr>
              <a:t>, Data </a:t>
            </a:r>
            <a:r>
              <a:rPr lang="es-ES" sz="1500" b="1" dirty="0" err="1" smtClean="0">
                <a:latin typeface="Times New Roman" pitchFamily="18" charset="0"/>
                <a:cs typeface="Times New Roman" pitchFamily="18" charset="0"/>
              </a:rPr>
              <a:t>Segment</a:t>
            </a:r>
            <a:r>
              <a:rPr lang="es-ES" sz="1500" b="1" dirty="0" smtClean="0">
                <a:latin typeface="Times New Roman" pitchFamily="18" charset="0"/>
                <a:cs typeface="Times New Roman" pitchFamily="18" charset="0"/>
              </a:rPr>
              <a:t>, </a:t>
            </a:r>
            <a:r>
              <a:rPr lang="es-ES" sz="1500" b="1" dirty="0" err="1" smtClean="0">
                <a:latin typeface="Times New Roman" pitchFamily="18" charset="0"/>
                <a:cs typeface="Times New Roman" pitchFamily="18" charset="0"/>
              </a:rPr>
              <a:t>Stack</a:t>
            </a:r>
            <a:r>
              <a:rPr lang="es-ES" sz="1500" b="1" dirty="0" smtClean="0">
                <a:latin typeface="Times New Roman" pitchFamily="18" charset="0"/>
                <a:cs typeface="Times New Roman" pitchFamily="18" charset="0"/>
              </a:rPr>
              <a:t> </a:t>
            </a:r>
            <a:r>
              <a:rPr lang="es-ES" sz="1500" b="1" dirty="0" err="1" smtClean="0">
                <a:latin typeface="Times New Roman" pitchFamily="18" charset="0"/>
                <a:cs typeface="Times New Roman" pitchFamily="18" charset="0"/>
              </a:rPr>
              <a:t>Segment</a:t>
            </a:r>
            <a:r>
              <a:rPr lang="es-ES" sz="1500" b="1" dirty="0" smtClean="0">
                <a:latin typeface="Times New Roman" pitchFamily="18" charset="0"/>
                <a:cs typeface="Times New Roman" pitchFamily="18" charset="0"/>
              </a:rPr>
              <a:t> and Extra </a:t>
            </a:r>
            <a:r>
              <a:rPr lang="es-ES" sz="1500" b="1" dirty="0" err="1" smtClean="0">
                <a:latin typeface="Times New Roman" pitchFamily="18" charset="0"/>
                <a:cs typeface="Times New Roman" pitchFamily="18" charset="0"/>
              </a:rPr>
              <a:t>Segment</a:t>
            </a:r>
            <a:r>
              <a:rPr lang="es-ES" sz="1500" b="1" dirty="0" smtClean="0">
                <a:latin typeface="Times New Roman" pitchFamily="18" charset="0"/>
                <a:cs typeface="Times New Roman" pitchFamily="18" charset="0"/>
              </a:rPr>
              <a:t> </a:t>
            </a:r>
            <a:r>
              <a:rPr lang="es-ES" sz="1500" dirty="0" smtClean="0">
                <a:latin typeface="Times New Roman" pitchFamily="18" charset="0"/>
                <a:cs typeface="Times New Roman" pitchFamily="18" charset="0"/>
              </a:rPr>
              <a:t>respectively.</a:t>
            </a:r>
          </a:p>
          <a:p>
            <a:pPr algn="just">
              <a:buFont typeface="Wingdings" pitchFamily="2" charset="2"/>
              <a:buChar char="Ø"/>
            </a:pPr>
            <a:r>
              <a:rPr lang="es-ES" sz="1500" dirty="0" err="1" smtClean="0">
                <a:latin typeface="Times New Roman" pitchFamily="18" charset="0"/>
                <a:cs typeface="Times New Roman" pitchFamily="18" charset="0"/>
              </a:rPr>
              <a:t>Each</a:t>
            </a:r>
            <a:r>
              <a:rPr lang="es-ES" sz="1500" dirty="0" smtClean="0">
                <a:latin typeface="Times New Roman" pitchFamily="18" charset="0"/>
                <a:cs typeface="Times New Roman" pitchFamily="18" charset="0"/>
              </a:rPr>
              <a:t> </a:t>
            </a:r>
            <a:r>
              <a:rPr lang="es-ES" sz="1500" dirty="0" err="1" smtClean="0">
                <a:latin typeface="Times New Roman" pitchFamily="18" charset="0"/>
                <a:cs typeface="Times New Roman" pitchFamily="18" charset="0"/>
              </a:rPr>
              <a:t>register</a:t>
            </a:r>
            <a:r>
              <a:rPr lang="es-ES" sz="1500" dirty="0" smtClean="0">
                <a:latin typeface="Times New Roman" pitchFamily="18" charset="0"/>
                <a:cs typeface="Times New Roman" pitchFamily="18" charset="0"/>
              </a:rPr>
              <a:t> </a:t>
            </a:r>
            <a:r>
              <a:rPr lang="es-ES" sz="1500" dirty="0" err="1" smtClean="0">
                <a:latin typeface="Times New Roman" pitchFamily="18" charset="0"/>
                <a:cs typeface="Times New Roman" pitchFamily="18" charset="0"/>
              </a:rPr>
              <a:t>is</a:t>
            </a:r>
            <a:r>
              <a:rPr lang="es-ES" sz="1500" dirty="0" smtClean="0">
                <a:latin typeface="Times New Roman" pitchFamily="18" charset="0"/>
                <a:cs typeface="Times New Roman" pitchFamily="18" charset="0"/>
              </a:rPr>
              <a:t> 16 bit </a:t>
            </a:r>
            <a:r>
              <a:rPr lang="es-ES" sz="1500" dirty="0" err="1" smtClean="0">
                <a:latin typeface="Times New Roman" pitchFamily="18" charset="0"/>
                <a:cs typeface="Times New Roman" pitchFamily="18" charset="0"/>
              </a:rPr>
              <a:t>long</a:t>
            </a:r>
            <a:r>
              <a:rPr lang="es-ES" sz="1500" dirty="0" smtClean="0">
                <a:latin typeface="Times New Roman" pitchFamily="18" charset="0"/>
                <a:cs typeface="Times New Roman" pitchFamily="18" charset="0"/>
              </a:rPr>
              <a:t>.</a:t>
            </a:r>
            <a:endParaRPr lang="es-ES" sz="1500" dirty="0" smtClean="0">
              <a:latin typeface="Times New Roman" pitchFamily="18" charset="0"/>
              <a:cs typeface="Times New Roman" pitchFamily="18" charset="0"/>
            </a:endParaRPr>
          </a:p>
          <a:p>
            <a:pPr algn="just">
              <a:buFont typeface="Wingdings" pitchFamily="2" charset="2"/>
              <a:buChar char="Ø"/>
            </a:pPr>
            <a:r>
              <a:rPr lang="en-US" sz="1500" dirty="0" smtClean="0">
                <a:latin typeface="Times New Roman" pitchFamily="18" charset="0"/>
                <a:cs typeface="Times New Roman" pitchFamily="18" charset="0"/>
              </a:rPr>
              <a:t>The segment registers hold </a:t>
            </a:r>
            <a:r>
              <a:rPr lang="en-US" sz="1500" dirty="0" smtClean="0">
                <a:latin typeface="Times New Roman" pitchFamily="18" charset="0"/>
                <a:cs typeface="Times New Roman" pitchFamily="18" charset="0"/>
              </a:rPr>
              <a:t>the </a:t>
            </a:r>
            <a:r>
              <a:rPr lang="en-US" sz="1500" b="1" dirty="0" smtClean="0">
                <a:latin typeface="Times New Roman" pitchFamily="18" charset="0"/>
                <a:cs typeface="Times New Roman" pitchFamily="18" charset="0"/>
              </a:rPr>
              <a:t>higher-order16 bits </a:t>
            </a:r>
            <a:r>
              <a:rPr lang="en-US" sz="1500" dirty="0" smtClean="0">
                <a:latin typeface="Times New Roman" pitchFamily="18" charset="0"/>
                <a:cs typeface="Times New Roman" pitchFamily="18" charset="0"/>
              </a:rPr>
              <a:t>of </a:t>
            </a:r>
            <a:r>
              <a:rPr lang="en-US" sz="1500" u="sng" dirty="0" smtClean="0">
                <a:latin typeface="Times New Roman" pitchFamily="18" charset="0"/>
                <a:cs typeface="Times New Roman" pitchFamily="18" charset="0"/>
              </a:rPr>
              <a:t>20-bit memory addresses of the corresponding </a:t>
            </a:r>
            <a:r>
              <a:rPr lang="en-US" sz="1500" u="sng" dirty="0" smtClean="0">
                <a:latin typeface="Times New Roman" pitchFamily="18" charset="0"/>
                <a:cs typeface="Times New Roman" pitchFamily="18" charset="0"/>
              </a:rPr>
              <a:t>segment </a:t>
            </a:r>
            <a:r>
              <a:rPr lang="en-US" sz="1500" b="1" dirty="0" smtClean="0">
                <a:latin typeface="Times New Roman" pitchFamily="18" charset="0"/>
                <a:cs typeface="Times New Roman" pitchFamily="18" charset="0"/>
              </a:rPr>
              <a:t>(Base Address)</a:t>
            </a:r>
            <a:r>
              <a:rPr lang="en-US" sz="1500" dirty="0" smtClean="0">
                <a:latin typeface="Times New Roman" pitchFamily="18" charset="0"/>
                <a:cs typeface="Times New Roman" pitchFamily="18" charset="0"/>
              </a:rPr>
              <a:t>.</a:t>
            </a:r>
          </a:p>
          <a:p>
            <a:pPr algn="just">
              <a:buFont typeface="Wingdings" pitchFamily="2" charset="2"/>
              <a:buChar char="Ø"/>
            </a:pPr>
            <a:r>
              <a:rPr lang="en-US" sz="1500" dirty="0" smtClean="0">
                <a:latin typeface="Times New Roman" pitchFamily="18" charset="0"/>
                <a:cs typeface="Times New Roman" pitchFamily="18" charset="0"/>
              </a:rPr>
              <a:t>As the four LSBs of base address are always 0H or 0000(binary), the Base Address of each segment can be generated by appending four 0’s at the end of segment register content.</a:t>
            </a:r>
            <a:endParaRPr lang="en-US" sz="1500" dirty="0" smtClean="0">
              <a:latin typeface="Times New Roman" pitchFamily="18" charset="0"/>
              <a:cs typeface="Times New Roman" pitchFamily="18" charset="0"/>
            </a:endParaRPr>
          </a:p>
          <a:p>
            <a:pPr algn="just">
              <a:buFont typeface="Wingdings" pitchFamily="2" charset="2"/>
              <a:buChar char="Ø"/>
            </a:pPr>
            <a:endParaRPr lang="es-ES" sz="1500" dirty="0" smtClean="0">
              <a:latin typeface="Times New Roman" pitchFamily="18" charset="0"/>
              <a:cs typeface="Times New Roman" pitchFamily="18" charset="0"/>
            </a:endParaRPr>
          </a:p>
          <a:p>
            <a:pPr algn="just">
              <a:buFont typeface="Wingdings" pitchFamily="2" charset="2"/>
              <a:buChar char="Ø"/>
            </a:pPr>
            <a:r>
              <a:rPr lang="en-US" sz="1500" dirty="0" smtClean="0">
                <a:latin typeface="Times New Roman" pitchFamily="18" charset="0"/>
                <a:cs typeface="Times New Roman" pitchFamily="18" charset="0"/>
              </a:rPr>
              <a:t>All </a:t>
            </a:r>
            <a:r>
              <a:rPr lang="en-US" sz="1500" dirty="0" smtClean="0">
                <a:latin typeface="Times New Roman" pitchFamily="18" charset="0"/>
                <a:cs typeface="Times New Roman" pitchFamily="18" charset="0"/>
              </a:rPr>
              <a:t>memory addresses </a:t>
            </a:r>
            <a:r>
              <a:rPr lang="en-US" sz="1500" dirty="0" smtClean="0">
                <a:latin typeface="Times New Roman" pitchFamily="18" charset="0"/>
                <a:cs typeface="Times New Roman" pitchFamily="18" charset="0"/>
              </a:rPr>
              <a:t>(</a:t>
            </a:r>
            <a:r>
              <a:rPr lang="en-US" sz="1500" b="1" dirty="0" smtClean="0">
                <a:latin typeface="Times New Roman" pitchFamily="18" charset="0"/>
                <a:cs typeface="Times New Roman" pitchFamily="18" charset="0"/>
              </a:rPr>
              <a:t>Physical Address</a:t>
            </a:r>
            <a:r>
              <a:rPr lang="en-US" sz="1500" dirty="0" smtClean="0">
                <a:latin typeface="Times New Roman" pitchFamily="18" charset="0"/>
                <a:cs typeface="Times New Roman" pitchFamily="18" charset="0"/>
              </a:rPr>
              <a:t>) of 8086 are computed by </a:t>
            </a:r>
            <a:r>
              <a:rPr lang="en-US" sz="1500" b="1" dirty="0" smtClean="0">
                <a:latin typeface="Times New Roman" pitchFamily="18" charset="0"/>
                <a:cs typeface="Times New Roman" pitchFamily="18" charset="0"/>
              </a:rPr>
              <a:t>summing</a:t>
            </a:r>
            <a:r>
              <a:rPr lang="en-US" sz="1500" dirty="0" smtClean="0">
                <a:latin typeface="Times New Roman" pitchFamily="18" charset="0"/>
                <a:cs typeface="Times New Roman" pitchFamily="18" charset="0"/>
              </a:rPr>
              <a:t> the contents of the </a:t>
            </a:r>
            <a:r>
              <a:rPr lang="en-US" sz="1500" b="1" dirty="0" smtClean="0">
                <a:latin typeface="Times New Roman" pitchFamily="18" charset="0"/>
                <a:cs typeface="Times New Roman" pitchFamily="18" charset="0"/>
              </a:rPr>
              <a:t>segment register(Base Address) </a:t>
            </a:r>
            <a:r>
              <a:rPr lang="en-US" sz="1500" dirty="0" smtClean="0">
                <a:latin typeface="Times New Roman" pitchFamily="18" charset="0"/>
                <a:cs typeface="Times New Roman" pitchFamily="18" charset="0"/>
              </a:rPr>
              <a:t>and </a:t>
            </a:r>
            <a:r>
              <a:rPr lang="en-US" sz="1500" b="1" dirty="0" smtClean="0">
                <a:latin typeface="Times New Roman" pitchFamily="18" charset="0"/>
                <a:cs typeface="Times New Roman" pitchFamily="18" charset="0"/>
              </a:rPr>
              <a:t>Offset address.</a:t>
            </a:r>
          </a:p>
          <a:p>
            <a:pPr algn="just">
              <a:buFont typeface="Wingdings" pitchFamily="2" charset="2"/>
              <a:buChar char="Ø"/>
            </a:pPr>
            <a:endParaRPr lang="en-US" sz="1500" b="1" dirty="0" smtClean="0">
              <a:latin typeface="Times New Roman" pitchFamily="18" charset="0"/>
              <a:cs typeface="Times New Roman" pitchFamily="18" charset="0"/>
            </a:endParaRPr>
          </a:p>
          <a:p>
            <a:pPr algn="just">
              <a:buNone/>
            </a:pPr>
            <a:r>
              <a:rPr lang="en-US" sz="1500" b="1" i="1" dirty="0" smtClean="0">
                <a:solidFill>
                  <a:srgbClr val="C00000"/>
                </a:solidFill>
                <a:latin typeface="Times New Roman" pitchFamily="18" charset="0"/>
                <a:cs typeface="Times New Roman" pitchFamily="18" charset="0"/>
              </a:rPr>
              <a:t>Physical  </a:t>
            </a:r>
            <a:r>
              <a:rPr lang="en-US" sz="1500" b="1" i="1" dirty="0" smtClean="0">
                <a:solidFill>
                  <a:srgbClr val="C00000"/>
                </a:solidFill>
                <a:latin typeface="Times New Roman" pitchFamily="18" charset="0"/>
                <a:cs typeface="Times New Roman" pitchFamily="18" charset="0"/>
              </a:rPr>
              <a:t>Address=</a:t>
            </a:r>
            <a:r>
              <a:rPr lang="en-US" sz="1500" b="1" i="1" dirty="0" err="1" smtClean="0">
                <a:solidFill>
                  <a:srgbClr val="C00000"/>
                </a:solidFill>
                <a:latin typeface="Times New Roman" pitchFamily="18" charset="0"/>
                <a:cs typeface="Times New Roman" pitchFamily="18" charset="0"/>
              </a:rPr>
              <a:t>BaseAddress+OffsetAddress</a:t>
            </a:r>
            <a:endParaRPr lang="en-US" sz="1500" dirty="0" smtClean="0">
              <a:latin typeface="Times New Roman" pitchFamily="18" charset="0"/>
              <a:cs typeface="Times New Roman" pitchFamily="18" charset="0"/>
            </a:endParaRPr>
          </a:p>
          <a:p>
            <a:pPr algn="just">
              <a:buFont typeface="Wingdings" pitchFamily="2" charset="2"/>
              <a:buChar char="v"/>
            </a:pPr>
            <a:r>
              <a:rPr lang="en-US" sz="1500" b="1" u="sng" dirty="0" smtClean="0">
                <a:solidFill>
                  <a:srgbClr val="FF0000"/>
                </a:solidFill>
                <a:latin typeface="Times New Roman" pitchFamily="18" charset="0"/>
                <a:cs typeface="Times New Roman" pitchFamily="18" charset="0"/>
              </a:rPr>
              <a:t>Instruction pointer</a:t>
            </a:r>
          </a:p>
          <a:p>
            <a:pPr algn="just">
              <a:buFont typeface="Wingdings" pitchFamily="2" charset="2"/>
              <a:buChar char="Ø"/>
            </a:pPr>
            <a:r>
              <a:rPr lang="en-US" sz="1500" dirty="0" smtClean="0">
                <a:latin typeface="Times New Roman" pitchFamily="18" charset="0"/>
                <a:cs typeface="Times New Roman" pitchFamily="18" charset="0"/>
              </a:rPr>
              <a:t> It is a 16-bit register used to hold the address of the next instruction to be executed.</a:t>
            </a:r>
          </a:p>
          <a:p>
            <a:pPr algn="just">
              <a:buFont typeface="Wingdings" pitchFamily="2" charset="2"/>
              <a:buChar char="Ø"/>
            </a:pPr>
            <a:endParaRPr lang="en-US" sz="1500" b="1" u="sng" dirty="0" smtClean="0">
              <a:solidFill>
                <a:srgbClr val="FF0000"/>
              </a:solidFill>
              <a:latin typeface="Times New Roman" pitchFamily="18" charset="0"/>
              <a:cs typeface="Times New Roman" pitchFamily="18" charset="0"/>
            </a:endParaRPr>
          </a:p>
        </p:txBody>
      </p:sp>
      <p:sp>
        <p:nvSpPr>
          <p:cNvPr id="6" name="Content Placeholder 5"/>
          <p:cNvSpPr>
            <a:spLocks noGrp="1"/>
          </p:cNvSpPr>
          <p:nvPr>
            <p:ph sz="half" idx="2"/>
          </p:nvPr>
        </p:nvSpPr>
        <p:spPr>
          <a:xfrm>
            <a:off x="5276088" y="142852"/>
            <a:ext cx="3725068" cy="6429420"/>
          </a:xfrm>
        </p:spPr>
        <p:txBody>
          <a:bodyPr>
            <a:normAutofit/>
          </a:bodyPr>
          <a:lstStyle/>
          <a:p>
            <a:endParaRPr lang="en-US" dirty="0"/>
          </a:p>
        </p:txBody>
      </p:sp>
      <p:sp>
        <p:nvSpPr>
          <p:cNvPr id="4" name="Slide Number Placeholder 3"/>
          <p:cNvSpPr>
            <a:spLocks noGrp="1"/>
          </p:cNvSpPr>
          <p:nvPr>
            <p:ph type="sldNum" sz="quarter" idx="12"/>
          </p:nvPr>
        </p:nvSpPr>
        <p:spPr/>
        <p:txBody>
          <a:bodyPr/>
          <a:lstStyle/>
          <a:p>
            <a:fld id="{1E79AC49-16EF-4FE2-AFCD-22497A2D05A4}"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928662" y="1500174"/>
            <a:ext cx="5072098" cy="5214974"/>
          </a:xfrm>
        </p:spPr>
        <p:txBody>
          <a:bodyPr>
            <a:normAutofit fontScale="32500" lnSpcReduction="20000"/>
          </a:bodyPr>
          <a:lstStyle/>
          <a:p>
            <a:pPr marL="539496" indent="-457200">
              <a:buFont typeface="Wingdings" pitchFamily="2" charset="2"/>
              <a:buChar char="v"/>
            </a:pPr>
            <a:r>
              <a:rPr lang="en-US" sz="4800" b="1" u="sng" dirty="0" smtClean="0">
                <a:solidFill>
                  <a:srgbClr val="FF0000"/>
                </a:solidFill>
                <a:latin typeface="Times New Roman" pitchFamily="18" charset="0"/>
                <a:cs typeface="Times New Roman" pitchFamily="18" charset="0"/>
              </a:rPr>
              <a:t>General Purpose Registers/Data Registers</a:t>
            </a:r>
          </a:p>
          <a:p>
            <a:pPr marL="539496" indent="-457200" algn="just">
              <a:buFont typeface="Wingdings" pitchFamily="2" charset="2"/>
              <a:buChar char="Ø"/>
            </a:pPr>
            <a:r>
              <a:rPr lang="en-US" sz="4800" dirty="0" smtClean="0">
                <a:latin typeface="Times New Roman" pitchFamily="18" charset="0"/>
                <a:cs typeface="Times New Roman" pitchFamily="18" charset="0"/>
              </a:rPr>
              <a:t>It has </a:t>
            </a:r>
            <a:r>
              <a:rPr lang="en-US" sz="4800" b="1" dirty="0" smtClean="0">
                <a:latin typeface="Times New Roman" pitchFamily="18" charset="0"/>
                <a:cs typeface="Times New Roman" pitchFamily="18" charset="0"/>
              </a:rPr>
              <a:t>four</a:t>
            </a:r>
            <a:r>
              <a:rPr lang="en-US" sz="4800" dirty="0" smtClean="0">
                <a:latin typeface="Times New Roman" pitchFamily="18" charset="0"/>
                <a:cs typeface="Times New Roman" pitchFamily="18" charset="0"/>
              </a:rPr>
              <a:t> 16-bit data registers.</a:t>
            </a:r>
          </a:p>
          <a:p>
            <a:pPr marL="539496" indent="-457200" algn="just">
              <a:buFont typeface="Wingdings" pitchFamily="2" charset="2"/>
              <a:buChar char="Ø"/>
            </a:pPr>
            <a:r>
              <a:rPr lang="en-US" sz="4800" dirty="0" smtClean="0">
                <a:latin typeface="Times New Roman" pitchFamily="18" charset="0"/>
                <a:cs typeface="Times New Roman" pitchFamily="18" charset="0"/>
              </a:rPr>
              <a:t>Also they are treated as eight 8-bit registers.</a:t>
            </a:r>
          </a:p>
          <a:p>
            <a:pPr marL="539496" indent="-457200" algn="just">
              <a:buFont typeface="Wingdings" pitchFamily="2" charset="2"/>
              <a:buChar char="Ø"/>
            </a:pPr>
            <a:r>
              <a:rPr lang="en-US" sz="4800" dirty="0" smtClean="0">
                <a:latin typeface="Times New Roman" pitchFamily="18" charset="0"/>
                <a:cs typeface="Times New Roman" pitchFamily="18" charset="0"/>
              </a:rPr>
              <a:t> These registers can be used as 8-bit registers individually or can be used as 16-bit in pair to have AX, BX, CX, and DX.</a:t>
            </a:r>
          </a:p>
          <a:p>
            <a:pPr algn="just"/>
            <a:r>
              <a:rPr lang="en-US" sz="4800" b="1" dirty="0" smtClean="0">
                <a:latin typeface="Times New Roman" pitchFamily="18" charset="0"/>
                <a:cs typeface="Times New Roman" pitchFamily="18" charset="0"/>
              </a:rPr>
              <a:t>AX Register</a:t>
            </a:r>
            <a:r>
              <a:rPr lang="en-US" sz="4800" dirty="0" smtClean="0">
                <a:latin typeface="Times New Roman" pitchFamily="18" charset="0"/>
                <a:cs typeface="Times New Roman" pitchFamily="18" charset="0"/>
              </a:rPr>
              <a:t>: </a:t>
            </a:r>
          </a:p>
          <a:p>
            <a:pPr algn="just">
              <a:buFont typeface="Wingdings" pitchFamily="2" charset="2"/>
              <a:buChar char="ü"/>
            </a:pPr>
            <a:r>
              <a:rPr lang="en-US" sz="4800" dirty="0" smtClean="0">
                <a:latin typeface="Times New Roman" pitchFamily="18" charset="0"/>
                <a:cs typeface="Times New Roman" pitchFamily="18" charset="0"/>
              </a:rPr>
              <a:t>Also known as accumulator register.</a:t>
            </a:r>
          </a:p>
          <a:p>
            <a:pPr algn="just">
              <a:buFont typeface="Wingdings" pitchFamily="2" charset="2"/>
              <a:buChar char="ü"/>
            </a:pPr>
            <a:r>
              <a:rPr lang="en-US" sz="4800" dirty="0" smtClean="0">
                <a:latin typeface="Times New Roman" pitchFamily="18" charset="0"/>
                <a:cs typeface="Times New Roman" pitchFamily="18" charset="0"/>
              </a:rPr>
              <a:t>It stores operands for arithmetic operation like divided, rotate.</a:t>
            </a:r>
          </a:p>
          <a:p>
            <a:pPr algn="just">
              <a:buFont typeface="Wingdings" pitchFamily="2" charset="2"/>
              <a:buChar char="ü"/>
            </a:pPr>
            <a:r>
              <a:rPr lang="en-US" sz="4800" dirty="0" smtClean="0">
                <a:latin typeface="Times New Roman" pitchFamily="18" charset="0"/>
                <a:cs typeface="Times New Roman" pitchFamily="18" charset="0"/>
              </a:rPr>
              <a:t>16 bit operand and result stored in AX</a:t>
            </a:r>
          </a:p>
          <a:p>
            <a:pPr algn="just">
              <a:buFont typeface="Wingdings" pitchFamily="2" charset="2"/>
              <a:buChar char="ü"/>
            </a:pPr>
            <a:r>
              <a:rPr lang="en-US" sz="4800" dirty="0" smtClean="0">
                <a:latin typeface="Times New Roman" pitchFamily="18" charset="0"/>
                <a:cs typeface="Times New Roman" pitchFamily="18" charset="0"/>
              </a:rPr>
              <a:t>AL is used for 8-bit operations.</a:t>
            </a:r>
          </a:p>
          <a:p>
            <a:pPr algn="just">
              <a:buFont typeface="Wingdings" pitchFamily="2" charset="2"/>
              <a:buChar char="ü"/>
            </a:pPr>
            <a:r>
              <a:rPr lang="en-US" sz="4800" dirty="0" smtClean="0">
                <a:latin typeface="Times New Roman" pitchFamily="18" charset="0"/>
                <a:cs typeface="Times New Roman" pitchFamily="18" charset="0"/>
              </a:rPr>
              <a:t>In 32 bit multiply and divide instruction, AX  holds the lower-order operand.</a:t>
            </a:r>
          </a:p>
          <a:p>
            <a:pPr algn="just"/>
            <a:r>
              <a:rPr lang="en-US" sz="4800" b="1" dirty="0" smtClean="0">
                <a:latin typeface="Times New Roman" pitchFamily="18" charset="0"/>
                <a:cs typeface="Times New Roman" pitchFamily="18" charset="0"/>
              </a:rPr>
              <a:t>BX Register</a:t>
            </a:r>
            <a:r>
              <a:rPr lang="en-US" sz="4800" dirty="0" smtClean="0">
                <a:latin typeface="Times New Roman" pitchFamily="18" charset="0"/>
                <a:cs typeface="Times New Roman" pitchFamily="18" charset="0"/>
              </a:rPr>
              <a:t>: </a:t>
            </a:r>
          </a:p>
          <a:p>
            <a:pPr algn="just">
              <a:buFont typeface="Wingdings" pitchFamily="2" charset="2"/>
              <a:buChar char="ü"/>
            </a:pPr>
            <a:r>
              <a:rPr lang="en-US" sz="4800" dirty="0" smtClean="0">
                <a:latin typeface="Times New Roman" pitchFamily="18" charset="0"/>
                <a:cs typeface="Times New Roman" pitchFamily="18" charset="0"/>
              </a:rPr>
              <a:t>It is a general purpose data register.</a:t>
            </a:r>
          </a:p>
          <a:p>
            <a:pPr algn="just">
              <a:buFont typeface="Wingdings" pitchFamily="2" charset="2"/>
              <a:buChar char="ü"/>
            </a:pPr>
            <a:r>
              <a:rPr lang="en-US" sz="4800" dirty="0" smtClean="0">
                <a:latin typeface="Times New Roman" pitchFamily="18" charset="0"/>
                <a:cs typeface="Times New Roman" pitchFamily="18" charset="0"/>
              </a:rPr>
              <a:t>When ever any memory location is selected to store/retrieve the data , the address location is stored inside BX.</a:t>
            </a:r>
            <a:endParaRPr lang="en-US" sz="4800" dirty="0" smtClean="0">
              <a:latin typeface="Times New Roman" pitchFamily="18" charset="0"/>
              <a:cs typeface="Times New Roman" pitchFamily="18" charset="0"/>
            </a:endParaRPr>
          </a:p>
          <a:p>
            <a:pPr>
              <a:buFont typeface="Wingdings" pitchFamily="2" charset="2"/>
              <a:buChar char="ü"/>
            </a:pPr>
            <a:endParaRPr lang="en-US" sz="3600" dirty="0" smtClean="0">
              <a:latin typeface="Times New Roman" pitchFamily="18" charset="0"/>
              <a:cs typeface="Times New Roman" pitchFamily="18" charset="0"/>
            </a:endParaRPr>
          </a:p>
          <a:p>
            <a:pPr>
              <a:buFont typeface="Wingdings" pitchFamily="2" charset="2"/>
              <a:buChar char="ü"/>
            </a:pPr>
            <a:r>
              <a:rPr lang="en-US" sz="3600" dirty="0" smtClean="0">
                <a:latin typeface="Times New Roman" pitchFamily="18" charset="0"/>
                <a:cs typeface="Times New Roman" pitchFamily="18" charset="0"/>
              </a:rPr>
              <a:t> </a:t>
            </a:r>
          </a:p>
          <a:p>
            <a:pPr algn="just"/>
            <a:endParaRPr lang="en-US" sz="33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1E79AC49-16EF-4FE2-AFCD-22497A2D05A4}" type="slidenum">
              <a:rPr lang="en-US" smtClean="0"/>
              <a:pPr/>
              <a:t>10</a:t>
            </a:fld>
            <a:endParaRPr lang="en-US"/>
          </a:p>
        </p:txBody>
      </p:sp>
      <p:sp>
        <p:nvSpPr>
          <p:cNvPr id="6" name="TextBox 5"/>
          <p:cNvSpPr txBox="1"/>
          <p:nvPr/>
        </p:nvSpPr>
        <p:spPr>
          <a:xfrm>
            <a:off x="1571604" y="1"/>
            <a:ext cx="6572296" cy="1846659"/>
          </a:xfrm>
          <a:prstGeom prst="rect">
            <a:avLst/>
          </a:prstGeom>
          <a:noFill/>
        </p:spPr>
        <p:txBody>
          <a:bodyPr wrap="square" rtlCol="0">
            <a:spAutoFit/>
          </a:bodyPr>
          <a:lstStyle/>
          <a:p>
            <a:pPr marL="539496" indent="-457200">
              <a:buNone/>
            </a:pPr>
            <a:r>
              <a:rPr lang="en-US" sz="1600" b="1" u="sng" dirty="0" smtClean="0">
                <a:latin typeface="Times New Roman" pitchFamily="18" charset="0"/>
                <a:cs typeface="Times New Roman" pitchFamily="18" charset="0"/>
              </a:rPr>
              <a:t>Execution Unit</a:t>
            </a:r>
          </a:p>
          <a:p>
            <a:pPr marL="539496" indent="-457200">
              <a:buNone/>
            </a:pPr>
            <a:r>
              <a:rPr lang="en-US" sz="1600" dirty="0" smtClean="0">
                <a:latin typeface="Times New Roman" pitchFamily="18" charset="0"/>
                <a:cs typeface="Times New Roman" pitchFamily="18" charset="0"/>
              </a:rPr>
              <a:t>The main functions of EU are: </a:t>
            </a:r>
          </a:p>
          <a:p>
            <a:pPr>
              <a:buFont typeface="Wingdings" pitchFamily="2" charset="2"/>
              <a:buChar char="§"/>
            </a:pPr>
            <a:r>
              <a:rPr lang="en-US" sz="1600" dirty="0" smtClean="0">
                <a:latin typeface="Times New Roman" pitchFamily="18" charset="0"/>
                <a:cs typeface="Times New Roman" pitchFamily="18" charset="0"/>
              </a:rPr>
              <a:t>To tell BIU where to fetch the instructions or data from.</a:t>
            </a:r>
          </a:p>
          <a:p>
            <a:pPr marL="539496" indent="-457200">
              <a:buFont typeface="Wingdings" pitchFamily="2" charset="2"/>
              <a:buChar char="§"/>
            </a:pPr>
            <a:r>
              <a:rPr lang="en-US" sz="1600" dirty="0" smtClean="0">
                <a:latin typeface="Times New Roman" pitchFamily="18" charset="0"/>
                <a:cs typeface="Times New Roman" pitchFamily="18" charset="0"/>
              </a:rPr>
              <a:t>Decoding of Instructions</a:t>
            </a:r>
          </a:p>
          <a:p>
            <a:pPr marL="539496" indent="-457200">
              <a:buFont typeface="Wingdings" pitchFamily="2" charset="2"/>
              <a:buChar char="§"/>
            </a:pPr>
            <a:r>
              <a:rPr lang="en-US" sz="1600" dirty="0" smtClean="0">
                <a:latin typeface="Times New Roman" pitchFamily="18" charset="0"/>
                <a:cs typeface="Times New Roman" pitchFamily="18" charset="0"/>
              </a:rPr>
              <a:t>Execution of instructions</a:t>
            </a:r>
          </a:p>
          <a:p>
            <a:pPr marL="539496" indent="-457200">
              <a:buNone/>
            </a:pPr>
            <a:r>
              <a:rPr lang="en-US" sz="1600" u="sng" dirty="0" smtClean="0">
                <a:latin typeface="Times New Roman" pitchFamily="18" charset="0"/>
                <a:cs typeface="Times New Roman" pitchFamily="18" charset="0"/>
              </a:rPr>
              <a:t>Functional Parts:</a:t>
            </a:r>
          </a:p>
          <a:p>
            <a:endParaRPr lang="en-US" dirty="0"/>
          </a:p>
        </p:txBody>
      </p:sp>
      <p:pic>
        <p:nvPicPr>
          <p:cNvPr id="2050" name="Picture 2"/>
          <p:cNvPicPr>
            <a:picLocks noGrp="1" noChangeAspect="1" noChangeArrowheads="1"/>
          </p:cNvPicPr>
          <p:nvPr>
            <p:ph sz="half" idx="2"/>
          </p:nvPr>
        </p:nvPicPr>
        <p:blipFill>
          <a:blip r:embed="rId2"/>
          <a:srcRect/>
          <a:stretch>
            <a:fillRect/>
          </a:stretch>
        </p:blipFill>
        <p:spPr bwMode="auto">
          <a:xfrm>
            <a:off x="6233872" y="1714489"/>
            <a:ext cx="2910127" cy="2571767"/>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1214414" y="642918"/>
            <a:ext cx="7719274" cy="5605482"/>
          </a:xfrm>
        </p:spPr>
        <p:txBody>
          <a:bodyPr>
            <a:normAutofit/>
          </a:bodyPr>
          <a:lstStyle/>
          <a:p>
            <a:pPr algn="just"/>
            <a:endParaRPr lang="en-US" sz="2000" b="1"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CX Register</a:t>
            </a:r>
            <a:r>
              <a:rPr lang="en-US" sz="2000" dirty="0" smtClean="0">
                <a:latin typeface="Times New Roman" pitchFamily="18" charset="0"/>
                <a:cs typeface="Times New Roman" pitchFamily="18" charset="0"/>
              </a:rPr>
              <a:t>: </a:t>
            </a:r>
          </a:p>
          <a:p>
            <a:pPr algn="just">
              <a:buFont typeface="Wingdings" pitchFamily="2" charset="2"/>
              <a:buChar char="ü"/>
            </a:pPr>
            <a:r>
              <a:rPr lang="en-US" sz="2000" dirty="0" smtClean="0">
                <a:latin typeface="Times New Roman" pitchFamily="18" charset="0"/>
                <a:cs typeface="Times New Roman" pitchFamily="18" charset="0"/>
              </a:rPr>
              <a:t>It is primarily used to store count(desired no of repetitions) in multi iteration instruction and automatically decremented after each instruction.</a:t>
            </a:r>
          </a:p>
          <a:p>
            <a:pPr algn="just">
              <a:buFont typeface="Wingdings" pitchFamily="2" charset="2"/>
              <a:buChar char="ü"/>
            </a:pPr>
            <a:r>
              <a:rPr lang="en-US" sz="2000" dirty="0" smtClean="0">
                <a:latin typeface="Times New Roman" pitchFamily="18" charset="0"/>
                <a:cs typeface="Times New Roman" pitchFamily="18" charset="0"/>
              </a:rPr>
              <a:t>When it becomes zero, the execution of instruction is terminated.</a:t>
            </a:r>
          </a:p>
          <a:p>
            <a:pPr algn="just"/>
            <a:r>
              <a:rPr lang="en-US" sz="2000" b="1" dirty="0" smtClean="0">
                <a:latin typeface="Times New Roman" pitchFamily="18" charset="0"/>
                <a:cs typeface="Times New Roman" pitchFamily="18" charset="0"/>
              </a:rPr>
              <a:t>DX Register</a:t>
            </a:r>
            <a:r>
              <a:rPr lang="en-US" sz="2000" dirty="0" smtClean="0">
                <a:latin typeface="Times New Roman" pitchFamily="18" charset="0"/>
                <a:cs typeface="Times New Roman" pitchFamily="18" charset="0"/>
              </a:rPr>
              <a:t>:</a:t>
            </a:r>
          </a:p>
          <a:p>
            <a:pPr algn="just">
              <a:buFont typeface="Wingdings" pitchFamily="2" charset="2"/>
              <a:buChar char="ü"/>
            </a:pPr>
            <a:r>
              <a:rPr lang="en-US" sz="2000" dirty="0" smtClean="0">
                <a:latin typeface="Times New Roman" pitchFamily="18" charset="0"/>
                <a:cs typeface="Times New Roman" pitchFamily="18" charset="0"/>
              </a:rPr>
              <a:t>DX register is used in I/O instruction ,multiply and divide instruction.</a:t>
            </a:r>
          </a:p>
          <a:p>
            <a:pPr algn="just">
              <a:buFont typeface="Wingdings" pitchFamily="2" charset="2"/>
              <a:buChar char="ü"/>
            </a:pPr>
            <a:r>
              <a:rPr lang="en-US" sz="2000" dirty="0" smtClean="0">
                <a:latin typeface="Times New Roman" pitchFamily="18" charset="0"/>
                <a:cs typeface="Times New Roman" pitchFamily="18" charset="0"/>
              </a:rPr>
              <a:t>DX contains the address  of I/O ports in certain type of  I/O instructions..</a:t>
            </a:r>
          </a:p>
          <a:p>
            <a:pPr algn="just">
              <a:buFont typeface="Wingdings" pitchFamily="2" charset="2"/>
              <a:buChar char="ü"/>
            </a:pPr>
            <a:r>
              <a:rPr lang="en-US" sz="2000" dirty="0" smtClean="0">
                <a:latin typeface="Times New Roman" pitchFamily="18" charset="0"/>
                <a:cs typeface="Times New Roman" pitchFamily="18" charset="0"/>
              </a:rPr>
              <a:t>In 32 bit multiply and divide instruction, DX holds the higher-order operand.</a:t>
            </a:r>
          </a:p>
          <a:p>
            <a:pPr>
              <a:buNone/>
            </a:pPr>
            <a:endParaRPr lang="en-US" sz="2000" dirty="0"/>
          </a:p>
        </p:txBody>
      </p:sp>
      <p:sp>
        <p:nvSpPr>
          <p:cNvPr id="5" name="Slide Number Placeholder 4"/>
          <p:cNvSpPr>
            <a:spLocks noGrp="1"/>
          </p:cNvSpPr>
          <p:nvPr>
            <p:ph type="sldNum" sz="quarter" idx="12"/>
          </p:nvPr>
        </p:nvSpPr>
        <p:spPr/>
        <p:txBody>
          <a:bodyPr/>
          <a:lstStyle/>
          <a:p>
            <a:fld id="{1E79AC49-16EF-4FE2-AFCD-22497A2D05A4}"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1071538" y="214290"/>
            <a:ext cx="7929618" cy="6572296"/>
          </a:xfrm>
        </p:spPr>
        <p:txBody>
          <a:bodyPr>
            <a:normAutofit fontScale="92500" lnSpcReduction="10000"/>
          </a:bodyPr>
          <a:lstStyle/>
          <a:p>
            <a:pPr>
              <a:buFont typeface="Wingdings" pitchFamily="2" charset="2"/>
              <a:buChar char="v"/>
            </a:pPr>
            <a:r>
              <a:rPr lang="en-US" sz="2000" u="sng" dirty="0" smtClean="0">
                <a:solidFill>
                  <a:srgbClr val="FF0000"/>
                </a:solidFill>
                <a:latin typeface="Times New Roman" pitchFamily="18" charset="0"/>
                <a:cs typeface="Times New Roman" pitchFamily="18" charset="0"/>
              </a:rPr>
              <a:t>Pointer and Index Register Group</a:t>
            </a:r>
          </a:p>
          <a:p>
            <a:pPr>
              <a:buFont typeface="Wingdings" pitchFamily="2" charset="2"/>
              <a:buChar char="Ø"/>
            </a:pPr>
            <a:r>
              <a:rPr lang="en-US" sz="1800" dirty="0" smtClean="0">
                <a:latin typeface="Times New Roman" pitchFamily="18" charset="0"/>
                <a:cs typeface="Times New Roman" pitchFamily="18" charset="0"/>
              </a:rPr>
              <a:t>These registers generally stores </a:t>
            </a:r>
            <a:r>
              <a:rPr lang="en-US" sz="1800" b="1" dirty="0" smtClean="0">
                <a:latin typeface="Times New Roman" pitchFamily="18" charset="0"/>
                <a:cs typeface="Times New Roman" pitchFamily="18" charset="0"/>
              </a:rPr>
              <a:t>offset(Effective Address)</a:t>
            </a:r>
            <a:r>
              <a:rPr lang="en-US" sz="1800" dirty="0" smtClean="0">
                <a:latin typeface="Times New Roman" pitchFamily="18" charset="0"/>
                <a:cs typeface="Times New Roman" pitchFamily="18" charset="0"/>
              </a:rPr>
              <a:t>.</a:t>
            </a:r>
            <a:endParaRPr lang="en-US" sz="1800" dirty="0" smtClean="0">
              <a:latin typeface="Times New Roman" pitchFamily="18" charset="0"/>
              <a:cs typeface="Times New Roman" pitchFamily="18" charset="0"/>
            </a:endParaRPr>
          </a:p>
          <a:p>
            <a:pPr>
              <a:buFont typeface="Wingdings" pitchFamily="2" charset="2"/>
              <a:buChar char="Ø"/>
            </a:pPr>
            <a:r>
              <a:rPr lang="en-US" sz="1800" dirty="0" smtClean="0">
                <a:latin typeface="Times New Roman" pitchFamily="18" charset="0"/>
                <a:cs typeface="Times New Roman" pitchFamily="18" charset="0"/>
              </a:rPr>
              <a:t>Also they are used as general purpose registers.</a:t>
            </a:r>
          </a:p>
          <a:p>
            <a:pPr>
              <a:buFont typeface="Wingdings" pitchFamily="2" charset="2"/>
              <a:buChar char="§"/>
            </a:pPr>
            <a:r>
              <a:rPr lang="en-US" sz="1800" dirty="0" smtClean="0">
                <a:latin typeface="Times New Roman" pitchFamily="18" charset="0"/>
                <a:cs typeface="Times New Roman" pitchFamily="18" charset="0"/>
              </a:rPr>
              <a:t>Stack Pointer(SP)</a:t>
            </a:r>
          </a:p>
          <a:p>
            <a:pPr>
              <a:buFont typeface="Wingdings" pitchFamily="2" charset="2"/>
              <a:buChar char="§"/>
            </a:pPr>
            <a:r>
              <a:rPr lang="en-US" sz="1800" dirty="0" smtClean="0">
                <a:latin typeface="Times New Roman" pitchFamily="18" charset="0"/>
                <a:cs typeface="Times New Roman" pitchFamily="18" charset="0"/>
              </a:rPr>
              <a:t>Base Pointer(BP)</a:t>
            </a:r>
          </a:p>
          <a:p>
            <a:pPr>
              <a:buFont typeface="Wingdings" pitchFamily="2" charset="2"/>
              <a:buChar char="§"/>
            </a:pPr>
            <a:r>
              <a:rPr lang="en-US" sz="1800" dirty="0" smtClean="0">
                <a:latin typeface="Times New Roman" pitchFamily="18" charset="0"/>
                <a:cs typeface="Times New Roman" pitchFamily="18" charset="0"/>
              </a:rPr>
              <a:t>Source </a:t>
            </a:r>
            <a:r>
              <a:rPr lang="en-US" sz="1800" dirty="0" smtClean="0">
                <a:latin typeface="Times New Roman" pitchFamily="18" charset="0"/>
                <a:cs typeface="Times New Roman" pitchFamily="18" charset="0"/>
              </a:rPr>
              <a:t>Index(SI)</a:t>
            </a:r>
            <a:endParaRPr lang="en-US" sz="1800" dirty="0" smtClean="0">
              <a:latin typeface="Times New Roman" pitchFamily="18" charset="0"/>
              <a:cs typeface="Times New Roman" pitchFamily="18" charset="0"/>
            </a:endParaRPr>
          </a:p>
          <a:p>
            <a:pPr>
              <a:buFont typeface="Wingdings" pitchFamily="2" charset="2"/>
              <a:buChar char="§"/>
            </a:pPr>
            <a:r>
              <a:rPr lang="en-US" sz="1800" dirty="0" smtClean="0">
                <a:latin typeface="Times New Roman" pitchFamily="18" charset="0"/>
                <a:cs typeface="Times New Roman" pitchFamily="18" charset="0"/>
              </a:rPr>
              <a:t>Destination Index(DI)</a:t>
            </a:r>
          </a:p>
          <a:p>
            <a:pPr>
              <a:buFont typeface="Wingdings" pitchFamily="2" charset="2"/>
              <a:buChar char="§"/>
            </a:pPr>
            <a:r>
              <a:rPr lang="en-US" sz="1800" dirty="0" smtClean="0">
                <a:latin typeface="Times New Roman" pitchFamily="18" charset="0"/>
                <a:cs typeface="Times New Roman" pitchFamily="18" charset="0"/>
              </a:rPr>
              <a:t>Instruction Pointer(IP)</a:t>
            </a:r>
          </a:p>
          <a:p>
            <a:pPr>
              <a:buNone/>
            </a:pPr>
            <a:r>
              <a:rPr lang="en-US" sz="1800" u="sng" dirty="0" smtClean="0">
                <a:latin typeface="Times New Roman" pitchFamily="18" charset="0"/>
                <a:cs typeface="Times New Roman" pitchFamily="18" charset="0"/>
              </a:rPr>
              <a:t>Stack Pointer(SP</a:t>
            </a:r>
            <a:r>
              <a:rPr lang="en-US" sz="1800" u="sng" dirty="0" smtClean="0">
                <a:latin typeface="Times New Roman" pitchFamily="18" charset="0"/>
                <a:cs typeface="Times New Roman" pitchFamily="18" charset="0"/>
              </a:rPr>
              <a:t>) and Base Pointer(BP)</a:t>
            </a:r>
            <a:endParaRPr lang="en-US" sz="1800" u="sng" dirty="0" smtClean="0">
              <a:latin typeface="Times New Roman" pitchFamily="18" charset="0"/>
              <a:cs typeface="Times New Roman" pitchFamily="18" charset="0"/>
            </a:endParaRPr>
          </a:p>
          <a:p>
            <a:pPr>
              <a:buFont typeface="Wingdings" pitchFamily="2" charset="2"/>
              <a:buChar char="Ø"/>
            </a:pPr>
            <a:r>
              <a:rPr lang="en-US" sz="1800" dirty="0" smtClean="0">
                <a:latin typeface="Times New Roman" pitchFamily="18" charset="0"/>
                <a:cs typeface="Times New Roman" pitchFamily="18" charset="0"/>
              </a:rPr>
              <a:t>The value of SP represents the offset  of the next stack location in SS(points to the top of the stack)</a:t>
            </a:r>
            <a:endParaRPr lang="en-US" sz="1800" dirty="0" smtClean="0">
              <a:latin typeface="Times New Roman" pitchFamily="18" charset="0"/>
              <a:cs typeface="Times New Roman" pitchFamily="18" charset="0"/>
            </a:endParaRPr>
          </a:p>
          <a:p>
            <a:pPr>
              <a:buFont typeface="Wingdings" pitchFamily="2" charset="2"/>
              <a:buChar char="Ø"/>
            </a:pPr>
            <a:r>
              <a:rPr lang="en-US" sz="1800" dirty="0" smtClean="0">
                <a:latin typeface="Times New Roman" pitchFamily="18" charset="0"/>
                <a:cs typeface="Times New Roman" pitchFamily="18" charset="0"/>
              </a:rPr>
              <a:t>The </a:t>
            </a:r>
            <a:r>
              <a:rPr lang="en-US" sz="1800" dirty="0" smtClean="0">
                <a:latin typeface="Times New Roman" pitchFamily="18" charset="0"/>
                <a:cs typeface="Times New Roman" pitchFamily="18" charset="0"/>
              </a:rPr>
              <a:t>complete address is formed  by adding the content of SS(Stack Segment Register), after </a:t>
            </a:r>
            <a:r>
              <a:rPr lang="en-US" sz="1800" dirty="0" smtClean="0">
                <a:latin typeface="Times New Roman" pitchFamily="18" charset="0"/>
                <a:cs typeface="Times New Roman" pitchFamily="18" charset="0"/>
              </a:rPr>
              <a:t>4-bit left </a:t>
            </a:r>
            <a:r>
              <a:rPr lang="en-US" sz="1800" dirty="0" smtClean="0">
                <a:latin typeface="Times New Roman" pitchFamily="18" charset="0"/>
                <a:cs typeface="Times New Roman" pitchFamily="18" charset="0"/>
              </a:rPr>
              <a:t>shift, to the SP</a:t>
            </a:r>
            <a:r>
              <a:rPr lang="en-US" sz="1800" dirty="0" smtClean="0">
                <a:latin typeface="Times New Roman" pitchFamily="18" charset="0"/>
                <a:cs typeface="Times New Roman" pitchFamily="18" charset="0"/>
              </a:rPr>
              <a:t>.</a:t>
            </a:r>
          </a:p>
          <a:p>
            <a:pPr>
              <a:buFont typeface="Wingdings" pitchFamily="2" charset="2"/>
              <a:buChar char="Ø"/>
            </a:pPr>
            <a:r>
              <a:rPr lang="en-US" sz="1800" dirty="0" smtClean="0">
                <a:latin typeface="Times New Roman" pitchFamily="18" charset="0"/>
                <a:cs typeface="Times New Roman" pitchFamily="18" charset="0"/>
              </a:rPr>
              <a:t>The value of BP register represents the offset of starting memory location  of stack memory management.</a:t>
            </a:r>
            <a:endParaRPr lang="en-US" sz="1800" dirty="0" smtClean="0">
              <a:latin typeface="Times New Roman" pitchFamily="18" charset="0"/>
              <a:cs typeface="Times New Roman" pitchFamily="18" charset="0"/>
            </a:endParaRPr>
          </a:p>
          <a:p>
            <a:pPr>
              <a:buFont typeface="Wingdings" pitchFamily="2" charset="2"/>
              <a:buChar char="Ø"/>
            </a:pPr>
            <a:r>
              <a:rPr lang="en-US" sz="1800" dirty="0" smtClean="0">
                <a:latin typeface="Times New Roman" pitchFamily="18" charset="0"/>
                <a:cs typeface="Times New Roman" pitchFamily="18" charset="0"/>
              </a:rPr>
              <a:t>It </a:t>
            </a:r>
            <a:r>
              <a:rPr lang="en-US" sz="1800" dirty="0" smtClean="0">
                <a:latin typeface="Times New Roman" pitchFamily="18" charset="0"/>
                <a:cs typeface="Times New Roman" pitchFamily="18" charset="0"/>
              </a:rPr>
              <a:t>provides indirect access to data in stack register.</a:t>
            </a:r>
          </a:p>
          <a:p>
            <a:pPr>
              <a:buNone/>
            </a:pPr>
            <a:r>
              <a:rPr lang="en-US" sz="1800" u="sng" dirty="0" smtClean="0">
                <a:latin typeface="Times New Roman" pitchFamily="18" charset="0"/>
                <a:cs typeface="Times New Roman" pitchFamily="18" charset="0"/>
              </a:rPr>
              <a:t>Source Index(SI)/Destination Index(DI)</a:t>
            </a:r>
          </a:p>
          <a:p>
            <a:pPr>
              <a:buFont typeface="Wingdings" pitchFamily="2" charset="2"/>
              <a:buChar char="Ø"/>
            </a:pPr>
            <a:r>
              <a:rPr lang="en-US" sz="1800" dirty="0" smtClean="0">
                <a:latin typeface="Times New Roman" pitchFamily="18" charset="0"/>
                <a:cs typeface="Times New Roman" pitchFamily="18" charset="0"/>
              </a:rPr>
              <a:t>It stores offset </a:t>
            </a:r>
            <a:r>
              <a:rPr lang="en-US" sz="1800" dirty="0" smtClean="0">
                <a:latin typeface="Times New Roman" pitchFamily="18" charset="0"/>
                <a:cs typeface="Times New Roman" pitchFamily="18" charset="0"/>
              </a:rPr>
              <a:t>for data segment.</a:t>
            </a:r>
          </a:p>
          <a:p>
            <a:pPr>
              <a:buNone/>
            </a:pPr>
            <a:r>
              <a:rPr lang="en-US" sz="1800" u="sng" dirty="0" smtClean="0">
                <a:latin typeface="Times New Roman" pitchFamily="18" charset="0"/>
                <a:cs typeface="Times New Roman" pitchFamily="18" charset="0"/>
              </a:rPr>
              <a:t>Instruction Pointer</a:t>
            </a:r>
          </a:p>
          <a:p>
            <a:pPr>
              <a:buFont typeface="Wingdings" pitchFamily="2" charset="2"/>
              <a:buChar char="Ø"/>
            </a:pPr>
            <a:r>
              <a:rPr lang="en-US" sz="1800" dirty="0" smtClean="0">
                <a:latin typeface="Times New Roman" pitchFamily="18" charset="0"/>
                <a:cs typeface="Times New Roman" pitchFamily="18" charset="0"/>
              </a:rPr>
              <a:t>It is also referred as Program Counter.</a:t>
            </a:r>
          </a:p>
          <a:p>
            <a:pPr>
              <a:buFont typeface="Wingdings" pitchFamily="2" charset="2"/>
              <a:buChar char="Ø"/>
            </a:pPr>
            <a:r>
              <a:rPr lang="en-US" sz="1800" dirty="0" smtClean="0">
                <a:latin typeface="Times New Roman" pitchFamily="18" charset="0"/>
                <a:cs typeface="Times New Roman" pitchFamily="18" charset="0"/>
              </a:rPr>
              <a:t>It </a:t>
            </a:r>
            <a:r>
              <a:rPr lang="en-US" sz="1800" dirty="0" smtClean="0">
                <a:latin typeface="Times New Roman" pitchFamily="18" charset="0"/>
                <a:cs typeface="Times New Roman" pitchFamily="18" charset="0"/>
              </a:rPr>
              <a:t>contains offset for Code Segment.</a:t>
            </a:r>
            <a:endParaRPr lang="en-US" sz="1800" dirty="0" smtClean="0">
              <a:latin typeface="Times New Roman" pitchFamily="18" charset="0"/>
              <a:cs typeface="Times New Roman" pitchFamily="18" charset="0"/>
            </a:endParaRPr>
          </a:p>
          <a:p>
            <a:pPr>
              <a:buNone/>
            </a:pPr>
            <a:endParaRPr lang="en-US" sz="1800" u="sng" dirty="0" smtClean="0">
              <a:latin typeface="Times New Roman" pitchFamily="18" charset="0"/>
              <a:cs typeface="Times New Roman" pitchFamily="18" charset="0"/>
            </a:endParaRPr>
          </a:p>
          <a:p>
            <a:pPr>
              <a:buNone/>
            </a:pPr>
            <a:endParaRPr lang="en-US" sz="1800" dirty="0" smtClean="0">
              <a:latin typeface="Times New Roman" pitchFamily="18" charset="0"/>
              <a:cs typeface="Times New Roman" pitchFamily="18" charset="0"/>
            </a:endParaRPr>
          </a:p>
          <a:p>
            <a:pPr>
              <a:buFont typeface="Wingdings" pitchFamily="2" charset="2"/>
              <a:buChar char="Ø"/>
            </a:pPr>
            <a:endParaRPr lang="en-US" sz="1800" dirty="0" smtClean="0">
              <a:latin typeface="Times New Roman" pitchFamily="18" charset="0"/>
              <a:cs typeface="Times New Roman" pitchFamily="18" charset="0"/>
            </a:endParaRPr>
          </a:p>
          <a:p>
            <a:pPr>
              <a:buNone/>
            </a:pPr>
            <a:endParaRPr lang="en-US" sz="1800" u="sng" dirty="0" smtClean="0">
              <a:latin typeface="Times New Roman" pitchFamily="18" charset="0"/>
              <a:cs typeface="Times New Roman" pitchFamily="18" charset="0"/>
            </a:endParaRPr>
          </a:p>
          <a:p>
            <a:pPr>
              <a:buNone/>
            </a:pPr>
            <a:endParaRPr lang="en-US" sz="1800" dirty="0" smtClean="0">
              <a:latin typeface="Times New Roman" pitchFamily="18" charset="0"/>
              <a:cs typeface="Times New Roman" pitchFamily="18" charset="0"/>
            </a:endParaRPr>
          </a:p>
          <a:p>
            <a:pPr>
              <a:buNone/>
            </a:pPr>
            <a:endParaRPr lang="en-US" sz="18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1E79AC49-16EF-4FE2-AFCD-22497A2D05A4}"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1538" y="142852"/>
            <a:ext cx="7858180" cy="6000792"/>
          </a:xfrm>
        </p:spPr>
        <p:txBody>
          <a:bodyPr>
            <a:normAutofit/>
          </a:bodyPr>
          <a:lstStyle/>
          <a:p>
            <a:pPr>
              <a:buNone/>
            </a:pPr>
            <a:r>
              <a:rPr lang="en-US" sz="1800" dirty="0" smtClean="0">
                <a:solidFill>
                  <a:srgbClr val="C00000"/>
                </a:solidFill>
                <a:latin typeface="Times New Roman" pitchFamily="18" charset="0"/>
                <a:cs typeface="Times New Roman" pitchFamily="18" charset="0"/>
              </a:rPr>
              <a:t>Q1.</a:t>
            </a:r>
            <a:r>
              <a:rPr lang="en-US" sz="1800" dirty="0" smtClean="0">
                <a:latin typeface="Times New Roman" pitchFamily="18" charset="0"/>
                <a:cs typeface="Times New Roman" pitchFamily="18" charset="0"/>
              </a:rPr>
              <a:t>  If CS=3000H, IP=0500H. Find the Physical Address.</a:t>
            </a:r>
          </a:p>
          <a:p>
            <a:pPr>
              <a:buNone/>
            </a:pPr>
            <a:r>
              <a:rPr lang="en-US" sz="1800" dirty="0" err="1" smtClean="0">
                <a:latin typeface="Times New Roman" pitchFamily="18" charset="0"/>
                <a:cs typeface="Times New Roman" pitchFamily="18" charset="0"/>
              </a:rPr>
              <a:t>Ans</a:t>
            </a:r>
            <a:r>
              <a:rPr lang="en-US" sz="1800" dirty="0" smtClean="0">
                <a:latin typeface="Times New Roman" pitchFamily="18" charset="0"/>
                <a:cs typeface="Times New Roman" pitchFamily="18" charset="0"/>
              </a:rPr>
              <a:t>: Base Address(BA)=30000H</a:t>
            </a:r>
          </a:p>
          <a:p>
            <a:pPr>
              <a:buNone/>
            </a:pPr>
            <a:r>
              <a:rPr lang="en-US" sz="1800" dirty="0" smtClean="0">
                <a:latin typeface="Times New Roman" pitchFamily="18" charset="0"/>
                <a:cs typeface="Times New Roman" pitchFamily="18" charset="0"/>
              </a:rPr>
              <a:t>Physical Address(PA)= BA+IP</a:t>
            </a:r>
          </a:p>
          <a:p>
            <a:pPr>
              <a:buNone/>
            </a:pPr>
            <a:r>
              <a:rPr lang="en-US" sz="1800" dirty="0" smtClean="0">
                <a:latin typeface="Times New Roman" pitchFamily="18" charset="0"/>
                <a:cs typeface="Times New Roman" pitchFamily="18" charset="0"/>
              </a:rPr>
              <a:t>	</a:t>
            </a:r>
            <a:r>
              <a:rPr lang="en-US" sz="1800" dirty="0" smtClean="0">
                <a:latin typeface="Times New Roman" pitchFamily="18" charset="0"/>
                <a:cs typeface="Times New Roman" pitchFamily="18" charset="0"/>
              </a:rPr>
              <a:t>		     =30000H+0500H</a:t>
            </a:r>
          </a:p>
          <a:p>
            <a:pPr>
              <a:buNone/>
            </a:pPr>
            <a:r>
              <a:rPr lang="en-US" sz="1800" dirty="0" smtClean="0">
                <a:latin typeface="Times New Roman" pitchFamily="18" charset="0"/>
                <a:cs typeface="Times New Roman" pitchFamily="18" charset="0"/>
              </a:rPr>
              <a:t>	</a:t>
            </a:r>
            <a:r>
              <a:rPr lang="en-US" sz="1800" dirty="0" smtClean="0">
                <a:latin typeface="Times New Roman" pitchFamily="18" charset="0"/>
                <a:cs typeface="Times New Roman" pitchFamily="18" charset="0"/>
              </a:rPr>
              <a:t>		     =30500H</a:t>
            </a:r>
          </a:p>
          <a:p>
            <a:pPr>
              <a:buNone/>
            </a:pPr>
            <a:endParaRPr lang="en-US" sz="1800" dirty="0" smtClean="0">
              <a:latin typeface="Times New Roman" pitchFamily="18" charset="0"/>
              <a:cs typeface="Times New Roman" pitchFamily="18" charset="0"/>
            </a:endParaRPr>
          </a:p>
          <a:p>
            <a:pPr>
              <a:buNone/>
            </a:pPr>
            <a:r>
              <a:rPr lang="en-US" sz="1800" dirty="0" smtClean="0">
                <a:solidFill>
                  <a:srgbClr val="C00000"/>
                </a:solidFill>
                <a:latin typeface="Times New Roman" pitchFamily="18" charset="0"/>
                <a:cs typeface="Times New Roman" pitchFamily="18" charset="0"/>
              </a:rPr>
              <a:t>Q2. What is the maximum amount of memory </a:t>
            </a:r>
            <a:r>
              <a:rPr lang="en-US" sz="1800" dirty="0" err="1" smtClean="0">
                <a:solidFill>
                  <a:srgbClr val="C00000"/>
                </a:solidFill>
                <a:latin typeface="Times New Roman" pitchFamily="18" charset="0"/>
                <a:cs typeface="Times New Roman" pitchFamily="18" charset="0"/>
              </a:rPr>
              <a:t>thatcan</a:t>
            </a:r>
            <a:r>
              <a:rPr lang="en-US" sz="1800" dirty="0" smtClean="0">
                <a:solidFill>
                  <a:srgbClr val="C00000"/>
                </a:solidFill>
                <a:latin typeface="Times New Roman" pitchFamily="18" charset="0"/>
                <a:cs typeface="Times New Roman" pitchFamily="18" charset="0"/>
              </a:rPr>
              <a:t> be achieve at a given time in the 8086 .</a:t>
            </a:r>
          </a:p>
          <a:p>
            <a:pPr>
              <a:buNone/>
            </a:pPr>
            <a:r>
              <a:rPr lang="en-US" sz="1800" dirty="0" smtClean="0">
                <a:solidFill>
                  <a:srgbClr val="C00000"/>
                </a:solidFill>
                <a:latin typeface="Times New Roman" pitchFamily="18" charset="0"/>
                <a:cs typeface="Times New Roman" pitchFamily="18" charset="0"/>
              </a:rPr>
              <a:t>Q3.What do SI and DI stands for?</a:t>
            </a:r>
          </a:p>
          <a:p>
            <a:pPr>
              <a:buNone/>
            </a:pPr>
            <a:r>
              <a:rPr lang="en-US" sz="1800" dirty="0" smtClean="0">
                <a:solidFill>
                  <a:srgbClr val="C00000"/>
                </a:solidFill>
                <a:latin typeface="Times New Roman" pitchFamily="18" charset="0"/>
                <a:cs typeface="Times New Roman" pitchFamily="18" charset="0"/>
              </a:rPr>
              <a:t>Q4. What is the difference between SI and DI.</a:t>
            </a:r>
            <a:endParaRPr lang="en-US" sz="1800" dirty="0" smtClean="0">
              <a:solidFill>
                <a:srgbClr val="C00000"/>
              </a:solidFill>
              <a:latin typeface="Times New Roman" pitchFamily="18" charset="0"/>
              <a:cs typeface="Times New Roman" pitchFamily="18" charset="0"/>
            </a:endParaRPr>
          </a:p>
          <a:p>
            <a:pPr>
              <a:buNone/>
            </a:pPr>
            <a:r>
              <a:rPr lang="en-US" sz="1800" dirty="0" smtClean="0">
                <a:latin typeface="Times New Roman" pitchFamily="18" charset="0"/>
                <a:cs typeface="Times New Roman" pitchFamily="18" charset="0"/>
              </a:rPr>
              <a:t> </a:t>
            </a:r>
            <a:r>
              <a:rPr lang="en-US" sz="1800" dirty="0" smtClean="0">
                <a:latin typeface="Times New Roman" pitchFamily="18" charset="0"/>
                <a:cs typeface="Times New Roman" pitchFamily="18" charset="0"/>
              </a:rPr>
              <a:t>      </a:t>
            </a:r>
            <a:endParaRPr lang="en-US" sz="1800" dirty="0" smtClean="0">
              <a:latin typeface="Times New Roman" pitchFamily="18" charset="0"/>
              <a:cs typeface="Times New Roman" pitchFamily="18" charset="0"/>
            </a:endParaRPr>
          </a:p>
          <a:p>
            <a:pPr>
              <a:buNone/>
            </a:pPr>
            <a:endParaRPr lang="en-US" sz="1800" u="sng" dirty="0" smtClean="0">
              <a:latin typeface="Times New Roman" pitchFamily="18" charset="0"/>
              <a:cs typeface="Times New Roman" pitchFamily="18" charset="0"/>
            </a:endParaRPr>
          </a:p>
          <a:p>
            <a:pPr>
              <a:buNone/>
            </a:pPr>
            <a:endParaRPr lang="en-US" sz="1800" u="sng" dirty="0" smtClean="0">
              <a:latin typeface="Times New Roman" pitchFamily="18" charset="0"/>
              <a:cs typeface="Times New Roman" pitchFamily="18" charset="0"/>
            </a:endParaRPr>
          </a:p>
          <a:p>
            <a:pPr>
              <a:buNone/>
            </a:pPr>
            <a:endParaRPr lang="en-US" dirty="0"/>
          </a:p>
        </p:txBody>
      </p:sp>
      <p:sp>
        <p:nvSpPr>
          <p:cNvPr id="4" name="Slide Number Placeholder 3"/>
          <p:cNvSpPr>
            <a:spLocks noGrp="1"/>
          </p:cNvSpPr>
          <p:nvPr>
            <p:ph type="sldNum" sz="quarter" idx="12"/>
          </p:nvPr>
        </p:nvSpPr>
        <p:spPr/>
        <p:txBody>
          <a:bodyPr/>
          <a:lstStyle/>
          <a:p>
            <a:fld id="{1E79AC49-16EF-4FE2-AFCD-22497A2D05A4}" type="slidenum">
              <a:rPr lang="en-US" smtClean="0"/>
              <a:pPr/>
              <a:t>13</a:t>
            </a:fld>
            <a:endParaRPr lang="en-US"/>
          </a:p>
        </p:txBody>
      </p:sp>
      <p:sp>
        <p:nvSpPr>
          <p:cNvPr id="5" name="TextBox 4"/>
          <p:cNvSpPr txBox="1"/>
          <p:nvPr/>
        </p:nvSpPr>
        <p:spPr>
          <a:xfrm>
            <a:off x="3143240" y="1714488"/>
            <a:ext cx="184731" cy="369332"/>
          </a:xfrm>
          <a:prstGeom prst="rect">
            <a:avLst/>
          </a:prstGeom>
          <a:noFill/>
        </p:spPr>
        <p:txBody>
          <a:bodyPr wrap="none" rtlCol="0">
            <a:spAutoFit/>
          </a:bodyPr>
          <a:lstStyle/>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1538" y="142852"/>
            <a:ext cx="7862150" cy="6572296"/>
          </a:xfrm>
        </p:spPr>
        <p:txBody>
          <a:bodyPr/>
          <a:lstStyle/>
          <a:p>
            <a:pPr>
              <a:buNone/>
            </a:pPr>
            <a:r>
              <a:rPr lang="en-US" sz="2000" b="1" u="sng" dirty="0" smtClean="0">
                <a:solidFill>
                  <a:srgbClr val="FF0000"/>
                </a:solidFill>
                <a:latin typeface="Times New Roman" pitchFamily="18" charset="0"/>
                <a:cs typeface="Times New Roman" pitchFamily="18" charset="0"/>
              </a:rPr>
              <a:t>Flag Registers</a:t>
            </a:r>
            <a:r>
              <a:rPr lang="en-US" b="1" dirty="0" smtClean="0"/>
              <a:t> </a:t>
            </a:r>
          </a:p>
          <a:p>
            <a:pPr>
              <a:buFont typeface="Wingdings" pitchFamily="2" charset="2"/>
              <a:buChar char="Ø"/>
            </a:pPr>
            <a:r>
              <a:rPr lang="en-US" sz="2000" dirty="0" smtClean="0">
                <a:latin typeface="Times New Roman" pitchFamily="18" charset="0"/>
                <a:cs typeface="Times New Roman" pitchFamily="18" charset="0"/>
              </a:rPr>
              <a:t>Flags Register determines the current state of the processor.</a:t>
            </a:r>
          </a:p>
          <a:p>
            <a:pPr>
              <a:buFont typeface="Wingdings" pitchFamily="2" charset="2"/>
              <a:buChar char="Ø"/>
            </a:pPr>
            <a:r>
              <a:rPr lang="en-US" sz="2000" dirty="0" smtClean="0">
                <a:latin typeface="Times New Roman" pitchFamily="18" charset="0"/>
                <a:cs typeface="Times New Roman" pitchFamily="18" charset="0"/>
              </a:rPr>
              <a:t>It is also known as </a:t>
            </a:r>
            <a:r>
              <a:rPr lang="en-US" sz="2000" b="1" dirty="0" smtClean="0">
                <a:latin typeface="Times New Roman" pitchFamily="18" charset="0"/>
                <a:cs typeface="Times New Roman" pitchFamily="18" charset="0"/>
              </a:rPr>
              <a:t>Program Status Word. </a:t>
            </a:r>
          </a:p>
          <a:p>
            <a:r>
              <a:rPr lang="en-US" sz="2000" dirty="0" smtClean="0">
                <a:latin typeface="Times New Roman" pitchFamily="18" charset="0"/>
                <a:cs typeface="Times New Roman" pitchFamily="18" charset="0"/>
              </a:rPr>
              <a:t>8086 has 9 flags and they are divided into two categories:</a:t>
            </a:r>
          </a:p>
          <a:p>
            <a:r>
              <a:rPr lang="en-US" sz="2000" dirty="0" smtClean="0">
                <a:latin typeface="Times New Roman" pitchFamily="18" charset="0"/>
                <a:cs typeface="Times New Roman" pitchFamily="18" charset="0"/>
              </a:rPr>
              <a:t>Conditional Flags</a:t>
            </a:r>
          </a:p>
          <a:p>
            <a:r>
              <a:rPr lang="en-US" sz="2000" dirty="0" smtClean="0">
                <a:latin typeface="Times New Roman" pitchFamily="18" charset="0"/>
                <a:cs typeface="Times New Roman" pitchFamily="18" charset="0"/>
              </a:rPr>
              <a:t>Control Flags</a:t>
            </a:r>
          </a:p>
          <a:p>
            <a:pPr>
              <a:buFont typeface="Wingdings" pitchFamily="2" charset="2"/>
              <a:buChar char="Ø"/>
            </a:pPr>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1E79AC49-16EF-4FE2-AFCD-22497A2D05A4}" type="slidenum">
              <a:rPr lang="en-US" smtClean="0"/>
              <a:pPr/>
              <a:t>14</a:t>
            </a:fld>
            <a:endParaRPr lang="en-US"/>
          </a:p>
        </p:txBody>
      </p:sp>
      <p:pic>
        <p:nvPicPr>
          <p:cNvPr id="1026" name="Picture 2"/>
          <p:cNvPicPr>
            <a:picLocks noChangeAspect="1" noChangeArrowheads="1"/>
          </p:cNvPicPr>
          <p:nvPr/>
        </p:nvPicPr>
        <p:blipFill>
          <a:blip r:embed="rId2"/>
          <a:srcRect/>
          <a:stretch>
            <a:fillRect/>
          </a:stretch>
        </p:blipFill>
        <p:spPr bwMode="auto">
          <a:xfrm>
            <a:off x="1571604" y="2857496"/>
            <a:ext cx="6940568" cy="2975970"/>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1538" y="0"/>
            <a:ext cx="7929618" cy="6715148"/>
          </a:xfrm>
        </p:spPr>
        <p:txBody>
          <a:bodyPr>
            <a:normAutofit/>
          </a:bodyPr>
          <a:lstStyle/>
          <a:p>
            <a:endParaRPr lang="en-US" sz="1800" b="1" dirty="0" smtClean="0">
              <a:latin typeface="Times New Roman" pitchFamily="18" charset="0"/>
              <a:ea typeface="Arial Unicode MS" pitchFamily="34" charset="-128"/>
              <a:cs typeface="Times New Roman" pitchFamily="18" charset="0"/>
            </a:endParaRPr>
          </a:p>
          <a:p>
            <a:pPr>
              <a:buNone/>
            </a:pPr>
            <a:r>
              <a:rPr lang="en-US" sz="1800" b="1" u="sng" dirty="0" smtClean="0">
                <a:solidFill>
                  <a:srgbClr val="FF0000"/>
                </a:solidFill>
                <a:latin typeface="Times New Roman" pitchFamily="18" charset="0"/>
                <a:cs typeface="Times New Roman" pitchFamily="18" charset="0"/>
              </a:rPr>
              <a:t>Conditional Flags</a:t>
            </a:r>
          </a:p>
          <a:p>
            <a:pPr>
              <a:buFont typeface="Wingdings" pitchFamily="2" charset="2"/>
              <a:buChar char="Ø"/>
            </a:pPr>
            <a:r>
              <a:rPr lang="en-US" sz="1800" dirty="0" smtClean="0">
                <a:latin typeface="Times New Roman" pitchFamily="18" charset="0"/>
                <a:cs typeface="Times New Roman" pitchFamily="18" charset="0"/>
              </a:rPr>
              <a:t>It has </a:t>
            </a:r>
            <a:r>
              <a:rPr lang="en-US" sz="1800" b="1" dirty="0" smtClean="0">
                <a:latin typeface="Times New Roman" pitchFamily="18" charset="0"/>
                <a:cs typeface="Times New Roman" pitchFamily="18" charset="0"/>
              </a:rPr>
              <a:t>6</a:t>
            </a:r>
            <a:r>
              <a:rPr lang="en-US" sz="1800" dirty="0" smtClean="0">
                <a:latin typeface="Times New Roman" pitchFamily="18" charset="0"/>
                <a:cs typeface="Times New Roman" pitchFamily="18" charset="0"/>
              </a:rPr>
              <a:t> conditional flags.</a:t>
            </a:r>
          </a:p>
          <a:p>
            <a:endParaRPr lang="en-US" sz="1800" b="1" dirty="0" smtClean="0">
              <a:latin typeface="Times New Roman" pitchFamily="18" charset="0"/>
              <a:ea typeface="Arial Unicode MS" pitchFamily="34" charset="-128"/>
              <a:cs typeface="Times New Roman" pitchFamily="18" charset="0"/>
            </a:endParaRPr>
          </a:p>
          <a:p>
            <a:r>
              <a:rPr lang="en-US" sz="1800" b="1" dirty="0" smtClean="0">
                <a:latin typeface="Times New Roman" pitchFamily="18" charset="0"/>
                <a:ea typeface="Arial Unicode MS" pitchFamily="34" charset="-128"/>
                <a:cs typeface="Times New Roman" pitchFamily="18" charset="0"/>
              </a:rPr>
              <a:t>Carry flag(CF)</a:t>
            </a:r>
            <a:r>
              <a:rPr lang="en-US" sz="1800" dirty="0" smtClean="0">
                <a:latin typeface="Times New Roman" pitchFamily="18" charset="0"/>
                <a:ea typeface="Arial Unicode MS" pitchFamily="34" charset="-128"/>
                <a:cs typeface="Times New Roman" pitchFamily="18" charset="0"/>
              </a:rPr>
              <a:t> − This flag indicates an overflow condition for arithmetic operations.</a:t>
            </a:r>
          </a:p>
          <a:p>
            <a:r>
              <a:rPr lang="en-US" sz="1800" b="1" dirty="0" smtClean="0">
                <a:latin typeface="Times New Roman" pitchFamily="18" charset="0"/>
                <a:ea typeface="Arial Unicode MS" pitchFamily="34" charset="-128"/>
                <a:cs typeface="Times New Roman" pitchFamily="18" charset="0"/>
              </a:rPr>
              <a:t>Parity flag(PF)</a:t>
            </a:r>
            <a:r>
              <a:rPr lang="en-US" sz="1800" dirty="0" smtClean="0">
                <a:latin typeface="Times New Roman" pitchFamily="18" charset="0"/>
                <a:ea typeface="Arial Unicode MS" pitchFamily="34" charset="-128"/>
                <a:cs typeface="Times New Roman" pitchFamily="18" charset="0"/>
              </a:rPr>
              <a:t> − This flag is used to indicate the parity of the result, i.e. when the lower order 8-bits of the result contains even number of 1’s, then the Parity Flag is set. For odd number of 1’s, the Parity Flag is reset.</a:t>
            </a:r>
          </a:p>
          <a:p>
            <a:r>
              <a:rPr lang="en-US" sz="1800" b="1" dirty="0" smtClean="0">
                <a:latin typeface="Times New Roman" pitchFamily="18" charset="0"/>
                <a:ea typeface="Arial Unicode MS" pitchFamily="34" charset="-128"/>
                <a:cs typeface="Times New Roman" pitchFamily="18" charset="0"/>
              </a:rPr>
              <a:t>Auxiliary flag</a:t>
            </a:r>
            <a:r>
              <a:rPr lang="en-US" sz="1800" dirty="0" smtClean="0">
                <a:latin typeface="Times New Roman" pitchFamily="18" charset="0"/>
                <a:ea typeface="Arial Unicode MS" pitchFamily="34" charset="-128"/>
                <a:cs typeface="Times New Roman" pitchFamily="18" charset="0"/>
              </a:rPr>
              <a:t> (AF)− When there is a carry/barrow from lower nibble (i.e. D0 – D3) to upper nibble (i.e. D4 – D7), then this flag is set, i.e. carry given by D3 bit to D4 is AF flag. The processor uses this flag to perform binary to BCD conversion.</a:t>
            </a:r>
          </a:p>
          <a:p>
            <a:r>
              <a:rPr lang="en-US" sz="1800" b="1" dirty="0" smtClean="0">
                <a:latin typeface="Times New Roman" pitchFamily="18" charset="0"/>
                <a:ea typeface="Arial Unicode MS" pitchFamily="34" charset="-128"/>
                <a:cs typeface="Times New Roman" pitchFamily="18" charset="0"/>
              </a:rPr>
              <a:t>Zero flag(ZF)</a:t>
            </a:r>
            <a:r>
              <a:rPr lang="en-US" sz="1800" dirty="0" smtClean="0">
                <a:latin typeface="Times New Roman" pitchFamily="18" charset="0"/>
                <a:ea typeface="Arial Unicode MS" pitchFamily="34" charset="-128"/>
                <a:cs typeface="Times New Roman" pitchFamily="18" charset="0"/>
              </a:rPr>
              <a:t> − This flag =1, when the result of arithmetic or logical operation is zero else it is set to 0.</a:t>
            </a:r>
          </a:p>
          <a:p>
            <a:r>
              <a:rPr lang="en-US" sz="1800" b="1" dirty="0" smtClean="0">
                <a:latin typeface="Times New Roman" pitchFamily="18" charset="0"/>
                <a:ea typeface="Arial Unicode MS" pitchFamily="34" charset="-128"/>
                <a:cs typeface="Times New Roman" pitchFamily="18" charset="0"/>
              </a:rPr>
              <a:t>Sign flag(SF)</a:t>
            </a:r>
            <a:r>
              <a:rPr lang="en-US" sz="1800" dirty="0" smtClean="0">
                <a:latin typeface="Times New Roman" pitchFamily="18" charset="0"/>
                <a:ea typeface="Arial Unicode MS" pitchFamily="34" charset="-128"/>
                <a:cs typeface="Times New Roman" pitchFamily="18" charset="0"/>
              </a:rPr>
              <a:t> − This flag holds the sign of the result, i.e. when the result of the operation is negative, then the sign flag is set to 1 else set to 0.</a:t>
            </a:r>
          </a:p>
          <a:p>
            <a:r>
              <a:rPr lang="en-US" sz="1800" b="1" dirty="0" smtClean="0">
                <a:latin typeface="Times New Roman" pitchFamily="18" charset="0"/>
                <a:ea typeface="Arial Unicode MS" pitchFamily="34" charset="-128"/>
                <a:cs typeface="Times New Roman" pitchFamily="18" charset="0"/>
              </a:rPr>
              <a:t>Overflow flag(OF)</a:t>
            </a:r>
            <a:r>
              <a:rPr lang="en-US" sz="1800" dirty="0" smtClean="0">
                <a:latin typeface="Times New Roman" pitchFamily="18" charset="0"/>
                <a:ea typeface="Arial Unicode MS" pitchFamily="34" charset="-128"/>
                <a:cs typeface="Times New Roman" pitchFamily="18" charset="0"/>
              </a:rPr>
              <a:t> − This flag represents the result when the system capacity is exceeded.</a:t>
            </a:r>
          </a:p>
          <a:p>
            <a:pPr>
              <a:buNone/>
            </a:pPr>
            <a:endParaRPr lang="en-US" dirty="0"/>
          </a:p>
        </p:txBody>
      </p:sp>
      <p:sp>
        <p:nvSpPr>
          <p:cNvPr id="4" name="Slide Number Placeholder 3"/>
          <p:cNvSpPr>
            <a:spLocks noGrp="1"/>
          </p:cNvSpPr>
          <p:nvPr>
            <p:ph type="sldNum" sz="quarter" idx="12"/>
          </p:nvPr>
        </p:nvSpPr>
        <p:spPr/>
        <p:txBody>
          <a:bodyPr/>
          <a:lstStyle/>
          <a:p>
            <a:fld id="{1E79AC49-16EF-4FE2-AFCD-22497A2D05A4}"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00100" y="0"/>
            <a:ext cx="7933588" cy="6715148"/>
          </a:xfrm>
        </p:spPr>
        <p:txBody>
          <a:bodyPr>
            <a:normAutofit/>
          </a:bodyPr>
          <a:lstStyle/>
          <a:p>
            <a:pPr algn="just">
              <a:buNone/>
            </a:pPr>
            <a:r>
              <a:rPr lang="en-US" sz="2000" b="1" u="sng" dirty="0" smtClean="0">
                <a:solidFill>
                  <a:srgbClr val="FF0000"/>
                </a:solidFill>
                <a:latin typeface="Times New Roman" pitchFamily="18" charset="0"/>
                <a:cs typeface="Times New Roman" pitchFamily="18" charset="0"/>
              </a:rPr>
              <a:t>Control Flags</a:t>
            </a:r>
          </a:p>
          <a:p>
            <a:pPr algn="just">
              <a:buFont typeface="Wingdings" pitchFamily="2" charset="2"/>
              <a:buChar char="Ø"/>
            </a:pPr>
            <a:r>
              <a:rPr lang="en-US" sz="2000" dirty="0" smtClean="0">
                <a:latin typeface="Times New Roman" pitchFamily="18" charset="0"/>
                <a:cs typeface="Times New Roman" pitchFamily="18" charset="0"/>
              </a:rPr>
              <a:t>It has </a:t>
            </a:r>
            <a:r>
              <a:rPr lang="en-US" sz="2000" b="1" dirty="0" smtClean="0">
                <a:latin typeface="Times New Roman" pitchFamily="18" charset="0"/>
                <a:cs typeface="Times New Roman" pitchFamily="18" charset="0"/>
              </a:rPr>
              <a:t>3</a:t>
            </a:r>
            <a:r>
              <a:rPr lang="en-US" sz="2000" dirty="0" smtClean="0">
                <a:latin typeface="Times New Roman" pitchFamily="18" charset="0"/>
                <a:cs typeface="Times New Roman" pitchFamily="18" charset="0"/>
              </a:rPr>
              <a:t> control flags.</a:t>
            </a:r>
          </a:p>
          <a:p>
            <a:pPr algn="just">
              <a:buFont typeface="Wingdings" pitchFamily="2" charset="2"/>
              <a:buChar char="Ø"/>
            </a:pPr>
            <a:r>
              <a:rPr lang="en-US" sz="2000" dirty="0" smtClean="0">
                <a:latin typeface="Times New Roman" pitchFamily="18" charset="0"/>
                <a:cs typeface="Times New Roman" pitchFamily="18" charset="0"/>
              </a:rPr>
              <a:t>Control flags controls the operations of the execution unit. Following is the list of control flags −</a:t>
            </a:r>
          </a:p>
          <a:p>
            <a:pPr algn="just">
              <a:buNone/>
            </a:pPr>
            <a:endParaRPr lang="en-US" sz="2000" dirty="0" smtClean="0">
              <a:latin typeface="Times New Roman" pitchFamily="18" charset="0"/>
              <a:cs typeface="Times New Roman" pitchFamily="18" charset="0"/>
            </a:endParaRPr>
          </a:p>
          <a:p>
            <a:pPr algn="just"/>
            <a:r>
              <a:rPr lang="en-US" sz="2000" b="1" dirty="0" smtClean="0">
                <a:latin typeface="Times New Roman" pitchFamily="18" charset="0"/>
                <a:cs typeface="Times New Roman" pitchFamily="18" charset="0"/>
              </a:rPr>
              <a:t>Interrupt flag(IF)</a:t>
            </a:r>
            <a:r>
              <a:rPr lang="en-US" sz="2000" dirty="0" smtClean="0">
                <a:latin typeface="Times New Roman" pitchFamily="18" charset="0"/>
                <a:cs typeface="Times New Roman" pitchFamily="18" charset="0"/>
              </a:rPr>
              <a:t> − </a:t>
            </a:r>
          </a:p>
          <a:p>
            <a:pPr algn="just">
              <a:buFont typeface="Wingdings" pitchFamily="2" charset="2"/>
              <a:buChar char="Ø"/>
            </a:pPr>
            <a:r>
              <a:rPr lang="en-US" sz="2000" dirty="0" smtClean="0">
                <a:latin typeface="Times New Roman" pitchFamily="18" charset="0"/>
                <a:cs typeface="Times New Roman" pitchFamily="18" charset="0"/>
              </a:rPr>
              <a:t>It is an interrupt enable/disable flag.</a:t>
            </a:r>
          </a:p>
          <a:p>
            <a:pPr algn="just">
              <a:buFont typeface="Wingdings" pitchFamily="2" charset="2"/>
              <a:buChar char="Ø"/>
            </a:pPr>
            <a:r>
              <a:rPr lang="en-US" sz="2000" dirty="0" smtClean="0">
                <a:latin typeface="Times New Roman" pitchFamily="18" charset="0"/>
                <a:cs typeface="Times New Roman" pitchFamily="18" charset="0"/>
              </a:rPr>
              <a:t>It is set to 1 for interrupt enabled condition and set to 0 for interrupt disabled condition.</a:t>
            </a:r>
          </a:p>
          <a:p>
            <a:pPr algn="just"/>
            <a:r>
              <a:rPr lang="en-US" sz="2000" b="1" dirty="0" smtClean="0">
                <a:latin typeface="Times New Roman" pitchFamily="18" charset="0"/>
                <a:cs typeface="Times New Roman" pitchFamily="18" charset="0"/>
              </a:rPr>
              <a:t>Direction flag(DF)</a:t>
            </a:r>
            <a:r>
              <a:rPr lang="en-US" sz="2000" dirty="0" smtClean="0">
                <a:latin typeface="Times New Roman" pitchFamily="18" charset="0"/>
                <a:cs typeface="Times New Roman" pitchFamily="18" charset="0"/>
              </a:rPr>
              <a:t> − </a:t>
            </a:r>
          </a:p>
          <a:p>
            <a:pPr algn="just">
              <a:buFont typeface="Wingdings" pitchFamily="2" charset="2"/>
              <a:buChar char="Ø"/>
            </a:pPr>
            <a:r>
              <a:rPr lang="en-US" sz="2000" dirty="0" smtClean="0">
                <a:latin typeface="Times New Roman" pitchFamily="18" charset="0"/>
                <a:cs typeface="Times New Roman" pitchFamily="18" charset="0"/>
              </a:rPr>
              <a:t>It is used in string operation. </a:t>
            </a:r>
          </a:p>
          <a:p>
            <a:pPr algn="just">
              <a:buFont typeface="Wingdings" pitchFamily="2" charset="2"/>
              <a:buChar char="Ø"/>
            </a:pPr>
            <a:r>
              <a:rPr lang="en-US" sz="2000" dirty="0" smtClean="0">
                <a:latin typeface="Times New Roman" pitchFamily="18" charset="0"/>
                <a:cs typeface="Times New Roman" pitchFamily="18" charset="0"/>
              </a:rPr>
              <a:t> When set, it causes the string to auto decrement(process string from right to left) otherwise the string process from left to right.</a:t>
            </a:r>
          </a:p>
          <a:p>
            <a:pPr algn="just">
              <a:buNone/>
            </a:pPr>
            <a:r>
              <a:rPr lang="en-US" sz="2000" b="1" dirty="0" smtClean="0">
                <a:latin typeface="Times New Roman" pitchFamily="18" charset="0"/>
                <a:cs typeface="Times New Roman" pitchFamily="18" charset="0"/>
              </a:rPr>
              <a:t>Trap flag(TF)</a:t>
            </a:r>
            <a:r>
              <a:rPr lang="en-US" sz="2000" dirty="0" smtClean="0">
                <a:latin typeface="Times New Roman" pitchFamily="18" charset="0"/>
                <a:cs typeface="Times New Roman" pitchFamily="18" charset="0"/>
              </a:rPr>
              <a:t> − </a:t>
            </a:r>
          </a:p>
          <a:p>
            <a:pPr algn="just">
              <a:buFont typeface="Wingdings" pitchFamily="2" charset="2"/>
              <a:buChar char="Ø"/>
            </a:pPr>
            <a:r>
              <a:rPr lang="en-US" sz="2000" dirty="0" smtClean="0">
                <a:latin typeface="Times New Roman" pitchFamily="18" charset="0"/>
                <a:cs typeface="Times New Roman" pitchFamily="18" charset="0"/>
              </a:rPr>
              <a:t>It is used for single step control and allows the user to execute one instruction at a time for debugging. </a:t>
            </a:r>
          </a:p>
          <a:p>
            <a:pPr algn="just">
              <a:buFont typeface="Wingdings" pitchFamily="2" charset="2"/>
              <a:buChar char="Ø"/>
            </a:pPr>
            <a:r>
              <a:rPr lang="en-US" sz="2000" dirty="0" smtClean="0">
                <a:latin typeface="Times New Roman" pitchFamily="18" charset="0"/>
                <a:cs typeface="Times New Roman" pitchFamily="18" charset="0"/>
              </a:rPr>
              <a:t>If it is set, then the program can be run in a single step mode.</a:t>
            </a:r>
          </a:p>
          <a:p>
            <a:pPr algn="just">
              <a:buFont typeface="Wingdings" pitchFamily="2" charset="2"/>
              <a:buChar char="Ø"/>
            </a:pPr>
            <a:endParaRPr lang="en-US" sz="2000" dirty="0" smtClean="0">
              <a:latin typeface="Times New Roman" pitchFamily="18" charset="0"/>
              <a:cs typeface="Times New Roman" pitchFamily="18" charset="0"/>
            </a:endParaRPr>
          </a:p>
          <a:p>
            <a:pPr algn="just">
              <a:buNone/>
            </a:pPr>
            <a:endParaRPr lang="en-US" dirty="0"/>
          </a:p>
        </p:txBody>
      </p:sp>
      <p:sp>
        <p:nvSpPr>
          <p:cNvPr id="4" name="Slide Number Placeholder 3"/>
          <p:cNvSpPr>
            <a:spLocks noGrp="1"/>
          </p:cNvSpPr>
          <p:nvPr>
            <p:ph type="sldNum" sz="quarter" idx="12"/>
          </p:nvPr>
        </p:nvSpPr>
        <p:spPr/>
        <p:txBody>
          <a:bodyPr/>
          <a:lstStyle/>
          <a:p>
            <a:fld id="{1E79AC49-16EF-4FE2-AFCD-22497A2D05A4}" type="slidenum">
              <a:rPr lang="en-US" smtClean="0"/>
              <a:pPr/>
              <a:t>16</a:t>
            </a:fld>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3727</TotalTime>
  <Words>646</Words>
  <Application>Microsoft Office PowerPoint</Application>
  <PresentationFormat>On-screen Show (4:3)</PresentationFormat>
  <Paragraphs>186</Paragraphs>
  <Slides>16</Slides>
  <Notes>2</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Solstice</vt:lpstr>
      <vt:lpstr>Slide 1</vt:lpstr>
      <vt:lpstr>Introduction</vt:lpstr>
      <vt:lpstr>Difference between 8085 and 8086</vt:lpstr>
      <vt:lpstr>Architecture of 8086 microprocessor:</vt:lpstr>
      <vt:lpstr>Slide 5</vt:lpstr>
      <vt:lpstr>pipelining</vt:lpstr>
      <vt:lpstr>Slide 7</vt:lpstr>
      <vt:lpstr>Slide 8</vt:lpstr>
      <vt:lpstr>Slide 9</vt:lpstr>
      <vt:lpstr>Slide 10</vt:lpstr>
      <vt:lpstr>Slide 11</vt:lpstr>
      <vt:lpstr>Slide 12</vt:lpstr>
      <vt:lpstr>Slide 13</vt:lpstr>
      <vt:lpstr>Slide 14</vt:lpstr>
      <vt:lpstr>Slide 15</vt:lpstr>
      <vt:lpstr>Slide 16</vt:lpstr>
    </vt:vector>
  </TitlesOfParts>
  <Company>Tata Steel</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Kshiramani</dc:creator>
  <cp:lastModifiedBy>Kshiramani</cp:lastModifiedBy>
  <cp:revision>166</cp:revision>
  <dcterms:created xsi:type="dcterms:W3CDTF">2020-09-19T06:55:40Z</dcterms:created>
  <dcterms:modified xsi:type="dcterms:W3CDTF">2020-11-15T17:06:37Z</dcterms:modified>
</cp:coreProperties>
</file>