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60" r:id="rId2"/>
    <p:sldId id="337" r:id="rId3"/>
    <p:sldId id="333" r:id="rId4"/>
    <p:sldId id="338" r:id="rId5"/>
    <p:sldId id="334" r:id="rId6"/>
    <p:sldId id="310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90" d="100"/>
          <a:sy n="90" d="100"/>
        </p:scale>
        <p:origin x="-1234" y="21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8234E5-8504-4330-A12E-6C3403FD2A40}" type="datetimeFigureOut">
              <a:rPr lang="en-US" smtClean="0"/>
              <a:pPr/>
              <a:t>12/27/2020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6E43D-C79D-4B39-8257-5EC2E1B8C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6E43D-C79D-4B39-8257-5EC2E1B8CD3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DAEB126-6801-43E9-A8B3-58C9D3168E6A}" type="datetime1">
              <a:rPr lang="en-US" smtClean="0"/>
              <a:pPr/>
              <a:t>12/27/2020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02DACB8-3BA7-4002-A7AD-C8647D9CA189}" type="datetime1">
              <a:rPr lang="en-US" smtClean="0"/>
              <a:pPr/>
              <a:t>12/27/2020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04AFFFE-839E-42EF-84DD-E0158050FE0F}" type="datetime1">
              <a:rPr lang="en-US" smtClean="0"/>
              <a:pPr/>
              <a:t>12/27/2020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4810B4C-547F-478A-B83B-708C38DE0944}" type="datetime1">
              <a:rPr lang="en-US" smtClean="0"/>
              <a:pPr/>
              <a:t>12/27/2020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D17806-C4D3-4254-B953-9105470292AE}" type="datetime1">
              <a:rPr lang="en-US" smtClean="0"/>
              <a:pPr/>
              <a:t>12/27/2020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6C25880-1A7D-4DEC-B8C2-E79257111B40}" type="datetime1">
              <a:rPr lang="en-US" smtClean="0"/>
              <a:pPr/>
              <a:t>12/27/2020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C967D1-DF5F-467A-BE56-518076760F03}" type="datetime1">
              <a:rPr lang="en-US" smtClean="0"/>
              <a:pPr/>
              <a:t>12/27/2020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1CB778D-2364-4912-8698-387B4C1FC6AB}" type="datetime1">
              <a:rPr lang="en-US" smtClean="0"/>
              <a:pPr/>
              <a:t>12/27/2020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562B2C2-EBA0-4DCA-9606-A50885129859}" type="datetime1">
              <a:rPr lang="en-US" smtClean="0"/>
              <a:pPr/>
              <a:t>12/27/2020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FD5C6E7-F489-4D87-9858-1BB05BD8AF4C}" type="datetime1">
              <a:rPr lang="en-US" smtClean="0"/>
              <a:pPr/>
              <a:t>12/27/2020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076317-255B-493D-A1FF-EBE9A398B387}" type="datetime1">
              <a:rPr lang="en-US" smtClean="0"/>
              <a:pPr/>
              <a:t>12/27/2020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6D59FB09-536B-4489-9409-02A247E91D00}" type="datetime1">
              <a:rPr lang="en-US" smtClean="0"/>
              <a:pPr/>
              <a:t>12/27/2020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571472" y="1714488"/>
            <a:ext cx="8153400" cy="399256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6000" dirty="0" smtClean="0">
                <a:latin typeface="Bernard MT Condensed" pitchFamily="18" charset="0"/>
              </a:rPr>
              <a:t>8051 </a:t>
            </a:r>
            <a:r>
              <a:rPr lang="en-US" sz="6000" smtClean="0">
                <a:latin typeface="Bernard MT Condensed" pitchFamily="18" charset="0"/>
              </a:rPr>
              <a:t>Addressing Modes</a:t>
            </a:r>
            <a:endParaRPr lang="en-US" sz="6000" dirty="0" smtClean="0">
              <a:latin typeface="Bernard MT Condensed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Addressing Modes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>
                <a:solidFill>
                  <a:srgbClr val="FF0000"/>
                </a:solidFill>
              </a:rPr>
              <a:t>Questions: Explain briefly the addressing modes of 8051 with example for each.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2500306"/>
            <a:ext cx="4772025" cy="37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100" y="285728"/>
            <a:ext cx="7498080" cy="51115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Addressing Modes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2976" y="857232"/>
            <a:ext cx="7786742" cy="5715040"/>
          </a:xfrm>
        </p:spPr>
        <p:txBody>
          <a:bodyPr>
            <a:normAutofit/>
          </a:bodyPr>
          <a:lstStyle/>
          <a:p>
            <a:pPr marL="596646" indent="-514350"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various formats/ways for specifying operands in the instruction are called addressing modes.</a:t>
            </a:r>
          </a:p>
          <a:p>
            <a:pPr marL="596646" indent="-514350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596646" indent="-51435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8051 has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five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addressing modes. </a:t>
            </a:r>
          </a:p>
          <a:p>
            <a:pPr marL="596646" indent="-514350">
              <a:buNone/>
            </a:pPr>
            <a:r>
              <a:rPr lang="en-US" sz="3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1. Immediate Addressing: </a:t>
            </a:r>
          </a:p>
          <a:p>
            <a:pPr marL="596646" indent="-514350"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Data is immediately available in the instruction. </a:t>
            </a:r>
          </a:p>
          <a:p>
            <a:pPr marL="596646" indent="-51435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example – </a:t>
            </a:r>
          </a:p>
          <a:p>
            <a:pPr marL="596646" indent="-51435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ADD A, #77; Adds 77 (decimal) to A and stores in A</a:t>
            </a:r>
          </a:p>
          <a:p>
            <a:pPr marL="596646" indent="-51435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 ADD A, #4DH; Adds 4D (hexadecimal) to A and stores in A </a:t>
            </a:r>
          </a:p>
          <a:p>
            <a:pPr marL="596646" indent="-51435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MOV DPTR, #1000H; Moves 1000 (hexadecimal) to data pointer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43636" y="857232"/>
            <a:ext cx="2857520" cy="478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214415" y="714356"/>
            <a:ext cx="3714775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6646" indent="-514350">
              <a:buNone/>
            </a:pPr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2. Register Addressing: </a:t>
            </a:r>
          </a:p>
          <a:p>
            <a:pPr marL="596646" indent="-514350" algn="just"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way of addressing accesses the bytes in the  registers(R0-R7) of the current register bank.</a:t>
            </a:r>
          </a:p>
          <a:p>
            <a:pPr marL="596646" indent="-514350"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596646" indent="-514350" algn="just"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 is available in the register specified in the instruction. </a:t>
            </a:r>
          </a:p>
          <a:p>
            <a:pPr marL="596646" indent="-514350"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596646" indent="-514350" algn="just"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register bank is decided by 2 bits of Processor Status Word (PSW). </a:t>
            </a:r>
          </a:p>
          <a:p>
            <a:pPr marL="596646" indent="-514350" algn="just">
              <a:buFont typeface="Wingdings" pitchFamily="2" charset="2"/>
              <a:buChar char="§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596646" indent="-514350"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 example-</a:t>
            </a:r>
          </a:p>
          <a:p>
            <a:pPr marL="596646" indent="-514350"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ADD A, R0; Adds content of R0 to A and stores in A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214414" y="214290"/>
            <a:ext cx="7719274" cy="603411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3. Direct Addressing: 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 smtClean="0"/>
              <a:t>The address of the operand is available in the instruction. 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 smtClean="0"/>
              <a:t>Direct addressing has operands as byte or bit.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 smtClean="0"/>
              <a:t>Direct addressing of byte provides operation on one of the following:</a:t>
            </a:r>
          </a:p>
          <a:p>
            <a:pPr marL="813816" lvl="1" indent="-457200">
              <a:buAutoNum type="arabicPeriod"/>
            </a:pPr>
            <a:r>
              <a:rPr lang="en-US" sz="1800" dirty="0" smtClean="0"/>
              <a:t>Lower 128 bytes of internal data RAM</a:t>
            </a:r>
          </a:p>
          <a:p>
            <a:pPr marL="813816" lvl="1" indent="-457200">
              <a:buAutoNum type="arabicPeriod"/>
            </a:pPr>
            <a:r>
              <a:rPr lang="en-US" sz="1800" dirty="0" smtClean="0"/>
              <a:t>Special function registers</a:t>
            </a:r>
          </a:p>
          <a:p>
            <a:pPr marL="539496" indent="-457200">
              <a:buFont typeface="Wingdings" pitchFamily="2" charset="2"/>
              <a:buChar char="§"/>
            </a:pPr>
            <a:r>
              <a:rPr lang="en-US" sz="2200" dirty="0" smtClean="0"/>
              <a:t>Direct bit addressing provides operation on the following.</a:t>
            </a:r>
          </a:p>
          <a:p>
            <a:pPr marL="813816" lvl="1" indent="-457200">
              <a:buAutoNum type="arabicPeriod"/>
            </a:pPr>
            <a:r>
              <a:rPr lang="en-US" sz="1800" dirty="0" smtClean="0"/>
              <a:t>128 bits subset of internal data RAM(20H to 2FH)</a:t>
            </a:r>
          </a:p>
          <a:p>
            <a:pPr marL="813816" lvl="1" indent="-457200">
              <a:buAutoNum type="arabicPeriod"/>
            </a:pPr>
            <a:r>
              <a:rPr lang="en-US" sz="1800" dirty="0" smtClean="0"/>
              <a:t>128 bits subset of special function register address space(80HtoFFH)</a:t>
            </a:r>
          </a:p>
          <a:p>
            <a:pPr>
              <a:buNone/>
            </a:pPr>
            <a:r>
              <a:rPr lang="en-US" sz="2200" dirty="0" smtClean="0"/>
              <a:t>For example – </a:t>
            </a:r>
          </a:p>
          <a:p>
            <a:pPr>
              <a:buNone/>
            </a:pPr>
            <a:r>
              <a:rPr lang="en-US" sz="2200" dirty="0" smtClean="0"/>
              <a:t>MOV A, 10H; Moves content of 10H to A</a:t>
            </a:r>
          </a:p>
          <a:p>
            <a:pPr>
              <a:buNone/>
            </a:pPr>
            <a:r>
              <a:rPr lang="en-US" sz="2200" dirty="0" smtClean="0"/>
              <a:t> 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4. Register Indirect Addressing: 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The address of the  operand is not specified directly.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The register indirect addressing uses only register R0,R1 to hold the address of the data in internal RAM. 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These two registers are also referred as pointer  registers or simply pointers.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The symbol @  is used along with R0 and R1to indicate indirect addressing.</a:t>
            </a:r>
          </a:p>
          <a:p>
            <a:pPr>
              <a:buNone/>
            </a:pPr>
            <a:r>
              <a:rPr lang="en-US" sz="2000" dirty="0" smtClean="0"/>
              <a:t>For example – </a:t>
            </a:r>
          </a:p>
          <a:p>
            <a:pPr>
              <a:buNone/>
            </a:pPr>
            <a:r>
              <a:rPr lang="en-US" sz="2000" dirty="0" smtClean="0"/>
              <a:t>MOV A, @R0 moves content of address pointed by R0 to A 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142976" y="285728"/>
            <a:ext cx="78581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b="1" dirty="0" smtClean="0">
                <a:solidFill>
                  <a:srgbClr val="C00000"/>
                </a:solidFill>
              </a:rPr>
              <a:t>Base Register Plus Index Register Indirect Addressing</a:t>
            </a:r>
            <a:endParaRPr lang="en-US" sz="2700" b="1" dirty="0">
              <a:solidFill>
                <a:srgbClr val="C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0100" y="1428736"/>
            <a:ext cx="750099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In the instruction the  operand on which the operation is to be performed,  is not specified directly.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The effective address of the Operand is the sum of a base register and an offset register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either program counter or data pointer is used to hold the base address and Accumulator is used to hold offset address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EX:     </a:t>
            </a:r>
            <a:r>
              <a:rPr lang="en-US" dirty="0" smtClean="0"/>
              <a:t>MOV  </a:t>
            </a:r>
            <a:r>
              <a:rPr lang="en-US" dirty="0" smtClean="0"/>
              <a:t>A, @A+DPTR</a:t>
            </a:r>
          </a:p>
          <a:p>
            <a:r>
              <a:rPr lang="en-US" dirty="0" smtClean="0"/>
              <a:t>	</a:t>
            </a:r>
            <a:r>
              <a:rPr lang="en-US" dirty="0" smtClean="0"/>
              <a:t>MOV </a:t>
            </a:r>
            <a:r>
              <a:rPr lang="en-US" dirty="0" smtClean="0"/>
              <a:t>A, @A+PC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5869</TotalTime>
  <Words>370</Words>
  <Application>Microsoft Office PowerPoint</Application>
  <PresentationFormat>On-screen Show (4:3)</PresentationFormat>
  <Paragraphs>56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Solstice</vt:lpstr>
      <vt:lpstr>Slide 1</vt:lpstr>
      <vt:lpstr>Addressing Modes</vt:lpstr>
      <vt:lpstr>Addressing Modes</vt:lpstr>
      <vt:lpstr>Slide 4</vt:lpstr>
      <vt:lpstr>Slide 5</vt:lpstr>
      <vt:lpstr>Slide 6</vt:lpstr>
    </vt:vector>
  </TitlesOfParts>
  <Company>Tata Steel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Kshiramani</dc:creator>
  <cp:lastModifiedBy>Kshiramani</cp:lastModifiedBy>
  <cp:revision>257</cp:revision>
  <dcterms:created xsi:type="dcterms:W3CDTF">2020-09-19T06:55:40Z</dcterms:created>
  <dcterms:modified xsi:type="dcterms:W3CDTF">2020-12-27T05:32:35Z</dcterms:modified>
</cp:coreProperties>
</file>