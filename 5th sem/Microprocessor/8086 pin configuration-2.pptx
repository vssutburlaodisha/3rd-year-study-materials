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60" r:id="rId2"/>
    <p:sldId id="304" r:id="rId3"/>
    <p:sldId id="297" r:id="rId4"/>
    <p:sldId id="305" r:id="rId5"/>
    <p:sldId id="298" r:id="rId6"/>
    <p:sldId id="306" r:id="rId7"/>
    <p:sldId id="299" r:id="rId8"/>
    <p:sldId id="307" r:id="rId9"/>
    <p:sldId id="308" r:id="rId10"/>
    <p:sldId id="300" r:id="rId11"/>
    <p:sldId id="301" r:id="rId12"/>
    <p:sldId id="302"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946" y="283"/>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8234E5-8504-4330-A12E-6C3403FD2A40}" type="datetimeFigureOut">
              <a:rPr lang="en-US" smtClean="0"/>
              <a:pPr/>
              <a:t>12/17/2020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6E43D-C79D-4B39-8257-5EC2E1B8CD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96E43D-C79D-4B39-8257-5EC2E1B8CD37}"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3DAEB126-6801-43E9-A8B3-58C9D3168E6A}" type="datetime1">
              <a:rPr lang="en-US" smtClean="0"/>
              <a:pPr/>
              <a:t>12/17/2020</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02DACB8-3BA7-4002-A7AD-C8647D9CA189}" type="datetime1">
              <a:rPr lang="en-US" smtClean="0"/>
              <a:pPr/>
              <a:t>12/17/2020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F04AFFFE-839E-42EF-84DD-E0158050FE0F}" type="datetime1">
              <a:rPr lang="en-US" smtClean="0"/>
              <a:pPr/>
              <a:t>12/17/2020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4810B4C-547F-478A-B83B-708C38DE0944}" type="datetime1">
              <a:rPr lang="en-US" smtClean="0"/>
              <a:pPr/>
              <a:t>12/17/2020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AD17806-C4D3-4254-B953-9105470292AE}" type="datetime1">
              <a:rPr lang="en-US" smtClean="0"/>
              <a:pPr/>
              <a:t>12/17/2020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86C25880-1A7D-4DEC-B8C2-E79257111B40}" type="datetime1">
              <a:rPr lang="en-US" smtClean="0"/>
              <a:pPr/>
              <a:t>12/17/2020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C0C967D1-DF5F-467A-BE56-518076760F03}" type="datetime1">
              <a:rPr lang="en-US" smtClean="0"/>
              <a:pPr/>
              <a:t>12/17/2020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1CB778D-2364-4912-8698-387B4C1FC6AB}" type="datetime1">
              <a:rPr lang="en-US" smtClean="0"/>
              <a:pPr/>
              <a:t>12/17/2020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F562B2C2-EBA0-4DCA-9606-A50885129859}" type="datetime1">
              <a:rPr lang="en-US" smtClean="0"/>
              <a:pPr/>
              <a:t>12/17/2020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FD5C6E7-F489-4D87-9858-1BB05BD8AF4C}" type="datetime1">
              <a:rPr lang="en-US" smtClean="0"/>
              <a:pPr/>
              <a:t>12/17/2020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C076317-255B-493D-A1FF-EBE9A398B387}" type="datetime1">
              <a:rPr lang="en-US" smtClean="0"/>
              <a:pPr/>
              <a:t>12/17/2020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D59FB09-536B-4489-9409-02A247E91D00}" type="datetime1">
              <a:rPr lang="en-US" smtClean="0"/>
              <a:pPr/>
              <a:t>12/17/2020</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E79AC49-16EF-4FE2-AFCD-22497A2D05A4}"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571472" y="1714488"/>
            <a:ext cx="8153400" cy="3992563"/>
          </a:xfrm>
        </p:spPr>
        <p:txBody>
          <a:bodyPr>
            <a:normAutofit/>
          </a:bodyPr>
          <a:lstStyle/>
          <a:p>
            <a:pPr algn="ctr">
              <a:buNone/>
            </a:pPr>
            <a:endParaRPr lang="en-US" sz="6000" dirty="0" smtClean="0">
              <a:latin typeface="Bernard MT Condensed" pitchFamily="18" charset="0"/>
            </a:endParaRPr>
          </a:p>
          <a:p>
            <a:pPr algn="ctr">
              <a:buNone/>
            </a:pPr>
            <a:r>
              <a:rPr lang="en-US" sz="6000" dirty="0" smtClean="0">
                <a:latin typeface="Bernard MT Condensed" pitchFamily="18" charset="0"/>
              </a:rPr>
              <a:t>8086 </a:t>
            </a:r>
            <a:r>
              <a:rPr lang="en-US" sz="6000" dirty="0" smtClean="0">
                <a:latin typeface="Bernard MT Condensed" pitchFamily="18" charset="0"/>
              </a:rPr>
              <a:t>Pin Configuration</a:t>
            </a:r>
            <a:endParaRPr lang="en-US" sz="6000" dirty="0">
              <a:latin typeface="Bernard MT Condensed" pitchFamily="18" charset="0"/>
            </a:endParaRPr>
          </a:p>
        </p:txBody>
      </p:sp>
      <p:sp>
        <p:nvSpPr>
          <p:cNvPr id="5" name="Slide Number Placeholder 4"/>
          <p:cNvSpPr>
            <a:spLocks noGrp="1"/>
          </p:cNvSpPr>
          <p:nvPr>
            <p:ph type="sldNum" sz="quarter" idx="12"/>
          </p:nvPr>
        </p:nvSpPr>
        <p:spPr/>
        <p:txBody>
          <a:bodyPr/>
          <a:lstStyle/>
          <a:p>
            <a:fld id="{1E79AC49-16EF-4FE2-AFCD-22497A2D05A4}"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Pin Structure</a:t>
            </a: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2</a:t>
            </a:fld>
            <a:endParaRPr lang="en-US"/>
          </a:p>
        </p:txBody>
      </p:sp>
      <p:pic>
        <p:nvPicPr>
          <p:cNvPr id="7" name="Picture 6" descr="https://www.tutorialspoint.com/assets/questions/media/18939/382.jpg"/>
          <p:cNvPicPr/>
          <p:nvPr/>
        </p:nvPicPr>
        <p:blipFill>
          <a:blip r:embed="rId2"/>
          <a:srcRect/>
          <a:stretch>
            <a:fillRect/>
          </a:stretch>
        </p:blipFill>
        <p:spPr bwMode="auto">
          <a:xfrm>
            <a:off x="5500694" y="1142984"/>
            <a:ext cx="3786214" cy="5072098"/>
          </a:xfrm>
          <a:prstGeom prst="rect">
            <a:avLst/>
          </a:prstGeom>
          <a:noFill/>
          <a:ln w="9525">
            <a:noFill/>
            <a:miter lim="800000"/>
            <a:headEnd/>
            <a:tailEnd/>
          </a:ln>
        </p:spPr>
      </p:pic>
      <p:sp>
        <p:nvSpPr>
          <p:cNvPr id="8" name="TextBox 7"/>
          <p:cNvSpPr txBox="1"/>
          <p:nvPr/>
        </p:nvSpPr>
        <p:spPr>
          <a:xfrm>
            <a:off x="1000100" y="1500174"/>
            <a:ext cx="4500594" cy="4524315"/>
          </a:xfrm>
          <a:prstGeom prst="rect">
            <a:avLst/>
          </a:prstGeom>
          <a:noFill/>
        </p:spPr>
        <p:txBody>
          <a:bodyPr wrap="square" rtlCol="0">
            <a:spAutoFit/>
          </a:bodyPr>
          <a:lstStyle/>
          <a:p>
            <a:pPr algn="just">
              <a:buFont typeface="Wingdings" pitchFamily="2" charset="2"/>
              <a:buChar char="Ø"/>
            </a:pPr>
            <a:r>
              <a:rPr lang="en-US" dirty="0" smtClean="0"/>
              <a:t>It has 40-pin DIP (Dual Inline Package) chip.</a:t>
            </a:r>
          </a:p>
          <a:p>
            <a:pPr algn="just">
              <a:buFont typeface="Wingdings" pitchFamily="2" charset="2"/>
              <a:buChar char="Ø"/>
            </a:pPr>
            <a:r>
              <a:rPr lang="en-US" dirty="0" smtClean="0"/>
              <a:t>The 8086 operates in single processor or multiprocessor configuration to achieve high performance.</a:t>
            </a:r>
          </a:p>
          <a:p>
            <a:pPr algn="just">
              <a:buFont typeface="Wingdings" pitchFamily="2" charset="2"/>
              <a:buChar char="Ø"/>
            </a:pPr>
            <a:r>
              <a:rPr lang="en-US" dirty="0" smtClean="0"/>
              <a:t>The pins serve a particular function in minimum mode (single processor mode ) and other function in maximum mode configuration (multiprocessor mode ).</a:t>
            </a:r>
          </a:p>
          <a:p>
            <a:pPr algn="just">
              <a:buFont typeface="Wingdings" pitchFamily="2" charset="2"/>
              <a:buChar char="Ø"/>
            </a:pPr>
            <a:r>
              <a:rPr lang="en-US" dirty="0" smtClean="0"/>
              <a:t>The 8086 signals can be categorized in </a:t>
            </a:r>
            <a:r>
              <a:rPr lang="en-US" dirty="0" smtClean="0">
                <a:solidFill>
                  <a:srgbClr val="FF0000"/>
                </a:solidFill>
              </a:rPr>
              <a:t>three</a:t>
            </a:r>
            <a:r>
              <a:rPr lang="en-US" dirty="0" smtClean="0"/>
              <a:t> groups:</a:t>
            </a:r>
          </a:p>
          <a:p>
            <a:pPr algn="just">
              <a:buFont typeface="Wingdings" pitchFamily="2" charset="2"/>
              <a:buChar char="§"/>
            </a:pPr>
            <a:r>
              <a:rPr lang="en-US" dirty="0" smtClean="0"/>
              <a:t>The signal having </a:t>
            </a:r>
            <a:r>
              <a:rPr lang="en-US" dirty="0" smtClean="0">
                <a:solidFill>
                  <a:srgbClr val="FF0000"/>
                </a:solidFill>
              </a:rPr>
              <a:t>common functions </a:t>
            </a:r>
            <a:r>
              <a:rPr lang="en-US" dirty="0" smtClean="0"/>
              <a:t>in minimum as well as maximum mode.</a:t>
            </a:r>
          </a:p>
          <a:p>
            <a:pPr algn="just">
              <a:buFont typeface="Wingdings" pitchFamily="2" charset="2"/>
              <a:buChar char="§"/>
            </a:pPr>
            <a:r>
              <a:rPr lang="en-US" dirty="0" smtClean="0"/>
              <a:t>the signals which have </a:t>
            </a:r>
            <a:r>
              <a:rPr lang="en-US" dirty="0" smtClean="0">
                <a:solidFill>
                  <a:srgbClr val="FF0000"/>
                </a:solidFill>
              </a:rPr>
              <a:t>special functions </a:t>
            </a:r>
            <a:r>
              <a:rPr lang="en-US" dirty="0" smtClean="0"/>
              <a:t>for </a:t>
            </a:r>
            <a:r>
              <a:rPr lang="en-US" dirty="0" smtClean="0">
                <a:solidFill>
                  <a:srgbClr val="FF0000"/>
                </a:solidFill>
              </a:rPr>
              <a:t>minimum mode(one processor)</a:t>
            </a:r>
          </a:p>
          <a:p>
            <a:pPr algn="just">
              <a:buFont typeface="Wingdings" pitchFamily="2" charset="2"/>
              <a:buChar char="§"/>
            </a:pPr>
            <a:r>
              <a:rPr lang="en-US" dirty="0" smtClean="0"/>
              <a:t>the signals having </a:t>
            </a:r>
            <a:r>
              <a:rPr lang="en-US" dirty="0" smtClean="0">
                <a:solidFill>
                  <a:srgbClr val="FF0000"/>
                </a:solidFill>
              </a:rPr>
              <a:t>special functions </a:t>
            </a:r>
            <a:r>
              <a:rPr lang="en-US" dirty="0" smtClean="0"/>
              <a:t>for </a:t>
            </a:r>
            <a:r>
              <a:rPr lang="en-US" dirty="0" smtClean="0">
                <a:solidFill>
                  <a:srgbClr val="FF0000"/>
                </a:solidFill>
              </a:rPr>
              <a:t>maximum mode(multiprocessor)</a:t>
            </a:r>
            <a:r>
              <a:rPr lang="en-US" dirty="0" smtClean="0"/>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42976" y="1214422"/>
            <a:ext cx="4214842" cy="5143536"/>
          </a:xfrm>
        </p:spPr>
        <p:txBody>
          <a:bodyPr>
            <a:normAutofit fontScale="85000" lnSpcReduction="20000"/>
          </a:bodyPr>
          <a:lstStyle/>
          <a:p>
            <a:pPr algn="just">
              <a:buFont typeface="Wingdings" pitchFamily="2" charset="2"/>
              <a:buChar char="q"/>
            </a:pPr>
            <a:r>
              <a:rPr lang="en-US" sz="1800" b="1" u="sng" dirty="0" smtClean="0">
                <a:latin typeface="Times New Roman" pitchFamily="18" charset="0"/>
                <a:cs typeface="Times New Roman" pitchFamily="18" charset="0"/>
              </a:rPr>
              <a:t>AD15-AD0:</a:t>
            </a:r>
          </a:p>
          <a:p>
            <a:pPr algn="just">
              <a:buFont typeface="Wingdings" pitchFamily="2" charset="2"/>
              <a:buChar char="ü"/>
            </a:pPr>
            <a:r>
              <a:rPr lang="en-US" sz="1800" dirty="0" smtClean="0">
                <a:latin typeface="Times New Roman" pitchFamily="18" charset="0"/>
                <a:cs typeface="Times New Roman" pitchFamily="18" charset="0"/>
              </a:rPr>
              <a:t>Pins:2-16,39</a:t>
            </a:r>
          </a:p>
          <a:p>
            <a:pPr algn="just">
              <a:buFont typeface="Wingdings" pitchFamily="2" charset="2"/>
              <a:buChar char="ü"/>
            </a:pPr>
            <a:r>
              <a:rPr lang="en-US" sz="1800" dirty="0" smtClean="0">
                <a:latin typeface="Times New Roman" pitchFamily="18" charset="0"/>
                <a:cs typeface="Times New Roman" pitchFamily="18" charset="0"/>
              </a:rPr>
              <a:t>These are bidirectional(used as input and out put),multiplexed memory/input output addresses and data bus pins.</a:t>
            </a:r>
          </a:p>
          <a:p>
            <a:pPr algn="just">
              <a:buFont typeface="Wingdings" pitchFamily="2" charset="2"/>
              <a:buChar char="ü"/>
            </a:pPr>
            <a:r>
              <a:rPr lang="en-US" sz="1800" dirty="0" smtClean="0">
                <a:latin typeface="Times New Roman" pitchFamily="18" charset="0"/>
                <a:cs typeface="Times New Roman" pitchFamily="18" charset="0"/>
              </a:rPr>
              <a:t>AD0-AD7 carries low order byte data and AD8-AD15 carries higher order byte data.</a:t>
            </a:r>
          </a:p>
          <a:p>
            <a:pPr algn="just">
              <a:buFont typeface="Wingdings" pitchFamily="2" charset="2"/>
              <a:buChar char="ü"/>
            </a:pPr>
            <a:r>
              <a:rPr lang="en-US" sz="1800" dirty="0" smtClean="0">
                <a:latin typeface="Times New Roman" pitchFamily="18" charset="0"/>
                <a:cs typeface="Times New Roman" pitchFamily="18" charset="0"/>
              </a:rPr>
              <a:t>During the first clock cycle, it carries 16-bit address and after that it carries 16-bit data.</a:t>
            </a:r>
          </a:p>
          <a:p>
            <a:pPr algn="just">
              <a:buFont typeface="Wingdings" pitchFamily="2" charset="2"/>
              <a:buChar char="q"/>
            </a:pPr>
            <a:r>
              <a:rPr lang="en-US" sz="1800" b="1" u="sng" dirty="0" smtClean="0">
                <a:latin typeface="Times New Roman" pitchFamily="18" charset="0"/>
                <a:cs typeface="Times New Roman" pitchFamily="18" charset="0"/>
              </a:rPr>
              <a:t>A19/S6-A16/S3</a:t>
            </a:r>
          </a:p>
          <a:p>
            <a:pPr algn="just">
              <a:buFont typeface="Wingdings" pitchFamily="2" charset="2"/>
              <a:buChar char="ü"/>
            </a:pPr>
            <a:r>
              <a:rPr lang="en-US" sz="1800" dirty="0" smtClean="0">
                <a:latin typeface="Times New Roman" pitchFamily="18" charset="0"/>
                <a:cs typeface="Times New Roman" pitchFamily="18" charset="0"/>
              </a:rPr>
              <a:t>Pins:35-38</a:t>
            </a:r>
          </a:p>
          <a:p>
            <a:pPr algn="just">
              <a:buFont typeface="Wingdings" pitchFamily="2" charset="2"/>
              <a:buChar char="ü"/>
            </a:pPr>
            <a:r>
              <a:rPr lang="en-US" sz="1800" dirty="0" smtClean="0">
                <a:latin typeface="Times New Roman" pitchFamily="18" charset="0"/>
                <a:cs typeface="Times New Roman" pitchFamily="18" charset="0"/>
              </a:rPr>
              <a:t>A19/S6,A18/S5,A17/S4,A16/S3: These are the time multiplexed address and status lines. </a:t>
            </a:r>
          </a:p>
          <a:p>
            <a:pPr algn="just">
              <a:buFont typeface="Wingdings" pitchFamily="2" charset="2"/>
              <a:buChar char="ü"/>
            </a:pPr>
            <a:r>
              <a:rPr lang="en-US" sz="1800" dirty="0" smtClean="0">
                <a:latin typeface="Times New Roman" pitchFamily="18" charset="0"/>
                <a:cs typeface="Times New Roman" pitchFamily="18" charset="0"/>
              </a:rPr>
              <a:t>During first clock cycle(T1 state) these contain address information.</a:t>
            </a:r>
          </a:p>
          <a:p>
            <a:pPr lvl="1" algn="just">
              <a:buFont typeface="Wingdings" pitchFamily="2" charset="2"/>
              <a:buChar char="§"/>
            </a:pPr>
            <a:r>
              <a:rPr lang="en-US" sz="1400" dirty="0" smtClean="0">
                <a:latin typeface="Times New Roman" pitchFamily="18" charset="0"/>
                <a:cs typeface="Times New Roman" pitchFamily="18" charset="0"/>
              </a:rPr>
              <a:t>High specifies memory operation.</a:t>
            </a:r>
          </a:p>
          <a:p>
            <a:pPr lvl="1" algn="just">
              <a:buFont typeface="Wingdings" pitchFamily="2" charset="2"/>
              <a:buChar char="§"/>
            </a:pPr>
            <a:r>
              <a:rPr lang="en-US" sz="1400" dirty="0" smtClean="0">
                <a:latin typeface="Times New Roman" pitchFamily="18" charset="0"/>
                <a:cs typeface="Times New Roman" pitchFamily="18" charset="0"/>
              </a:rPr>
              <a:t>Low specifies I/O operation.</a:t>
            </a:r>
          </a:p>
          <a:p>
            <a:pPr algn="just">
              <a:buFont typeface="Wingdings" pitchFamily="2" charset="2"/>
              <a:buChar char="ü"/>
            </a:pPr>
            <a:r>
              <a:rPr lang="en-US" sz="1800" dirty="0" smtClean="0">
                <a:latin typeface="Times New Roman" pitchFamily="18" charset="0"/>
                <a:cs typeface="Times New Roman" pitchFamily="18" charset="0"/>
              </a:rPr>
              <a:t> In later part contain status bits.</a:t>
            </a:r>
          </a:p>
          <a:p>
            <a:pPr algn="just">
              <a:buFont typeface="Wingdings" pitchFamily="2" charset="2"/>
              <a:buChar char="ü"/>
            </a:pPr>
            <a:r>
              <a:rPr lang="en-US" sz="1800" dirty="0" smtClean="0">
                <a:latin typeface="Times New Roman" pitchFamily="18" charset="0"/>
                <a:cs typeface="Times New Roman" pitchFamily="18" charset="0"/>
              </a:rPr>
              <a:t>S5 is used to show the status of interrupt flag. At the beginning of each clock cycle.</a:t>
            </a:r>
          </a:p>
          <a:p>
            <a:pPr algn="just">
              <a:buFont typeface="Wingdings" pitchFamily="2" charset="2"/>
              <a:buChar char="ü"/>
            </a:pPr>
            <a:r>
              <a:rPr lang="en-US" sz="1800" dirty="0" smtClean="0">
                <a:latin typeface="Times New Roman" pitchFamily="18" charset="0"/>
                <a:cs typeface="Times New Roman" pitchFamily="18" charset="0"/>
              </a:rPr>
              <a:t>A16/S3 and A17/S4 are encoded according to the table on the right side.</a:t>
            </a:r>
          </a:p>
        </p:txBody>
      </p:sp>
      <p:sp>
        <p:nvSpPr>
          <p:cNvPr id="6" name="Content Placeholder 5"/>
          <p:cNvSpPr>
            <a:spLocks noGrp="1"/>
          </p:cNvSpPr>
          <p:nvPr>
            <p:ph sz="half" idx="2"/>
          </p:nvPr>
        </p:nvSpPr>
        <p:spPr>
          <a:xfrm>
            <a:off x="5500694" y="1524000"/>
            <a:ext cx="3432994" cy="4405330"/>
          </a:xfrm>
        </p:spPr>
        <p:txBody>
          <a:bodyPr>
            <a:normAutofit fontScale="85000" lnSpcReduction="20000"/>
          </a:bodyPr>
          <a:lstStyle/>
          <a:p>
            <a:pPr>
              <a:buNone/>
            </a:pPr>
            <a:r>
              <a:rPr lang="en-US" dirty="0" smtClean="0"/>
              <a:t> </a:t>
            </a:r>
            <a:r>
              <a:rPr lang="en-US" sz="1800" dirty="0" smtClean="0">
                <a:latin typeface="Times New Roman" pitchFamily="18" charset="0"/>
                <a:cs typeface="Times New Roman" pitchFamily="18" charset="0"/>
              </a:rPr>
              <a:t>Function Status of bits S6-S3</a:t>
            </a: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3</a:t>
            </a:fld>
            <a:endParaRPr lang="en-US"/>
          </a:p>
        </p:txBody>
      </p:sp>
      <p:graphicFrame>
        <p:nvGraphicFramePr>
          <p:cNvPr id="1026" name="Object 2"/>
          <p:cNvGraphicFramePr>
            <a:graphicFrameLocks noChangeAspect="1"/>
          </p:cNvGraphicFramePr>
          <p:nvPr/>
        </p:nvGraphicFramePr>
        <p:xfrm>
          <a:off x="5715008" y="2071678"/>
          <a:ext cx="3214710" cy="3000396"/>
        </p:xfrm>
        <a:graphic>
          <a:graphicData uri="http://schemas.openxmlformats.org/presentationml/2006/ole">
            <p:oleObj spid="_x0000_s1026" name="Acrobat Document" r:id="rId3" imgW="6415686" imgH="3093562" progId="AcroExch.Document.DC">
              <p:embed/>
            </p:oleObj>
          </a:graphicData>
        </a:graphic>
      </p:graphicFrame>
      <p:sp>
        <p:nvSpPr>
          <p:cNvPr id="7" name="TextBox 6"/>
          <p:cNvSpPr txBox="1"/>
          <p:nvPr/>
        </p:nvSpPr>
        <p:spPr>
          <a:xfrm>
            <a:off x="2357422" y="714356"/>
            <a:ext cx="4286280" cy="461665"/>
          </a:xfrm>
          <a:prstGeom prst="rect">
            <a:avLst/>
          </a:prstGeom>
          <a:noFill/>
        </p:spPr>
        <p:txBody>
          <a:bodyPr wrap="square" rtlCol="0">
            <a:spAutoFit/>
          </a:bodyPr>
          <a:lstStyle/>
          <a:p>
            <a:r>
              <a:rPr lang="en-US" sz="2400" b="1" u="sng" dirty="0" smtClean="0">
                <a:solidFill>
                  <a:srgbClr val="C00000"/>
                </a:solidFill>
                <a:latin typeface="Times New Roman" pitchFamily="18" charset="0"/>
                <a:cs typeface="Times New Roman" pitchFamily="18" charset="0"/>
              </a:rPr>
              <a:t>Common Pins in 8086</a:t>
            </a:r>
            <a:endParaRPr lang="en-US" sz="2400" b="1" u="sng" dirty="0">
              <a:solidFill>
                <a:srgbClr val="C00000"/>
              </a:solidFill>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2000" b="1" u="sng" dirty="0" err="1" smtClean="0">
                <a:latin typeface="Times New Roman" pitchFamily="18" charset="0"/>
                <a:cs typeface="Times New Roman" pitchFamily="18" charset="0"/>
              </a:rPr>
              <a:t>Vcc</a:t>
            </a:r>
            <a:r>
              <a:rPr lang="en-US" sz="2000" b="1" u="sng" dirty="0" smtClean="0">
                <a:latin typeface="Times New Roman" pitchFamily="18" charset="0"/>
                <a:cs typeface="Times New Roman" pitchFamily="18" charset="0"/>
              </a:rPr>
              <a:t>:</a:t>
            </a:r>
          </a:p>
          <a:p>
            <a:pPr>
              <a:buFont typeface="Wingdings" pitchFamily="2" charset="2"/>
              <a:buChar char="ü"/>
            </a:pPr>
            <a:r>
              <a:rPr lang="en-US" sz="2000" dirty="0" smtClean="0">
                <a:latin typeface="Times New Roman" pitchFamily="18" charset="0"/>
                <a:cs typeface="Times New Roman" pitchFamily="18" charset="0"/>
              </a:rPr>
              <a:t>It uses 5V DC supply at V</a:t>
            </a:r>
            <a:r>
              <a:rPr lang="en-US" sz="2000" baseline="-25000" dirty="0" smtClean="0">
                <a:latin typeface="Times New Roman" pitchFamily="18" charset="0"/>
                <a:cs typeface="Times New Roman" pitchFamily="18" charset="0"/>
              </a:rPr>
              <a:t>CC</a:t>
            </a:r>
            <a:r>
              <a:rPr lang="en-US" sz="2000" dirty="0" smtClean="0">
                <a:latin typeface="Times New Roman" pitchFamily="18" charset="0"/>
                <a:cs typeface="Times New Roman" pitchFamily="18" charset="0"/>
              </a:rPr>
              <a:t> pin 40</a:t>
            </a:r>
          </a:p>
          <a:p>
            <a:pPr>
              <a:buNone/>
            </a:pPr>
            <a:r>
              <a:rPr lang="en-US" sz="2000" b="1" u="sng" dirty="0" smtClean="0">
                <a:latin typeface="Times New Roman" pitchFamily="18" charset="0"/>
                <a:cs typeface="Times New Roman" pitchFamily="18" charset="0"/>
              </a:rPr>
              <a:t>GND</a:t>
            </a:r>
          </a:p>
          <a:p>
            <a:pPr>
              <a:buFont typeface="Wingdings" pitchFamily="2" charset="2"/>
              <a:buChar char="ü"/>
            </a:pPr>
            <a:r>
              <a:rPr lang="en-US" sz="2000" dirty="0" smtClean="0">
                <a:latin typeface="Times New Roman" pitchFamily="18" charset="0"/>
                <a:cs typeface="Times New Roman" pitchFamily="18" charset="0"/>
              </a:rPr>
              <a:t>These are ground at V</a:t>
            </a:r>
            <a:r>
              <a:rPr lang="en-US" sz="2000" baseline="-25000" dirty="0" smtClean="0">
                <a:latin typeface="Times New Roman" pitchFamily="18" charset="0"/>
                <a:cs typeface="Times New Roman" pitchFamily="18" charset="0"/>
              </a:rPr>
              <a:t>SS</a:t>
            </a:r>
            <a:r>
              <a:rPr lang="en-US" sz="2000" dirty="0" smtClean="0">
                <a:latin typeface="Times New Roman" pitchFamily="18" charset="0"/>
                <a:cs typeface="Times New Roman" pitchFamily="18" charset="0"/>
              </a:rPr>
              <a:t> pin 1 and 20.</a:t>
            </a:r>
          </a:p>
          <a:p>
            <a:pPr>
              <a:buNone/>
            </a:pPr>
            <a:r>
              <a:rPr lang="en-US" sz="2000" b="1" u="sng" dirty="0" smtClean="0">
                <a:latin typeface="Times New Roman" pitchFamily="18" charset="0"/>
                <a:cs typeface="Times New Roman" pitchFamily="18" charset="0"/>
              </a:rPr>
              <a:t>Clock</a:t>
            </a:r>
          </a:p>
          <a:p>
            <a:pPr>
              <a:buFont typeface="Wingdings" pitchFamily="2" charset="2"/>
              <a:buChar char="ü"/>
            </a:pPr>
            <a:r>
              <a:rPr lang="en-US" sz="2000" dirty="0" smtClean="0">
                <a:latin typeface="Times New Roman" pitchFamily="18" charset="0"/>
                <a:cs typeface="Times New Roman" pitchFamily="18" charset="0"/>
              </a:rPr>
              <a:t>Clock signal is provided through Pin-19. </a:t>
            </a:r>
          </a:p>
          <a:p>
            <a:pPr>
              <a:buFont typeface="Wingdings" pitchFamily="2" charset="2"/>
              <a:buChar char="ü"/>
            </a:pPr>
            <a:r>
              <a:rPr lang="en-US" sz="2000" dirty="0" smtClean="0">
                <a:latin typeface="Times New Roman" pitchFamily="18" charset="0"/>
                <a:cs typeface="Times New Roman" pitchFamily="18" charset="0"/>
              </a:rPr>
              <a:t>It provides timing to the processor for operations. Its frequency is different for different versions, i.e. 5MHz, 8MHz and 10MHz.</a:t>
            </a: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538" y="142852"/>
            <a:ext cx="7786742" cy="2428892"/>
          </a:xfrm>
        </p:spPr>
        <p:txBody>
          <a:bodyPr>
            <a:noAutofit/>
          </a:bodyPr>
          <a:lstStyle/>
          <a:p>
            <a:pPr>
              <a:buNone/>
            </a:pPr>
            <a:r>
              <a:rPr lang="en-US" sz="1800" b="1" u="sng" dirty="0" smtClean="0">
                <a:latin typeface="Times New Roman" pitchFamily="18" charset="0"/>
                <a:cs typeface="Times New Roman" pitchFamily="18" charset="0"/>
              </a:rPr>
              <a:t>S7/BHE’:</a:t>
            </a:r>
          </a:p>
          <a:p>
            <a:pPr>
              <a:buFont typeface="Wingdings" pitchFamily="2" charset="2"/>
              <a:buChar char="ü"/>
            </a:pPr>
            <a:r>
              <a:rPr lang="en-US" sz="1800" dirty="0" smtClean="0">
                <a:latin typeface="Times New Roman" pitchFamily="18" charset="0"/>
                <a:cs typeface="Times New Roman" pitchFamily="18" charset="0"/>
              </a:rPr>
              <a:t>BHE stands for </a:t>
            </a:r>
            <a:r>
              <a:rPr lang="en-US" sz="1800" b="1" dirty="0" smtClean="0">
                <a:latin typeface="Times New Roman" pitchFamily="18" charset="0"/>
                <a:cs typeface="Times New Roman" pitchFamily="18" charset="0"/>
              </a:rPr>
              <a:t>Bus High Enable</a:t>
            </a:r>
            <a:r>
              <a:rPr lang="en-US" sz="1800" dirty="0" smtClean="0">
                <a:latin typeface="Times New Roman" pitchFamily="18" charset="0"/>
                <a:cs typeface="Times New Roman" pitchFamily="18" charset="0"/>
              </a:rPr>
              <a:t>. </a:t>
            </a:r>
          </a:p>
          <a:p>
            <a:pPr>
              <a:buFont typeface="Wingdings" pitchFamily="2" charset="2"/>
              <a:buChar char="ü"/>
            </a:pPr>
            <a:r>
              <a:rPr lang="en-US" sz="1800" dirty="0" smtClean="0">
                <a:latin typeface="Times New Roman" pitchFamily="18" charset="0"/>
                <a:cs typeface="Times New Roman" pitchFamily="18" charset="0"/>
              </a:rPr>
              <a:t>Pin no:34</a:t>
            </a:r>
          </a:p>
          <a:p>
            <a:pPr>
              <a:buFont typeface="Wingdings" pitchFamily="2" charset="2"/>
              <a:buChar char="ü"/>
            </a:pPr>
            <a:r>
              <a:rPr lang="en-US" sz="1800" dirty="0" smtClean="0">
                <a:latin typeface="Times New Roman" pitchFamily="18" charset="0"/>
                <a:cs typeface="Times New Roman" pitchFamily="18" charset="0"/>
              </a:rPr>
              <a:t>The combination of the BHE signal and S</a:t>
            </a:r>
            <a:r>
              <a:rPr lang="en-US" sz="1800" baseline="-25000" dirty="0" smtClean="0">
                <a:latin typeface="Times New Roman" pitchFamily="18" charset="0"/>
                <a:cs typeface="Times New Roman" pitchFamily="18" charset="0"/>
              </a:rPr>
              <a:t>7</a:t>
            </a:r>
            <a:r>
              <a:rPr lang="en-US" sz="1800" dirty="0" smtClean="0">
                <a:latin typeface="Times New Roman" pitchFamily="18" charset="0"/>
                <a:cs typeface="Times New Roman" pitchFamily="18" charset="0"/>
              </a:rPr>
              <a:t> status informs about the existence of the data on the bus.</a:t>
            </a:r>
          </a:p>
          <a:p>
            <a:pPr>
              <a:buFont typeface="Wingdings" pitchFamily="2" charset="2"/>
              <a:buChar char="ü"/>
            </a:pPr>
            <a:r>
              <a:rPr lang="en-US" sz="1800" dirty="0" smtClean="0">
                <a:latin typeface="Times New Roman" pitchFamily="18" charset="0"/>
                <a:cs typeface="Times New Roman" pitchFamily="18" charset="0"/>
              </a:rPr>
              <a:t>It is used to indicate the transfer of data using data bus D8-D15. </a:t>
            </a:r>
          </a:p>
          <a:p>
            <a:pPr>
              <a:buFont typeface="Wingdings" pitchFamily="2" charset="2"/>
              <a:buChar char="ü"/>
            </a:pPr>
            <a:r>
              <a:rPr lang="en-US" sz="1800" dirty="0" smtClean="0">
                <a:latin typeface="Times New Roman" pitchFamily="18" charset="0"/>
                <a:cs typeface="Times New Roman" pitchFamily="18" charset="0"/>
              </a:rPr>
              <a:t>different combinations show whether the bus is containing overall 16 bit, upper byte or lower byte of the data</a:t>
            </a:r>
          </a:p>
          <a:p>
            <a:pPr>
              <a:buFont typeface="Wingdings" pitchFamily="2" charset="2"/>
              <a:buChar char="ü"/>
            </a:pPr>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r>
            <a:br>
              <a:rPr lang="en-US" sz="1800" dirty="0" smtClean="0">
                <a:latin typeface="Times New Roman" pitchFamily="18" charset="0"/>
                <a:cs typeface="Times New Roman" pitchFamily="18" charset="0"/>
              </a:rPr>
            </a:b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5</a:t>
            </a:fld>
            <a:endParaRPr lang="en-US"/>
          </a:p>
        </p:txBody>
      </p:sp>
      <p:pic>
        <p:nvPicPr>
          <p:cNvPr id="18434" name="Picture 2" descr="V:\vssut\mpmc\BHE-S7.png"/>
          <p:cNvPicPr>
            <a:picLocks noChangeAspect="1" noChangeArrowheads="1"/>
          </p:cNvPicPr>
          <p:nvPr/>
        </p:nvPicPr>
        <p:blipFill>
          <a:blip r:embed="rId2"/>
          <a:srcRect/>
          <a:stretch>
            <a:fillRect/>
          </a:stretch>
        </p:blipFill>
        <p:spPr bwMode="auto">
          <a:xfrm>
            <a:off x="2500298" y="3286124"/>
            <a:ext cx="5143536" cy="2713534"/>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00042"/>
            <a:ext cx="7708392" cy="5500726"/>
          </a:xfrm>
        </p:spPr>
        <p:txBody>
          <a:bodyPr>
            <a:noAutofit/>
          </a:bodyPr>
          <a:lstStyle/>
          <a:p>
            <a:pPr>
              <a:buNone/>
            </a:pPr>
            <a:r>
              <a:rPr lang="en-US" sz="1800" b="1" dirty="0" smtClean="0">
                <a:latin typeface="Times New Roman" pitchFamily="18" charset="0"/>
                <a:cs typeface="Times New Roman" pitchFamily="18" charset="0"/>
              </a:rPr>
              <a:t>INTR</a:t>
            </a:r>
          </a:p>
          <a:p>
            <a:pPr>
              <a:buFont typeface="Wingdings" pitchFamily="2" charset="2"/>
              <a:buChar char="ü"/>
            </a:pPr>
            <a:r>
              <a:rPr lang="en-US" sz="1800" dirty="0" smtClean="0">
                <a:latin typeface="Times New Roman" pitchFamily="18" charset="0"/>
                <a:cs typeface="Times New Roman" pitchFamily="18" charset="0"/>
              </a:rPr>
              <a:t>INTR stands for an interrupt request.</a:t>
            </a:r>
          </a:p>
          <a:p>
            <a:pPr>
              <a:buFont typeface="Wingdings" pitchFamily="2" charset="2"/>
              <a:buChar char="ü"/>
            </a:pPr>
            <a:r>
              <a:rPr lang="en-US" sz="1800" dirty="0" smtClean="0">
                <a:latin typeface="Times New Roman" pitchFamily="18" charset="0"/>
                <a:cs typeface="Times New Roman" pitchFamily="18" charset="0"/>
              </a:rPr>
              <a:t>Pin:18</a:t>
            </a:r>
          </a:p>
          <a:p>
            <a:pPr>
              <a:buFont typeface="Wingdings" pitchFamily="2" charset="2"/>
              <a:buChar char="ü"/>
            </a:pPr>
            <a:r>
              <a:rPr lang="en-US" sz="1800" dirty="0" smtClean="0">
                <a:latin typeface="Times New Roman" pitchFamily="18" charset="0"/>
                <a:cs typeface="Times New Roman" pitchFamily="18" charset="0"/>
              </a:rPr>
              <a:t>It is sampled during the last clock cycle of each instruction by the processor.</a:t>
            </a:r>
          </a:p>
          <a:p>
            <a:pPr>
              <a:buFont typeface="Wingdings" pitchFamily="2" charset="2"/>
              <a:buChar char="ü"/>
            </a:pPr>
            <a:r>
              <a:rPr lang="en-US" sz="1800" dirty="0" smtClean="0">
                <a:latin typeface="Times New Roman" pitchFamily="18" charset="0"/>
                <a:cs typeface="Times New Roman" pitchFamily="18" charset="0"/>
              </a:rPr>
              <a:t> if the signal at this pin is found to be high then the processor controls that interrupt internally.</a:t>
            </a:r>
            <a:endParaRPr lang="en-US" sz="1800" b="1" u="sng" dirty="0" smtClean="0">
              <a:latin typeface="Times New Roman" pitchFamily="18" charset="0"/>
              <a:cs typeface="Times New Roman" pitchFamily="18" charset="0"/>
            </a:endParaRPr>
          </a:p>
          <a:p>
            <a:pPr>
              <a:buNone/>
            </a:pPr>
            <a:r>
              <a:rPr lang="en-US" sz="1800" b="1" u="sng" dirty="0" smtClean="0">
                <a:latin typeface="Times New Roman" pitchFamily="18" charset="0"/>
                <a:cs typeface="Times New Roman" pitchFamily="18" charset="0"/>
              </a:rPr>
              <a:t>Read(RD)’</a:t>
            </a:r>
          </a:p>
          <a:p>
            <a:pPr>
              <a:buFont typeface="Wingdings" pitchFamily="2" charset="2"/>
              <a:buChar char="ü"/>
            </a:pPr>
            <a:r>
              <a:rPr lang="en-US" sz="1800" dirty="0" smtClean="0">
                <a:latin typeface="Times New Roman" pitchFamily="18" charset="0"/>
                <a:cs typeface="Times New Roman" pitchFamily="18" charset="0"/>
              </a:rPr>
              <a:t>It is available at pin 32 </a:t>
            </a:r>
          </a:p>
          <a:p>
            <a:pPr>
              <a:buFont typeface="Wingdings" pitchFamily="2" charset="2"/>
              <a:buChar char="ü"/>
            </a:pPr>
            <a:r>
              <a:rPr lang="en-US" sz="1800" dirty="0" smtClean="0">
                <a:latin typeface="Times New Roman" pitchFamily="18" charset="0"/>
                <a:cs typeface="Times New Roman" pitchFamily="18" charset="0"/>
              </a:rPr>
              <a:t>It is low  when it is receiving the data from memory/IO, </a:t>
            </a:r>
          </a:p>
          <a:p>
            <a:pPr>
              <a:buNone/>
            </a:pPr>
            <a:r>
              <a:rPr lang="en-US" sz="1800" dirty="0" smtClean="0">
                <a:latin typeface="Times New Roman" pitchFamily="18" charset="0"/>
                <a:cs typeface="Times New Roman" pitchFamily="18" charset="0"/>
              </a:rPr>
              <a:t> </a:t>
            </a:r>
            <a:r>
              <a:rPr lang="en-US" sz="1800" b="1" u="sng" dirty="0" smtClean="0">
                <a:latin typeface="Times New Roman" pitchFamily="18" charset="0"/>
                <a:cs typeface="Times New Roman" pitchFamily="18" charset="0"/>
              </a:rPr>
              <a:t>𝐑𝐞𝐚𝐝𝐲</a:t>
            </a:r>
          </a:p>
          <a:p>
            <a:pPr>
              <a:buFont typeface="Wingdings" pitchFamily="2" charset="2"/>
              <a:buChar char="ü"/>
            </a:pPr>
            <a:r>
              <a:rPr lang="en-US" sz="1800" dirty="0" smtClean="0">
                <a:latin typeface="Times New Roman" pitchFamily="18" charset="0"/>
                <a:cs typeface="Times New Roman" pitchFamily="18" charset="0"/>
              </a:rPr>
              <a:t>It is available at pin 32.</a:t>
            </a:r>
          </a:p>
          <a:p>
            <a:pPr>
              <a:buFont typeface="Wingdings" pitchFamily="2" charset="2"/>
              <a:buChar char="ü"/>
            </a:pPr>
            <a:r>
              <a:rPr lang="en-US" sz="1800" dirty="0" smtClean="0">
                <a:latin typeface="Times New Roman" pitchFamily="18" charset="0"/>
                <a:cs typeface="Times New Roman" pitchFamily="18" charset="0"/>
              </a:rPr>
              <a:t> It is an active high signal. When it is </a:t>
            </a:r>
            <a:r>
              <a:rPr lang="en-US" sz="1800" b="1" dirty="0" smtClean="0">
                <a:latin typeface="Times New Roman" pitchFamily="18" charset="0"/>
                <a:cs typeface="Times New Roman" pitchFamily="18" charset="0"/>
              </a:rPr>
              <a:t>high</a:t>
            </a:r>
            <a:r>
              <a:rPr lang="en-US" sz="1800" dirty="0" smtClean="0">
                <a:latin typeface="Times New Roman" pitchFamily="18" charset="0"/>
                <a:cs typeface="Times New Roman" pitchFamily="18" charset="0"/>
              </a:rPr>
              <a:t>, it indicates that the device is ready to transfer data. When it is </a:t>
            </a:r>
            <a:r>
              <a:rPr lang="en-US" sz="1800" b="1" dirty="0" smtClean="0">
                <a:latin typeface="Times New Roman" pitchFamily="18" charset="0"/>
                <a:cs typeface="Times New Roman" pitchFamily="18" charset="0"/>
              </a:rPr>
              <a:t>low</a:t>
            </a:r>
            <a:r>
              <a:rPr lang="en-US" sz="1800" dirty="0" smtClean="0">
                <a:latin typeface="Times New Roman" pitchFamily="18" charset="0"/>
                <a:cs typeface="Times New Roman" pitchFamily="18" charset="0"/>
              </a:rPr>
              <a:t>, it indicates wait state. </a:t>
            </a:r>
            <a:br>
              <a:rPr lang="en-US" sz="1800" dirty="0" smtClean="0">
                <a:latin typeface="Times New Roman" pitchFamily="18" charset="0"/>
                <a:cs typeface="Times New Roman" pitchFamily="18" charset="0"/>
              </a:rPr>
            </a:br>
            <a:r>
              <a:rPr lang="en-US" sz="1800" b="1" u="sng" dirty="0" smtClean="0">
                <a:latin typeface="Times New Roman" pitchFamily="18" charset="0"/>
                <a:cs typeface="Times New Roman" pitchFamily="18" charset="0"/>
              </a:rPr>
              <a:t>RESET</a:t>
            </a:r>
          </a:p>
          <a:p>
            <a:pPr>
              <a:buFont typeface="Wingdings" pitchFamily="2" charset="2"/>
              <a:buChar char="ü"/>
            </a:pPr>
            <a:r>
              <a:rPr lang="en-US" sz="1800" dirty="0" smtClean="0">
                <a:latin typeface="Times New Roman" pitchFamily="18" charset="0"/>
                <a:cs typeface="Times New Roman" pitchFamily="18" charset="0"/>
              </a:rPr>
              <a:t>It is available at pin 21 and is used to restart the execution.</a:t>
            </a:r>
          </a:p>
          <a:p>
            <a:pPr>
              <a:buFont typeface="Wingdings" pitchFamily="2" charset="2"/>
              <a:buChar char="ü"/>
            </a:pPr>
            <a:r>
              <a:rPr lang="en-US" sz="1800" dirty="0" smtClean="0">
                <a:latin typeface="Times New Roman" pitchFamily="18" charset="0"/>
                <a:cs typeface="Times New Roman" pitchFamily="18" charset="0"/>
              </a:rPr>
              <a:t> It causes the processor to immediately terminate its present activity. </a:t>
            </a: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538" y="0"/>
            <a:ext cx="7862150" cy="6248400"/>
          </a:xfrm>
        </p:spPr>
        <p:txBody>
          <a:bodyPr>
            <a:normAutofit/>
          </a:bodyPr>
          <a:lstStyle/>
          <a:p>
            <a:pPr>
              <a:buNone/>
            </a:pPr>
            <a:endParaRPr lang="en-US" sz="1600" b="1"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Font typeface="Wingdings" pitchFamily="2" charset="2"/>
              <a:buChar char="q"/>
            </a:pPr>
            <a:r>
              <a:rPr lang="en-US" sz="1600" b="1" dirty="0" smtClean="0">
                <a:latin typeface="Times New Roman" pitchFamily="18" charset="0"/>
                <a:cs typeface="Times New Roman" pitchFamily="18" charset="0"/>
              </a:rPr>
              <a:t>NMI</a:t>
            </a:r>
          </a:p>
          <a:p>
            <a:pPr>
              <a:buFont typeface="Wingdings" pitchFamily="2" charset="2"/>
              <a:buChar char="ü"/>
            </a:pPr>
            <a:r>
              <a:rPr lang="en-US" sz="1600" dirty="0" smtClean="0">
                <a:latin typeface="Times New Roman" pitchFamily="18" charset="0"/>
                <a:cs typeface="Times New Roman" pitchFamily="18" charset="0"/>
              </a:rPr>
              <a:t>It stands for non-</a:t>
            </a:r>
            <a:r>
              <a:rPr lang="en-US" sz="1600" dirty="0" err="1" smtClean="0">
                <a:latin typeface="Times New Roman" pitchFamily="18" charset="0"/>
                <a:cs typeface="Times New Roman" pitchFamily="18" charset="0"/>
              </a:rPr>
              <a:t>maskable</a:t>
            </a:r>
            <a:r>
              <a:rPr lang="en-US" sz="1600" dirty="0" smtClean="0">
                <a:latin typeface="Times New Roman" pitchFamily="18" charset="0"/>
                <a:cs typeface="Times New Roman" pitchFamily="18" charset="0"/>
              </a:rPr>
              <a:t> interrupt and is available at pin 17. </a:t>
            </a:r>
          </a:p>
          <a:p>
            <a:pPr>
              <a:buFont typeface="Wingdings" pitchFamily="2" charset="2"/>
              <a:buChar char="ü"/>
            </a:pPr>
            <a:r>
              <a:rPr lang="en-US" sz="1600" dirty="0" smtClean="0">
                <a:latin typeface="Times New Roman" pitchFamily="18" charset="0"/>
                <a:cs typeface="Times New Roman" pitchFamily="18" charset="0"/>
              </a:rPr>
              <a:t>It is an edge triggered input, which causes an interrupt request to the microprocessor.</a:t>
            </a:r>
            <a:br>
              <a:rPr lang="en-US" sz="1600" dirty="0" smtClean="0">
                <a:latin typeface="Times New Roman" pitchFamily="18" charset="0"/>
                <a:cs typeface="Times New Roman" pitchFamily="18" charset="0"/>
              </a:rPr>
            </a:br>
            <a:endParaRPr lang="en-US" sz="1600" dirty="0" smtClean="0">
              <a:latin typeface="Times New Roman" pitchFamily="18" charset="0"/>
              <a:cs typeface="Times New Roman" pitchFamily="18" charset="0"/>
            </a:endParaRPr>
          </a:p>
          <a:p>
            <a:pPr>
              <a:buFont typeface="Wingdings" pitchFamily="2" charset="2"/>
              <a:buChar char="q"/>
            </a:pPr>
            <a:r>
              <a:rPr lang="en-US" sz="1600" b="1" dirty="0" smtClean="0">
                <a:latin typeface="Times New Roman" pitchFamily="18" charset="0"/>
                <a:cs typeface="Times New Roman" pitchFamily="18" charset="0"/>
              </a:rPr>
              <a:t>TEST’</a:t>
            </a:r>
          </a:p>
          <a:p>
            <a:pPr>
              <a:buFont typeface="Wingdings" pitchFamily="2" charset="2"/>
              <a:buChar char="ü"/>
            </a:pPr>
            <a:r>
              <a:rPr lang="en-US" sz="1600" dirty="0" smtClean="0">
                <a:latin typeface="Times New Roman" pitchFamily="18" charset="0"/>
                <a:cs typeface="Times New Roman" pitchFamily="18" charset="0"/>
              </a:rPr>
              <a:t>This signal is like wait state and is available at pin 23. </a:t>
            </a:r>
          </a:p>
          <a:p>
            <a:pPr>
              <a:buFont typeface="Wingdings" pitchFamily="2" charset="2"/>
              <a:buChar char="ü"/>
            </a:pPr>
            <a:r>
              <a:rPr lang="en-US" sz="1600" dirty="0" smtClean="0">
                <a:latin typeface="Times New Roman" pitchFamily="18" charset="0"/>
                <a:cs typeface="Times New Roman" pitchFamily="18" charset="0"/>
              </a:rPr>
              <a:t>When this signal is </a:t>
            </a:r>
            <a:r>
              <a:rPr lang="en-US" sz="1600" b="1" dirty="0" smtClean="0">
                <a:latin typeface="Times New Roman" pitchFamily="18" charset="0"/>
                <a:cs typeface="Times New Roman" pitchFamily="18" charset="0"/>
              </a:rPr>
              <a:t>high</a:t>
            </a:r>
            <a:r>
              <a:rPr lang="en-US" sz="1600" dirty="0" smtClean="0">
                <a:latin typeface="Times New Roman" pitchFamily="18" charset="0"/>
                <a:cs typeface="Times New Roman" pitchFamily="18" charset="0"/>
              </a:rPr>
              <a:t>, then the processor has to wait for </a:t>
            </a:r>
            <a:r>
              <a:rPr lang="en-US" sz="1600" b="1" dirty="0" smtClean="0">
                <a:latin typeface="Times New Roman" pitchFamily="18" charset="0"/>
                <a:cs typeface="Times New Roman" pitchFamily="18" charset="0"/>
              </a:rPr>
              <a:t>IDLE </a:t>
            </a:r>
            <a:r>
              <a:rPr lang="en-US" sz="1600" dirty="0" smtClean="0">
                <a:latin typeface="Times New Roman" pitchFamily="18" charset="0"/>
                <a:cs typeface="Times New Roman" pitchFamily="18" charset="0"/>
              </a:rPr>
              <a:t>state, when goes low, the execution continues.</a:t>
            </a:r>
          </a:p>
          <a:p>
            <a:pPr>
              <a:buNone/>
            </a:pPr>
            <a:r>
              <a:rPr lang="en-US" sz="1600" b="1" dirty="0" smtClean="0">
                <a:latin typeface="Times New Roman" pitchFamily="18" charset="0"/>
                <a:cs typeface="Times New Roman" pitchFamily="18" charset="0"/>
              </a:rPr>
              <a:t>MN/MX’</a:t>
            </a:r>
          </a:p>
          <a:p>
            <a:pPr>
              <a:buFont typeface="Wingdings" pitchFamily="2" charset="2"/>
              <a:buChar char="ü"/>
            </a:pPr>
            <a:r>
              <a:rPr lang="en-US" sz="1600" dirty="0" smtClean="0">
                <a:latin typeface="Times New Roman" pitchFamily="18" charset="0"/>
                <a:cs typeface="Times New Roman" pitchFamily="18" charset="0"/>
              </a:rPr>
              <a:t>It stands for Minimum/Maximum and is available at pin 33. </a:t>
            </a:r>
          </a:p>
          <a:p>
            <a:pPr>
              <a:buFont typeface="Wingdings" pitchFamily="2" charset="2"/>
              <a:buChar char="ü"/>
            </a:pPr>
            <a:r>
              <a:rPr lang="en-US" sz="1600" dirty="0" smtClean="0">
                <a:latin typeface="Times New Roman" pitchFamily="18" charset="0"/>
                <a:cs typeface="Times New Roman" pitchFamily="18" charset="0"/>
              </a:rPr>
              <a:t>It indicates what mode the processor is to operate in; when it is high, it works in the minimum mode and vice-versa.</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52" y="642918"/>
            <a:ext cx="7498080" cy="642918"/>
          </a:xfrm>
        </p:spPr>
        <p:txBody>
          <a:bodyPr>
            <a:normAutofit fontScale="90000"/>
          </a:bodyPr>
          <a:lstStyle/>
          <a:p>
            <a:r>
              <a:rPr lang="en-US" dirty="0" smtClean="0"/>
              <a:t>Pins in Minimum mode</a:t>
            </a:r>
            <a:br>
              <a:rPr lang="en-US" dirty="0" smtClean="0"/>
            </a:br>
            <a:endParaRPr lang="en-US" dirty="0"/>
          </a:p>
        </p:txBody>
      </p:sp>
      <p:sp>
        <p:nvSpPr>
          <p:cNvPr id="3" name="Content Placeholder 2"/>
          <p:cNvSpPr>
            <a:spLocks noGrp="1"/>
          </p:cNvSpPr>
          <p:nvPr>
            <p:ph idx="1"/>
          </p:nvPr>
        </p:nvSpPr>
        <p:spPr>
          <a:xfrm>
            <a:off x="1357290" y="1000108"/>
            <a:ext cx="7576398" cy="5248292"/>
          </a:xfrm>
        </p:spPr>
        <p:txBody>
          <a:bodyPr>
            <a:noAutofit/>
          </a:bodyPr>
          <a:lstStyle/>
          <a:p>
            <a:pPr fontAlgn="base"/>
            <a:r>
              <a:rPr lang="en-US" sz="2000" b="1" dirty="0" smtClean="0">
                <a:latin typeface="Times New Roman" pitchFamily="18" charset="0"/>
                <a:cs typeface="Times New Roman" pitchFamily="18" charset="0"/>
              </a:rPr>
              <a:t>INTA’</a:t>
            </a:r>
            <a:r>
              <a:rPr lang="en-US" sz="2000"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Pin number 24)</a:t>
            </a:r>
          </a:p>
          <a:p>
            <a:pPr fontAlgn="base">
              <a:buFont typeface="Wingdings" pitchFamily="2" charset="2"/>
              <a:buChar char="ü"/>
            </a:pPr>
            <a:r>
              <a:rPr lang="en-US" sz="2000" dirty="0" smtClean="0">
                <a:latin typeface="Times New Roman" pitchFamily="18" charset="0"/>
                <a:cs typeface="Times New Roman" pitchFamily="18" charset="0"/>
              </a:rPr>
              <a:t>It is an interrupt acknowledge pin. </a:t>
            </a:r>
          </a:p>
          <a:p>
            <a:pPr fontAlgn="base">
              <a:buFont typeface="Wingdings" pitchFamily="2" charset="2"/>
              <a:buChar char="ü"/>
            </a:pPr>
            <a:r>
              <a:rPr lang="en-US" sz="2000" dirty="0" smtClean="0">
                <a:latin typeface="Times New Roman" pitchFamily="18" charset="0"/>
                <a:cs typeface="Times New Roman" pitchFamily="18" charset="0"/>
              </a:rPr>
              <a:t>Whenever an INTR signal is generated, then the microprocessor generates INTA signal, as a response to that interrupt.</a:t>
            </a:r>
          </a:p>
          <a:p>
            <a:pPr fontAlgn="base">
              <a:buFont typeface="Wingdings" pitchFamily="2" charset="2"/>
              <a:buChar char="ü"/>
            </a:pPr>
            <a:r>
              <a:rPr lang="en-US" sz="2000" dirty="0" smtClean="0">
                <a:latin typeface="Times New Roman" pitchFamily="18" charset="0"/>
                <a:cs typeface="Times New Roman" pitchFamily="18" charset="0"/>
              </a:rPr>
              <a:t>INTA is low in two consecutive bus cycles.</a:t>
            </a:r>
          </a:p>
          <a:p>
            <a:pPr fontAlgn="base">
              <a:buFont typeface="Wingdings" pitchFamily="2" charset="2"/>
              <a:buChar char="ü"/>
            </a:pPr>
            <a:r>
              <a:rPr lang="en-US" sz="2000" dirty="0" smtClean="0">
                <a:latin typeface="Times New Roman" pitchFamily="18" charset="0"/>
                <a:cs typeface="Times New Roman" pitchFamily="18" charset="0"/>
              </a:rPr>
              <a:t>The first pulse indicates interrupt acknowledgement and during second pulse, type of interrupt is shown on the data bus.</a:t>
            </a:r>
          </a:p>
          <a:p>
            <a:pPr fontAlgn="base"/>
            <a:r>
              <a:rPr lang="en-US" sz="2000" b="1" dirty="0" smtClean="0">
                <a:latin typeface="Times New Roman" pitchFamily="18" charset="0"/>
                <a:cs typeface="Times New Roman" pitchFamily="18" charset="0"/>
              </a:rPr>
              <a:t>ALE</a:t>
            </a:r>
            <a:r>
              <a:rPr lang="en-US" sz="2000" dirty="0" smtClean="0">
                <a:latin typeface="Times New Roman" pitchFamily="18" charset="0"/>
                <a:cs typeface="Times New Roman" pitchFamily="18" charset="0"/>
              </a:rPr>
              <a:t> – </a:t>
            </a:r>
            <a:r>
              <a:rPr lang="en-US" sz="2000" b="1" i="1" dirty="0" smtClean="0">
                <a:latin typeface="Times New Roman" pitchFamily="18" charset="0"/>
                <a:cs typeface="Times New Roman" pitchFamily="18" charset="0"/>
              </a:rPr>
              <a:t>Pin number 25</a:t>
            </a:r>
            <a:r>
              <a:rPr lang="en-US" sz="2000" dirty="0" smtClean="0">
                <a:latin typeface="Times New Roman" pitchFamily="18" charset="0"/>
                <a:cs typeface="Times New Roman" pitchFamily="18" charset="0"/>
              </a:rPr>
              <a:t> </a:t>
            </a:r>
          </a:p>
          <a:p>
            <a:pPr fontAlgn="base">
              <a:buFont typeface="Wingdings" pitchFamily="2" charset="2"/>
              <a:buChar char="ü"/>
            </a:pPr>
            <a:r>
              <a:rPr lang="en-US" sz="2000" dirty="0" smtClean="0">
                <a:latin typeface="Times New Roman" pitchFamily="18" charset="0"/>
                <a:cs typeface="Times New Roman" pitchFamily="18" charset="0"/>
              </a:rPr>
              <a:t> ALE is an abbreviation for address latch enable. </a:t>
            </a:r>
          </a:p>
          <a:p>
            <a:pPr fontAlgn="base">
              <a:buFont typeface="Wingdings" pitchFamily="2" charset="2"/>
              <a:buChar char="ü"/>
            </a:pPr>
            <a:r>
              <a:rPr lang="en-US" sz="2000" dirty="0" smtClean="0">
                <a:latin typeface="Times New Roman" pitchFamily="18" charset="0"/>
                <a:cs typeface="Times New Roman" pitchFamily="18" charset="0"/>
              </a:rPr>
              <a:t>when pulse goes high means </a:t>
            </a:r>
            <a:r>
              <a:rPr lang="en-US" sz="2000" b="1" dirty="0" smtClean="0">
                <a:latin typeface="Times New Roman" pitchFamily="18" charset="0"/>
                <a:cs typeface="Times New Roman" pitchFamily="18" charset="0"/>
              </a:rPr>
              <a:t>ALE</a:t>
            </a:r>
            <a:r>
              <a:rPr lang="en-US" sz="2000" dirty="0" smtClean="0">
                <a:latin typeface="Times New Roman" pitchFamily="18" charset="0"/>
                <a:cs typeface="Times New Roman" pitchFamily="18" charset="0"/>
              </a:rPr>
              <a:t>=1, it makes address bus enable and when </a:t>
            </a:r>
            <a:r>
              <a:rPr lang="en-US" sz="2000" b="1" dirty="0" smtClean="0">
                <a:latin typeface="Times New Roman" pitchFamily="18" charset="0"/>
                <a:cs typeface="Times New Roman" pitchFamily="18" charset="0"/>
              </a:rPr>
              <a:t>ALE</a:t>
            </a:r>
            <a:r>
              <a:rPr lang="en-US" sz="2000" dirty="0" smtClean="0">
                <a:latin typeface="Times New Roman" pitchFamily="18" charset="0"/>
                <a:cs typeface="Times New Roman" pitchFamily="18" charset="0"/>
              </a:rPr>
              <a:t>=0, means low pulse makes data bus enable.</a:t>
            </a:r>
          </a:p>
          <a:p>
            <a:pPr fontAlgn="base">
              <a:buNone/>
            </a:pPr>
            <a:r>
              <a:rPr lang="en-US" sz="2000" b="1" dirty="0" smtClean="0">
                <a:latin typeface="Times New Roman" pitchFamily="18" charset="0"/>
                <a:cs typeface="Times New Roman" pitchFamily="18" charset="0"/>
              </a:rPr>
              <a:t>DEN’</a:t>
            </a:r>
            <a:r>
              <a:rPr lang="en-US" sz="2000" dirty="0" smtClean="0">
                <a:latin typeface="Times New Roman" pitchFamily="18" charset="0"/>
                <a:cs typeface="Times New Roman" pitchFamily="18" charset="0"/>
              </a:rPr>
              <a:t> – </a:t>
            </a:r>
            <a:r>
              <a:rPr lang="en-US" sz="2000" b="1" i="1" dirty="0" smtClean="0">
                <a:latin typeface="Times New Roman" pitchFamily="18" charset="0"/>
                <a:cs typeface="Times New Roman" pitchFamily="18" charset="0"/>
              </a:rPr>
              <a:t>Pin number 26</a:t>
            </a:r>
            <a:r>
              <a:rPr lang="en-US" sz="2000" dirty="0" smtClean="0">
                <a:latin typeface="Times New Roman" pitchFamily="18" charset="0"/>
                <a:cs typeface="Times New Roman" pitchFamily="18" charset="0"/>
              </a:rPr>
              <a:t> – </a:t>
            </a:r>
          </a:p>
          <a:p>
            <a:pPr fontAlgn="base">
              <a:buFont typeface="Wingdings" pitchFamily="2" charset="2"/>
              <a:buChar char="ü"/>
            </a:pPr>
            <a:r>
              <a:rPr lang="en-US" sz="2000" dirty="0" smtClean="0">
                <a:latin typeface="Times New Roman" pitchFamily="18" charset="0"/>
                <a:cs typeface="Times New Roman" pitchFamily="18" charset="0"/>
              </a:rPr>
              <a:t>DEN is used for </a:t>
            </a:r>
            <a:r>
              <a:rPr lang="en-US" sz="2000" b="1" dirty="0" smtClean="0">
                <a:latin typeface="Times New Roman" pitchFamily="18" charset="0"/>
                <a:cs typeface="Times New Roman" pitchFamily="18" charset="0"/>
              </a:rPr>
              <a:t>data enable</a:t>
            </a:r>
            <a:r>
              <a:rPr lang="en-US" sz="2000" dirty="0" smtClean="0">
                <a:latin typeface="Times New Roman" pitchFamily="18" charset="0"/>
                <a:cs typeface="Times New Roman" pitchFamily="18" charset="0"/>
              </a:rPr>
              <a:t>.</a:t>
            </a:r>
          </a:p>
          <a:p>
            <a:pPr fontAlgn="base">
              <a:buFont typeface="Wingdings" pitchFamily="2" charset="2"/>
              <a:buChar char="ü"/>
            </a:pPr>
            <a:r>
              <a:rPr lang="en-US" sz="2000" dirty="0" smtClean="0">
                <a:latin typeface="Times New Roman" pitchFamily="18" charset="0"/>
                <a:cs typeface="Times New Roman" pitchFamily="18" charset="0"/>
              </a:rPr>
              <a:t> This is an active low pin that means whenever a 0 is present at this pin then the transceiver gets enabled and it separates the data from the multiplexed address and data bus.</a:t>
            </a:r>
          </a:p>
        </p:txBody>
      </p:sp>
      <p:sp>
        <p:nvSpPr>
          <p:cNvPr id="4" name="Slide Number Placeholder 3"/>
          <p:cNvSpPr>
            <a:spLocks noGrp="1"/>
          </p:cNvSpPr>
          <p:nvPr>
            <p:ph type="sldNum" sz="quarter" idx="12"/>
          </p:nvPr>
        </p:nvSpPr>
        <p:spPr/>
        <p:txBody>
          <a:bodyPr/>
          <a:lstStyle/>
          <a:p>
            <a:fld id="{1E79AC49-16EF-4FE2-AFCD-22497A2D05A4}"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71480"/>
            <a:ext cx="7494110" cy="6072230"/>
          </a:xfrm>
        </p:spPr>
        <p:txBody>
          <a:bodyPr>
            <a:normAutofit fontScale="40000" lnSpcReduction="20000"/>
          </a:bodyPr>
          <a:lstStyle/>
          <a:p>
            <a:pPr algn="just" fontAlgn="base"/>
            <a:endParaRPr lang="en-US" b="1" dirty="0" smtClean="0"/>
          </a:p>
          <a:p>
            <a:pPr algn="just" fontAlgn="base">
              <a:buNone/>
            </a:pPr>
            <a:r>
              <a:rPr lang="en-US" sz="3800" b="1" dirty="0" smtClean="0">
                <a:latin typeface="Times New Roman" pitchFamily="18" charset="0"/>
                <a:cs typeface="Times New Roman" pitchFamily="18" charset="0"/>
              </a:rPr>
              <a:t>DT/R’(Data Transmit/Receive)</a:t>
            </a:r>
            <a:r>
              <a:rPr lang="en-US" sz="3800" dirty="0" smtClean="0">
                <a:latin typeface="Times New Roman" pitchFamily="18" charset="0"/>
                <a:cs typeface="Times New Roman" pitchFamily="18" charset="0"/>
              </a:rPr>
              <a:t> – </a:t>
            </a:r>
            <a:r>
              <a:rPr lang="en-US" sz="3800" b="1" i="1" dirty="0" smtClean="0">
                <a:latin typeface="Times New Roman" pitchFamily="18" charset="0"/>
                <a:cs typeface="Times New Roman" pitchFamily="18" charset="0"/>
              </a:rPr>
              <a:t>Pin number 27</a:t>
            </a:r>
            <a:r>
              <a:rPr lang="en-US" sz="3800" dirty="0" smtClean="0">
                <a:latin typeface="Times New Roman" pitchFamily="18" charset="0"/>
                <a:cs typeface="Times New Roman" pitchFamily="18" charset="0"/>
              </a:rPr>
              <a:t> </a:t>
            </a:r>
          </a:p>
          <a:p>
            <a:pPr algn="just" fontAlgn="base">
              <a:buFont typeface="Wingdings" pitchFamily="2" charset="2"/>
              <a:buChar char="ü"/>
            </a:pPr>
            <a:r>
              <a:rPr lang="en-US" sz="3800" dirty="0" smtClean="0">
                <a:latin typeface="Times New Roman" pitchFamily="18" charset="0"/>
                <a:cs typeface="Times New Roman" pitchFamily="18" charset="0"/>
              </a:rPr>
              <a:t> This pin is used to show whether the data is getting transmitted or is received. </a:t>
            </a:r>
          </a:p>
          <a:p>
            <a:pPr algn="just" fontAlgn="base">
              <a:buFont typeface="Wingdings" pitchFamily="2" charset="2"/>
              <a:buChar char="ü"/>
            </a:pPr>
            <a:r>
              <a:rPr lang="en-US" sz="3800" dirty="0" smtClean="0">
                <a:latin typeface="Times New Roman" pitchFamily="18" charset="0"/>
                <a:cs typeface="Times New Roman" pitchFamily="18" charset="0"/>
              </a:rPr>
              <a:t>A high signal at this pin provides the information regarding the transmission of data. While a low indicates reception of data.</a:t>
            </a:r>
          </a:p>
          <a:p>
            <a:pPr algn="just" fontAlgn="base"/>
            <a:endParaRPr lang="en-US" sz="3800" b="1" dirty="0" smtClean="0">
              <a:latin typeface="Times New Roman" pitchFamily="18" charset="0"/>
              <a:cs typeface="Times New Roman" pitchFamily="18" charset="0"/>
            </a:endParaRPr>
          </a:p>
          <a:p>
            <a:pPr algn="just" fontAlgn="base">
              <a:buNone/>
            </a:pPr>
            <a:r>
              <a:rPr lang="en-US" sz="3800" b="1" dirty="0" smtClean="0">
                <a:latin typeface="Times New Roman" pitchFamily="18" charset="0"/>
                <a:cs typeface="Times New Roman" pitchFamily="18" charset="0"/>
              </a:rPr>
              <a:t>M/IO’</a:t>
            </a:r>
            <a:r>
              <a:rPr lang="en-US" sz="3800" dirty="0" smtClean="0">
                <a:latin typeface="Times New Roman" pitchFamily="18" charset="0"/>
                <a:cs typeface="Times New Roman" pitchFamily="18" charset="0"/>
              </a:rPr>
              <a:t> – </a:t>
            </a:r>
            <a:r>
              <a:rPr lang="en-US" sz="3800" b="1" i="1" dirty="0" smtClean="0">
                <a:latin typeface="Times New Roman" pitchFamily="18" charset="0"/>
                <a:cs typeface="Times New Roman" pitchFamily="18" charset="0"/>
              </a:rPr>
              <a:t>Pin number 28</a:t>
            </a:r>
            <a:r>
              <a:rPr lang="en-US" sz="3800" dirty="0" smtClean="0">
                <a:latin typeface="Times New Roman" pitchFamily="18" charset="0"/>
                <a:cs typeface="Times New Roman" pitchFamily="18" charset="0"/>
              </a:rPr>
              <a:t> –</a:t>
            </a:r>
          </a:p>
          <a:p>
            <a:pPr algn="just" fontAlgn="base">
              <a:buFont typeface="Wingdings" pitchFamily="2" charset="2"/>
              <a:buChar char="ü"/>
            </a:pPr>
            <a:r>
              <a:rPr lang="en-US" sz="3800" dirty="0" smtClean="0">
                <a:latin typeface="Times New Roman" pitchFamily="18" charset="0"/>
                <a:cs typeface="Times New Roman" pitchFamily="18" charset="0"/>
              </a:rPr>
              <a:t> This pin indicates whether the processor is performing an operation with memory or I/O devices. </a:t>
            </a:r>
          </a:p>
          <a:p>
            <a:pPr algn="just" fontAlgn="base">
              <a:buFont typeface="Wingdings" pitchFamily="2" charset="2"/>
              <a:buChar char="ü"/>
            </a:pPr>
            <a:r>
              <a:rPr lang="en-US" sz="3800" dirty="0" smtClean="0">
                <a:latin typeface="Times New Roman" pitchFamily="18" charset="0"/>
                <a:cs typeface="Times New Roman" pitchFamily="18" charset="0"/>
              </a:rPr>
              <a:t>Whenever a high is present at this pin then it shows the operation is carried out through the memory.</a:t>
            </a:r>
          </a:p>
          <a:p>
            <a:pPr algn="just" fontAlgn="base">
              <a:buFont typeface="Wingdings" pitchFamily="2" charset="2"/>
              <a:buChar char="ü"/>
            </a:pPr>
            <a:r>
              <a:rPr lang="en-US" sz="3800" dirty="0" smtClean="0">
                <a:latin typeface="Times New Roman" pitchFamily="18" charset="0"/>
                <a:cs typeface="Times New Roman" pitchFamily="18" charset="0"/>
              </a:rPr>
              <a:t> While a low signal shows operation through I/O devices.</a:t>
            </a:r>
          </a:p>
          <a:p>
            <a:pPr algn="just" fontAlgn="base">
              <a:buNone/>
            </a:pPr>
            <a:r>
              <a:rPr lang="en-US" sz="3800" b="1" dirty="0" smtClean="0">
                <a:latin typeface="Times New Roman" pitchFamily="18" charset="0"/>
                <a:cs typeface="Times New Roman" pitchFamily="18" charset="0"/>
              </a:rPr>
              <a:t>WR’</a:t>
            </a:r>
            <a:r>
              <a:rPr lang="en-US" sz="3800" dirty="0" smtClean="0">
                <a:latin typeface="Times New Roman" pitchFamily="18" charset="0"/>
                <a:cs typeface="Times New Roman" pitchFamily="18" charset="0"/>
              </a:rPr>
              <a:t> – </a:t>
            </a:r>
            <a:r>
              <a:rPr lang="en-US" sz="3800" b="1" i="1" dirty="0" smtClean="0">
                <a:latin typeface="Times New Roman" pitchFamily="18" charset="0"/>
                <a:cs typeface="Times New Roman" pitchFamily="18" charset="0"/>
              </a:rPr>
              <a:t>Pin number 29</a:t>
            </a:r>
            <a:r>
              <a:rPr lang="en-US" sz="3800" dirty="0" smtClean="0">
                <a:latin typeface="Times New Roman" pitchFamily="18" charset="0"/>
                <a:cs typeface="Times New Roman" pitchFamily="18" charset="0"/>
              </a:rPr>
              <a:t> –</a:t>
            </a:r>
          </a:p>
          <a:p>
            <a:pPr algn="just" fontAlgn="base">
              <a:buFont typeface="Wingdings" pitchFamily="2" charset="2"/>
              <a:buChar char="ü"/>
            </a:pPr>
            <a:r>
              <a:rPr lang="en-US" sz="3800" dirty="0" smtClean="0">
                <a:latin typeface="Times New Roman" pitchFamily="18" charset="0"/>
                <a:cs typeface="Times New Roman" pitchFamily="18" charset="0"/>
              </a:rPr>
              <a:t> An active low signal at this pin indicates that the processor is performing write operation from either memory or I/O devices.</a:t>
            </a:r>
          </a:p>
          <a:p>
            <a:pPr algn="just" fontAlgn="base">
              <a:buNone/>
            </a:pPr>
            <a:r>
              <a:rPr lang="en-US" sz="3800" b="1" dirty="0" smtClean="0">
                <a:latin typeface="Times New Roman" pitchFamily="18" charset="0"/>
                <a:cs typeface="Times New Roman" pitchFamily="18" charset="0"/>
              </a:rPr>
              <a:t>HOLD</a:t>
            </a:r>
            <a:r>
              <a:rPr lang="en-US" sz="3800" dirty="0" smtClean="0">
                <a:latin typeface="Times New Roman" pitchFamily="18" charset="0"/>
                <a:cs typeface="Times New Roman" pitchFamily="18" charset="0"/>
              </a:rPr>
              <a:t> –</a:t>
            </a:r>
            <a:r>
              <a:rPr lang="en-US" sz="3800" b="1" i="1" dirty="0" smtClean="0">
                <a:latin typeface="Times New Roman" pitchFamily="18" charset="0"/>
                <a:cs typeface="Times New Roman" pitchFamily="18" charset="0"/>
              </a:rPr>
              <a:t> Pin number 31</a:t>
            </a:r>
            <a:r>
              <a:rPr lang="en-US" sz="3800" b="1" dirty="0" smtClean="0">
                <a:latin typeface="Times New Roman" pitchFamily="18" charset="0"/>
                <a:cs typeface="Times New Roman" pitchFamily="18" charset="0"/>
              </a:rPr>
              <a:t> </a:t>
            </a:r>
            <a:r>
              <a:rPr lang="en-US" sz="3800" dirty="0" smtClean="0">
                <a:latin typeface="Times New Roman" pitchFamily="18" charset="0"/>
                <a:cs typeface="Times New Roman" pitchFamily="18" charset="0"/>
              </a:rPr>
              <a:t>– </a:t>
            </a:r>
          </a:p>
          <a:p>
            <a:pPr algn="just" fontAlgn="base">
              <a:buFont typeface="Wingdings" pitchFamily="2" charset="2"/>
              <a:buChar char="ü"/>
            </a:pPr>
            <a:r>
              <a:rPr lang="en-US" sz="3800" dirty="0" smtClean="0">
                <a:latin typeface="Times New Roman" pitchFamily="18" charset="0"/>
                <a:cs typeface="Times New Roman" pitchFamily="18" charset="0"/>
              </a:rPr>
              <a:t>When an external device enables this pin then the processor stops accessing the buses immediately after the recent task gets over.</a:t>
            </a:r>
          </a:p>
          <a:p>
            <a:pPr algn="just" fontAlgn="base">
              <a:buNone/>
            </a:pPr>
            <a:r>
              <a:rPr lang="en-US" sz="3800" b="1" dirty="0" smtClean="0">
                <a:latin typeface="Times New Roman" pitchFamily="18" charset="0"/>
                <a:cs typeface="Times New Roman" pitchFamily="18" charset="0"/>
              </a:rPr>
              <a:t>HLDA</a:t>
            </a:r>
            <a:r>
              <a:rPr lang="en-US" sz="3800" dirty="0" smtClean="0">
                <a:latin typeface="Times New Roman" pitchFamily="18" charset="0"/>
                <a:cs typeface="Times New Roman" pitchFamily="18" charset="0"/>
              </a:rPr>
              <a:t> – </a:t>
            </a:r>
            <a:r>
              <a:rPr lang="en-US" sz="3800" b="1" i="1" dirty="0" smtClean="0">
                <a:latin typeface="Times New Roman" pitchFamily="18" charset="0"/>
                <a:cs typeface="Times New Roman" pitchFamily="18" charset="0"/>
              </a:rPr>
              <a:t>Pin number 30</a:t>
            </a:r>
            <a:r>
              <a:rPr lang="en-US" sz="3800" dirty="0" smtClean="0">
                <a:latin typeface="Times New Roman" pitchFamily="18" charset="0"/>
                <a:cs typeface="Times New Roman" pitchFamily="18" charset="0"/>
              </a:rPr>
              <a:t> –</a:t>
            </a:r>
          </a:p>
          <a:p>
            <a:pPr algn="just" fontAlgn="base">
              <a:buFont typeface="Wingdings" pitchFamily="2" charset="2"/>
              <a:buChar char="ü"/>
            </a:pPr>
            <a:r>
              <a:rPr lang="en-US" sz="3800" dirty="0" smtClean="0">
                <a:latin typeface="Times New Roman" pitchFamily="18" charset="0"/>
                <a:cs typeface="Times New Roman" pitchFamily="18" charset="0"/>
              </a:rPr>
              <a:t> This pin is used as a response pin for the hold request. Once request for accessing the buses is produced by an external entity. Then the microprocessor acknowledges the device that its request will be considered once it gets over by the current operation.</a:t>
            </a:r>
          </a:p>
          <a:p>
            <a:pPr algn="just"/>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smtClean="0"/>
              <a:t>Pins in Maximum mode</a:t>
            </a:r>
            <a:br>
              <a:rPr lang="en-US" dirty="0" smtClean="0"/>
            </a:br>
            <a:endParaRPr lang="en-US" dirty="0"/>
          </a:p>
        </p:txBody>
      </p:sp>
      <p:sp>
        <p:nvSpPr>
          <p:cNvPr id="3" name="Content Placeholder 2"/>
          <p:cNvSpPr>
            <a:spLocks noGrp="1"/>
          </p:cNvSpPr>
          <p:nvPr>
            <p:ph idx="1"/>
          </p:nvPr>
        </p:nvSpPr>
        <p:spPr>
          <a:xfrm>
            <a:off x="1071538" y="1142984"/>
            <a:ext cx="7572428" cy="1857388"/>
          </a:xfrm>
        </p:spPr>
        <p:txBody>
          <a:bodyPr>
            <a:normAutofit/>
          </a:bodyPr>
          <a:lstStyle/>
          <a:p>
            <a:pPr>
              <a:buFont typeface="Wingdings" pitchFamily="2" charset="2"/>
              <a:buChar char="q"/>
            </a:pPr>
            <a:r>
              <a:rPr lang="en-US" sz="2000" b="1" dirty="0" smtClean="0">
                <a:latin typeface="Times New Roman" pitchFamily="18" charset="0"/>
                <a:cs typeface="Times New Roman" pitchFamily="18" charset="0"/>
              </a:rPr>
              <a:t>s0’,s1’,s2’</a:t>
            </a:r>
            <a:r>
              <a:rPr lang="en-US" sz="2000" dirty="0" smtClean="0">
                <a:latin typeface="Times New Roman" pitchFamily="18" charset="0"/>
                <a:cs typeface="Times New Roman" pitchFamily="18" charset="0"/>
              </a:rPr>
              <a:t> – </a:t>
            </a:r>
            <a:r>
              <a:rPr lang="en-US" sz="2000" b="1" i="1" dirty="0" smtClean="0">
                <a:latin typeface="Times New Roman" pitchFamily="18" charset="0"/>
                <a:cs typeface="Times New Roman" pitchFamily="18" charset="0"/>
              </a:rPr>
              <a:t>Pin number 26 to 28</a:t>
            </a:r>
            <a:r>
              <a:rPr lang="en-US" sz="2000" dirty="0" smtClean="0">
                <a:latin typeface="Times New Roman" pitchFamily="18" charset="0"/>
                <a:cs typeface="Times New Roman" pitchFamily="18" charset="0"/>
              </a:rPr>
              <a:t> </a:t>
            </a:r>
          </a:p>
          <a:p>
            <a:pPr>
              <a:buFont typeface="Wingdings" pitchFamily="2" charset="2"/>
              <a:buChar char="ü"/>
            </a:pPr>
            <a:r>
              <a:rPr lang="en-US" sz="2000" dirty="0" smtClean="0">
                <a:latin typeface="Times New Roman" pitchFamily="18" charset="0"/>
                <a:cs typeface="Times New Roman" pitchFamily="18" charset="0"/>
              </a:rPr>
              <a:t> These three signals are decoded by the bus controller to provide eight separate control signals.</a:t>
            </a:r>
          </a:p>
          <a:p>
            <a:pPr>
              <a:buFont typeface="Wingdings" pitchFamily="2" charset="2"/>
              <a:buChar char="ü"/>
            </a:pPr>
            <a:r>
              <a:rPr lang="en-US" sz="2000" dirty="0" smtClean="0">
                <a:latin typeface="Times New Roman" pitchFamily="18" charset="0"/>
                <a:cs typeface="Times New Roman" pitchFamily="18" charset="0"/>
              </a:rPr>
              <a:t>This means that if the status at all the 3 pins is 0 then it shows that multiple interrupts are to be handled in maximum mode.</a:t>
            </a:r>
          </a:p>
          <a:p>
            <a:pPr>
              <a:buFont typeface="Wingdings" pitchFamily="2" charset="2"/>
              <a:buChar char="ü"/>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10</a:t>
            </a:fld>
            <a:endParaRPr lang="en-US"/>
          </a:p>
        </p:txBody>
      </p:sp>
      <p:pic>
        <p:nvPicPr>
          <p:cNvPr id="22531" name="Picture 3" descr="V:\vssut\mpmc\status.png"/>
          <p:cNvPicPr>
            <a:picLocks noChangeAspect="1" noChangeArrowheads="1"/>
          </p:cNvPicPr>
          <p:nvPr/>
        </p:nvPicPr>
        <p:blipFill>
          <a:blip r:embed="rId2"/>
          <a:srcRect/>
          <a:stretch>
            <a:fillRect/>
          </a:stretch>
        </p:blipFill>
        <p:spPr bwMode="auto">
          <a:xfrm>
            <a:off x="2143108" y="3786190"/>
            <a:ext cx="4214813" cy="21336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538" y="0"/>
            <a:ext cx="7862150" cy="6248400"/>
          </a:xfrm>
        </p:spPr>
        <p:txBody>
          <a:bodyPr>
            <a:normAutofit/>
          </a:bodyPr>
          <a:lstStyle/>
          <a:p>
            <a:pPr>
              <a:buNone/>
            </a:pPr>
            <a:endParaRPr lang="en-US" sz="1800" b="1" dirty="0" smtClean="0">
              <a:latin typeface="Times New Roman" pitchFamily="18" charset="0"/>
              <a:cs typeface="Times New Roman" pitchFamily="18" charset="0"/>
            </a:endParaRPr>
          </a:p>
          <a:p>
            <a:pPr>
              <a:buNone/>
            </a:pPr>
            <a:endParaRPr lang="en-US" sz="1800" b="1" dirty="0" smtClean="0">
              <a:latin typeface="Times New Roman" pitchFamily="18" charset="0"/>
              <a:cs typeface="Times New Roman" pitchFamily="18" charset="0"/>
            </a:endParaRPr>
          </a:p>
          <a:p>
            <a:pPr>
              <a:buNone/>
            </a:pPr>
            <a:r>
              <a:rPr lang="en-US" sz="1800" b="1" dirty="0" smtClean="0">
                <a:latin typeface="Times New Roman" pitchFamily="18" charset="0"/>
                <a:cs typeface="Times New Roman" pitchFamily="18" charset="0"/>
              </a:rPr>
              <a:t>QS</a:t>
            </a:r>
            <a:r>
              <a:rPr lang="en-US" sz="1800" b="1" baseline="-25000" dirty="0" smtClean="0">
                <a:latin typeface="Times New Roman" pitchFamily="18" charset="0"/>
                <a:cs typeface="Times New Roman" pitchFamily="18" charset="0"/>
              </a:rPr>
              <a:t>0</a:t>
            </a:r>
            <a:r>
              <a:rPr lang="en-US" sz="1800" b="1" dirty="0" smtClean="0">
                <a:latin typeface="Times New Roman" pitchFamily="18" charset="0"/>
                <a:cs typeface="Times New Roman" pitchFamily="18" charset="0"/>
              </a:rPr>
              <a:t> and QS</a:t>
            </a:r>
            <a:r>
              <a:rPr lang="en-US" sz="1800" b="1" baseline="-25000" dirty="0" smtClean="0">
                <a:latin typeface="Times New Roman" pitchFamily="18" charset="0"/>
                <a:cs typeface="Times New Roman" pitchFamily="18" charset="0"/>
              </a:rPr>
              <a:t>1</a:t>
            </a:r>
            <a:r>
              <a:rPr lang="en-US" sz="1800" b="1" dirty="0" smtClean="0">
                <a:latin typeface="Times New Roman" pitchFamily="18" charset="0"/>
                <a:cs typeface="Times New Roman" pitchFamily="18" charset="0"/>
              </a:rPr>
              <a:t> (Queue Status)</a:t>
            </a:r>
            <a:r>
              <a:rPr lang="en-US" sz="1800" dirty="0" smtClean="0">
                <a:latin typeface="Times New Roman" pitchFamily="18" charset="0"/>
                <a:cs typeface="Times New Roman" pitchFamily="18" charset="0"/>
              </a:rPr>
              <a:t> – </a:t>
            </a:r>
            <a:r>
              <a:rPr lang="en-US" sz="1800" b="1" i="1" dirty="0" smtClean="0">
                <a:latin typeface="Times New Roman" pitchFamily="18" charset="0"/>
                <a:cs typeface="Times New Roman" pitchFamily="18" charset="0"/>
              </a:rPr>
              <a:t>Pin number 24 and 25</a:t>
            </a:r>
            <a:r>
              <a:rPr lang="en-US" sz="1800" dirty="0" smtClean="0">
                <a:latin typeface="Times New Roman" pitchFamily="18" charset="0"/>
                <a:cs typeface="Times New Roman" pitchFamily="18" charset="0"/>
              </a:rPr>
              <a:t>  </a:t>
            </a:r>
          </a:p>
          <a:p>
            <a:pPr>
              <a:buFont typeface="Wingdings" pitchFamily="2" charset="2"/>
              <a:buChar char="ü"/>
            </a:pPr>
            <a:r>
              <a:rPr lang="en-US" sz="1800" dirty="0" smtClean="0">
                <a:latin typeface="Times New Roman" pitchFamily="18" charset="0"/>
                <a:cs typeface="Times New Roman" pitchFamily="18" charset="0"/>
              </a:rPr>
              <a:t>These two pins indicate the status of the 6-byte pre-fetch queue present in the architecture of 8086.</a:t>
            </a:r>
            <a:br>
              <a:rPr lang="en-US" sz="1800" dirty="0" smtClean="0">
                <a:latin typeface="Times New Roman" pitchFamily="18" charset="0"/>
                <a:cs typeface="Times New Roman" pitchFamily="18" charset="0"/>
              </a:rPr>
            </a:b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smtClean="0">
              <a:latin typeface="Times New Roman" pitchFamily="18" charset="0"/>
              <a:cs typeface="Times New Roman" pitchFamily="18" charset="0"/>
            </a:endParaRPr>
          </a:p>
          <a:p>
            <a:pPr>
              <a:buFont typeface="Wingdings" pitchFamily="2" charset="2"/>
              <a:buChar char="ü"/>
            </a:pP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11</a:t>
            </a:fld>
            <a:endParaRPr lang="en-US"/>
          </a:p>
        </p:txBody>
      </p:sp>
      <p:pic>
        <p:nvPicPr>
          <p:cNvPr id="21505" name="Picture 1" descr="V:\vssut\mpmc\queue.png"/>
          <p:cNvPicPr>
            <a:picLocks noChangeAspect="1" noChangeArrowheads="1"/>
          </p:cNvPicPr>
          <p:nvPr/>
        </p:nvPicPr>
        <p:blipFill>
          <a:blip r:embed="rId2"/>
          <a:srcRect/>
          <a:stretch>
            <a:fillRect/>
          </a:stretch>
        </p:blipFill>
        <p:spPr bwMode="auto">
          <a:xfrm>
            <a:off x="1785918" y="1714488"/>
            <a:ext cx="5981230" cy="251937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500042"/>
            <a:ext cx="7790712" cy="5748358"/>
          </a:xfrm>
        </p:spPr>
        <p:txBody>
          <a:bodyPr>
            <a:normAutofit/>
          </a:bodyPr>
          <a:lstStyle/>
          <a:p>
            <a:pPr>
              <a:buNone/>
            </a:pPr>
            <a:endParaRPr lang="en-US" sz="1800" b="1" dirty="0" smtClean="0">
              <a:latin typeface="Times New Roman" pitchFamily="18" charset="0"/>
              <a:cs typeface="Times New Roman" pitchFamily="18" charset="0"/>
            </a:endParaRPr>
          </a:p>
          <a:p>
            <a:pPr>
              <a:buNone/>
            </a:pPr>
            <a:r>
              <a:rPr lang="en-US" sz="1800" b="1" dirty="0" smtClean="0">
                <a:latin typeface="Times New Roman" pitchFamily="18" charset="0"/>
                <a:cs typeface="Times New Roman" pitchFamily="18" charset="0"/>
              </a:rPr>
              <a:t>LOCK’</a:t>
            </a:r>
            <a:r>
              <a:rPr lang="en-US" sz="1800" dirty="0" smtClean="0">
                <a:latin typeface="Times New Roman" pitchFamily="18" charset="0"/>
                <a:cs typeface="Times New Roman" pitchFamily="18" charset="0"/>
              </a:rPr>
              <a:t> – </a:t>
            </a:r>
            <a:r>
              <a:rPr lang="en-US" sz="1800" b="1" i="1" dirty="0" smtClean="0">
                <a:latin typeface="Times New Roman" pitchFamily="18" charset="0"/>
                <a:cs typeface="Times New Roman" pitchFamily="18" charset="0"/>
              </a:rPr>
              <a:t>Pin number 29</a:t>
            </a:r>
            <a:r>
              <a:rPr lang="en-US" sz="1800" dirty="0" smtClean="0">
                <a:latin typeface="Times New Roman" pitchFamily="18" charset="0"/>
                <a:cs typeface="Times New Roman" pitchFamily="18" charset="0"/>
              </a:rPr>
              <a:t> </a:t>
            </a:r>
          </a:p>
          <a:p>
            <a:pPr>
              <a:buFont typeface="Wingdings" pitchFamily="2" charset="2"/>
              <a:buChar char="ü"/>
            </a:pPr>
            <a:r>
              <a:rPr lang="en-US" sz="1800" dirty="0" smtClean="0">
                <a:latin typeface="Times New Roman" pitchFamily="18" charset="0"/>
                <a:cs typeface="Times New Roman" pitchFamily="18" charset="0"/>
              </a:rPr>
              <a:t>When this signal is low, it indicates to the other processors not to ask the CPU to leave the system bus. </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r>
            <a:br>
              <a:rPr lang="en-US"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RQ’/ GT</a:t>
            </a:r>
            <a:r>
              <a:rPr lang="en-US" sz="1800" b="1" baseline="-25000" dirty="0" smtClean="0">
                <a:latin typeface="Times New Roman" pitchFamily="18" charset="0"/>
                <a:cs typeface="Times New Roman" pitchFamily="18" charset="0"/>
              </a:rPr>
              <a:t>0  </a:t>
            </a:r>
            <a:r>
              <a:rPr lang="en-US" sz="1800" b="1" dirty="0" smtClean="0">
                <a:latin typeface="Times New Roman" pitchFamily="18" charset="0"/>
                <a:cs typeface="Times New Roman" pitchFamily="18" charset="0"/>
              </a:rPr>
              <a:t>’and RQ’/ GT</a:t>
            </a:r>
            <a:r>
              <a:rPr lang="en-US" sz="1800" b="1" baseline="-25000" dirty="0" smtClean="0">
                <a:latin typeface="Times New Roman" pitchFamily="18" charset="0"/>
                <a:cs typeface="Times New Roman" pitchFamily="18" charset="0"/>
              </a:rPr>
              <a:t>1</a:t>
            </a:r>
            <a:r>
              <a:rPr lang="en-US" sz="1800" b="1"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  </a:t>
            </a:r>
            <a:r>
              <a:rPr lang="en-US" sz="1800" b="1" i="1" dirty="0" smtClean="0">
                <a:latin typeface="Times New Roman" pitchFamily="18" charset="0"/>
                <a:cs typeface="Times New Roman" pitchFamily="18" charset="0"/>
              </a:rPr>
              <a:t>Pin number 30 and 31</a:t>
            </a:r>
            <a:r>
              <a:rPr lang="en-US" sz="1800" dirty="0" smtClean="0">
                <a:latin typeface="Times New Roman" pitchFamily="18" charset="0"/>
                <a:cs typeface="Times New Roman" pitchFamily="18" charset="0"/>
              </a:rPr>
              <a:t> –</a:t>
            </a:r>
          </a:p>
          <a:p>
            <a:pPr>
              <a:buFont typeface="Wingdings" pitchFamily="2" charset="2"/>
              <a:buChar char="ü"/>
            </a:pPr>
            <a:r>
              <a:rPr lang="en-US" sz="1800" dirty="0" smtClean="0">
                <a:latin typeface="Times New Roman" pitchFamily="18" charset="0"/>
                <a:cs typeface="Times New Roman" pitchFamily="18" charset="0"/>
              </a:rPr>
              <a:t> Due to the involvement of multiple processors, these pins indicate the request and grant permission for accessing the buses, memory and peripherals.</a:t>
            </a:r>
          </a:p>
          <a:p>
            <a:pPr>
              <a:buFont typeface="Wingdings" pitchFamily="2" charset="2"/>
              <a:buChar char="ü"/>
            </a:pPr>
            <a:r>
              <a:rPr lang="en-US" sz="1800" dirty="0" smtClean="0">
                <a:latin typeface="Times New Roman" pitchFamily="18" charset="0"/>
                <a:cs typeface="Times New Roman" pitchFamily="18" charset="0"/>
              </a:rPr>
              <a:t>In max mode HOLD and HLDA signals are replaced by RQ’(Bus Request)/GT0’(Bus Grant) RQ’/GT1’ signals.</a:t>
            </a:r>
          </a:p>
          <a:p>
            <a:pPr>
              <a:buFont typeface="Wingdings" pitchFamily="2" charset="2"/>
              <a:buChar char="ü"/>
            </a:pPr>
            <a:r>
              <a:rPr lang="en-US" sz="1800" dirty="0" smtClean="0">
                <a:latin typeface="Times New Roman" pitchFamily="18" charset="0"/>
                <a:cs typeface="Times New Roman" pitchFamily="18" charset="0"/>
              </a:rPr>
              <a:t>By using the bus request signal another master can request for the system bus and microprocessor communicates that the request is granted to the requesting master by using bus </a:t>
            </a:r>
            <a:r>
              <a:rPr lang="en-US" sz="1800" smtClean="0">
                <a:latin typeface="Times New Roman" pitchFamily="18" charset="0"/>
                <a:cs typeface="Times New Roman" pitchFamily="18" charset="0"/>
              </a:rPr>
              <a:t>grant signal.</a:t>
            </a: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12</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3962</TotalTime>
  <Words>355</Words>
  <Application>Microsoft Office PowerPoint</Application>
  <PresentationFormat>On-screen Show (4:3)</PresentationFormat>
  <Paragraphs>129</Paragraphs>
  <Slides>12</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Solstice</vt:lpstr>
      <vt:lpstr>Acrobat Document</vt:lpstr>
      <vt:lpstr>Slide 1</vt:lpstr>
      <vt:lpstr>Pin Structure</vt:lpstr>
      <vt:lpstr>Slide 3</vt:lpstr>
      <vt:lpstr>Slide 4</vt:lpstr>
      <vt:lpstr>Slide 5</vt:lpstr>
      <vt:lpstr>Slide 6</vt:lpstr>
      <vt:lpstr>Slide 7</vt:lpstr>
      <vt:lpstr>Pins in Minimum mode </vt:lpstr>
      <vt:lpstr>Slide 9</vt:lpstr>
      <vt:lpstr>Pins in Maximum mode </vt:lpstr>
      <vt:lpstr>Slide 11</vt:lpstr>
      <vt:lpstr>Slide 12</vt:lpstr>
    </vt:vector>
  </TitlesOfParts>
  <Company>Tata Steel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Kshiramani</dc:creator>
  <cp:lastModifiedBy>Kshiramani</cp:lastModifiedBy>
  <cp:revision>170</cp:revision>
  <dcterms:created xsi:type="dcterms:W3CDTF">2020-09-19T06:55:40Z</dcterms:created>
  <dcterms:modified xsi:type="dcterms:W3CDTF">2020-12-17T08:56:02Z</dcterms:modified>
</cp:coreProperties>
</file>