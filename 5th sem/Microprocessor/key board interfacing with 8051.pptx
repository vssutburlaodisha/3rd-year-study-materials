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60" r:id="rId2"/>
    <p:sldId id="342" r:id="rId3"/>
    <p:sldId id="351" r:id="rId4"/>
    <p:sldId id="350" r:id="rId5"/>
    <p:sldId id="352" r:id="rId6"/>
    <p:sldId id="353" r:id="rId7"/>
    <p:sldId id="354" r:id="rId8"/>
    <p:sldId id="355" r:id="rId9"/>
    <p:sldId id="356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80" d="100"/>
          <a:sy n="80" d="100"/>
        </p:scale>
        <p:origin x="-1522" y="-14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8234E5-8504-4330-A12E-6C3403FD2A40}" type="datetimeFigureOut">
              <a:rPr lang="en-US" smtClean="0"/>
              <a:pPr/>
              <a:t>12/28/2020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96E43D-C79D-4B39-8257-5EC2E1B8CD3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6E43D-C79D-4B39-8257-5EC2E1B8CD3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DAEB126-6801-43E9-A8B3-58C9D3168E6A}" type="datetime1">
              <a:rPr lang="en-US" smtClean="0"/>
              <a:pPr/>
              <a:t>12/28/2020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02DACB8-3BA7-4002-A7AD-C8647D9CA189}" type="datetime1">
              <a:rPr lang="en-US" smtClean="0"/>
              <a:pPr/>
              <a:t>12/28/2020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04AFFFE-839E-42EF-84DD-E0158050FE0F}" type="datetime1">
              <a:rPr lang="en-US" smtClean="0"/>
              <a:pPr/>
              <a:t>12/28/2020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4810B4C-547F-478A-B83B-708C38DE0944}" type="datetime1">
              <a:rPr lang="en-US" smtClean="0"/>
              <a:pPr/>
              <a:t>12/28/2020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D17806-C4D3-4254-B953-9105470292AE}" type="datetime1">
              <a:rPr lang="en-US" smtClean="0"/>
              <a:pPr/>
              <a:t>12/28/2020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6C25880-1A7D-4DEC-B8C2-E79257111B40}" type="datetime1">
              <a:rPr lang="en-US" smtClean="0"/>
              <a:pPr/>
              <a:t>12/28/2020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C967D1-DF5F-467A-BE56-518076760F03}" type="datetime1">
              <a:rPr lang="en-US" smtClean="0"/>
              <a:pPr/>
              <a:t>12/28/2020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1CB778D-2364-4912-8698-387B4C1FC6AB}" type="datetime1">
              <a:rPr lang="en-US" smtClean="0"/>
              <a:pPr/>
              <a:t>12/28/2020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562B2C2-EBA0-4DCA-9606-A50885129859}" type="datetime1">
              <a:rPr lang="en-US" smtClean="0"/>
              <a:pPr/>
              <a:t>12/28/2020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FD5C6E7-F489-4D87-9858-1BB05BD8AF4C}" type="datetime1">
              <a:rPr lang="en-US" smtClean="0"/>
              <a:pPr/>
              <a:t>12/28/2020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C076317-255B-493D-A1FF-EBE9A398B387}" type="datetime1">
              <a:rPr lang="en-US" smtClean="0"/>
              <a:pPr/>
              <a:t>12/28/2020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6D59FB09-536B-4489-9409-02A247E91D00}" type="datetime1">
              <a:rPr lang="en-US" smtClean="0"/>
              <a:pPr/>
              <a:t>12/28/2020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571472" y="1714488"/>
            <a:ext cx="8153400" cy="399256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6000" dirty="0" smtClean="0">
                <a:latin typeface="Bernard MT Condensed" pitchFamily="18" charset="0"/>
              </a:rPr>
              <a:t>Keyboard Interfacing-8051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538" y="214290"/>
            <a:ext cx="7929618" cy="6286544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dirty="0" smtClean="0"/>
              <a:t>A keyboard is nothing but a bunch of switches arranged in a particular fashion.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The following is a 4*4 matrix key board.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Here the switches are arranged in optimized manner to minimize the port pins.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Junction of each row and column  forms the key.</a:t>
            </a:r>
          </a:p>
          <a:p>
            <a:pPr>
              <a:buFont typeface="Wingdings" pitchFamily="2" charset="2"/>
              <a:buChar char="Ø"/>
            </a:pPr>
            <a:endParaRPr lang="en-US" sz="2000" dirty="0" smtClean="0"/>
          </a:p>
          <a:p>
            <a:pPr>
              <a:buFont typeface="Wingdings" pitchFamily="2" charset="2"/>
              <a:buChar char="Ø"/>
            </a:pPr>
            <a:endParaRPr lang="en-US" sz="2000" dirty="0" smtClean="0"/>
          </a:p>
          <a:p>
            <a:pPr>
              <a:buFont typeface="Wingdings" pitchFamily="2" charset="2"/>
              <a:buChar char="Ø"/>
            </a:pPr>
            <a:endParaRPr lang="en-US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10242" name="Picture 2" descr="keypad matrix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3" y="2619287"/>
            <a:ext cx="6512803" cy="42387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26626" name="Picture 2" descr="keypad connected to microcontroll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71414"/>
            <a:ext cx="5581650" cy="4362451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1214414" y="4572008"/>
            <a:ext cx="7622542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000" dirty="0" smtClean="0"/>
              <a:t>To interface the keyboard 8051 uses two of its ports.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dirty="0" smtClean="0"/>
              <a:t>The port which is connected to the </a:t>
            </a:r>
            <a:r>
              <a:rPr lang="en-US" sz="2000" dirty="0" smtClean="0">
                <a:solidFill>
                  <a:srgbClr val="0070C0"/>
                </a:solidFill>
              </a:rPr>
              <a:t>rows</a:t>
            </a:r>
            <a:r>
              <a:rPr lang="en-US" sz="2000" dirty="0" smtClean="0"/>
              <a:t> of the matrix is configured as an </a:t>
            </a:r>
            <a:r>
              <a:rPr lang="en-US" sz="2000" dirty="0" smtClean="0">
                <a:solidFill>
                  <a:srgbClr val="0070C0"/>
                </a:solidFill>
              </a:rPr>
              <a:t>output port</a:t>
            </a:r>
            <a:r>
              <a:rPr lang="en-US" sz="2000" dirty="0" smtClean="0"/>
              <a:t>, hence making each row logic 0.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dirty="0" smtClean="0"/>
              <a:t>The port which is connected to the </a:t>
            </a:r>
            <a:r>
              <a:rPr lang="en-US" sz="2000" dirty="0" smtClean="0">
                <a:solidFill>
                  <a:srgbClr val="FF0000"/>
                </a:solidFill>
              </a:rPr>
              <a:t>columns</a:t>
            </a:r>
            <a:r>
              <a:rPr lang="en-US" sz="2000" dirty="0" smtClean="0"/>
              <a:t> is configured as an </a:t>
            </a:r>
            <a:r>
              <a:rPr lang="en-US" sz="2000" dirty="0" smtClean="0">
                <a:solidFill>
                  <a:srgbClr val="FF0000"/>
                </a:solidFill>
              </a:rPr>
              <a:t>input port</a:t>
            </a:r>
            <a:r>
              <a:rPr lang="en-US" sz="2000" dirty="0" smtClean="0"/>
              <a:t>, making the column at logic 1.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538" y="142852"/>
            <a:ext cx="7862150" cy="6105548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en-US" sz="2400" dirty="0" smtClean="0">
                <a:solidFill>
                  <a:srgbClr val="C00000"/>
                </a:solidFill>
              </a:rPr>
              <a:t>Key </a:t>
            </a:r>
            <a:r>
              <a:rPr lang="en-US" sz="2400" dirty="0" smtClean="0">
                <a:solidFill>
                  <a:srgbClr val="C00000"/>
                </a:solidFill>
              </a:rPr>
              <a:t>Press Detection</a:t>
            </a:r>
            <a:endParaRPr lang="en-US" sz="2400" dirty="0" smtClean="0">
              <a:solidFill>
                <a:srgbClr val="C00000"/>
              </a:solidFill>
            </a:endParaRPr>
          </a:p>
          <a:p>
            <a:pPr algn="just">
              <a:buFont typeface="Wingdings" pitchFamily="2" charset="2"/>
              <a:buChar char="ü"/>
            </a:pP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27650" name="Picture 2" descr="keypad_interfacing_with_805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0298" y="781061"/>
            <a:ext cx="4867270" cy="3219443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1071538" y="4071942"/>
            <a:ext cx="64294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Step 1</a:t>
            </a:r>
            <a:r>
              <a:rPr lang="en-US" b="1" dirty="0" smtClean="0">
                <a:sym typeface="Wingdings" pitchFamily="2" charset="2"/>
              </a:rPr>
              <a:t>: Key Press identification</a:t>
            </a:r>
            <a:endParaRPr lang="en-US" b="1" dirty="0" smtClean="0"/>
          </a:p>
          <a:p>
            <a:r>
              <a:rPr lang="en-US" dirty="0" smtClean="0"/>
              <a:t>-</a:t>
            </a:r>
            <a:r>
              <a:rPr lang="en-US" dirty="0" smtClean="0">
                <a:solidFill>
                  <a:srgbClr val="0070C0"/>
                </a:solidFill>
              </a:rPr>
              <a:t>Check  the value of the columns(D0-D3 of input port).</a:t>
            </a:r>
          </a:p>
          <a:p>
            <a:endParaRPr lang="en-US" dirty="0" smtClean="0"/>
          </a:p>
          <a:p>
            <a:r>
              <a:rPr lang="en-US" dirty="0" smtClean="0"/>
              <a:t>-If D0-D3=1111, no key has been pressed.</a:t>
            </a:r>
          </a:p>
          <a:p>
            <a:r>
              <a:rPr lang="en-US" dirty="0" smtClean="0"/>
              <a:t>         continue this process until a key press is detected.</a:t>
            </a:r>
          </a:p>
          <a:p>
            <a:endParaRPr lang="en-US" dirty="0" smtClean="0"/>
          </a:p>
          <a:p>
            <a:r>
              <a:rPr lang="en-US" dirty="0" smtClean="0"/>
              <a:t>If  one of the column bit is 0, then a key has been pressed.</a:t>
            </a:r>
          </a:p>
          <a:p>
            <a:endParaRPr lang="en-US" dirty="0" smtClean="0"/>
          </a:p>
          <a:p>
            <a:r>
              <a:rPr lang="en-US" dirty="0" smtClean="0"/>
              <a:t> Suppose D0D1D2D3=1011, D1 has been pressed.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538" y="142852"/>
            <a:ext cx="8072462" cy="657229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dirty="0" smtClean="0"/>
              <a:t>Step 2: Key Detection</a:t>
            </a:r>
          </a:p>
          <a:p>
            <a:pPr>
              <a:buNone/>
            </a:pPr>
            <a:r>
              <a:rPr lang="en-US" sz="2000" b="1" dirty="0" smtClean="0"/>
              <a:t>-</a:t>
            </a:r>
            <a:r>
              <a:rPr lang="en-US" sz="2000" dirty="0" smtClean="0">
                <a:solidFill>
                  <a:srgbClr val="0070C0"/>
                </a:solidFill>
              </a:rPr>
              <a:t>Check the values of row(D0-D3 of output port)</a:t>
            </a:r>
          </a:p>
          <a:p>
            <a:pPr>
              <a:buNone/>
            </a:pPr>
            <a:endParaRPr lang="en-US" sz="2000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sz="2000" dirty="0" smtClean="0"/>
              <a:t>-Read the row one by one, </a:t>
            </a:r>
          </a:p>
          <a:p>
            <a:pPr>
              <a:buNone/>
            </a:pPr>
            <a:r>
              <a:rPr lang="en-US" sz="2000" dirty="0" smtClean="0"/>
              <a:t> -Starting with the top row, the microcontroller  grounds it by providing a low to row D0 only.</a:t>
            </a:r>
          </a:p>
          <a:p>
            <a:pPr>
              <a:buNone/>
            </a:pPr>
            <a:r>
              <a:rPr lang="en-US" sz="2000" dirty="0" smtClean="0"/>
              <a:t>		-Reads the columns, if all the values are 1s, no key is activated in that row.</a:t>
            </a:r>
          </a:p>
          <a:p>
            <a:pPr>
              <a:buNone/>
            </a:pPr>
            <a:r>
              <a:rPr lang="en-US" sz="2000" dirty="0" smtClean="0"/>
              <a:t>		-the process is moved to the next row</a:t>
            </a:r>
          </a:p>
          <a:p>
            <a:pPr>
              <a:buNone/>
            </a:pPr>
            <a:r>
              <a:rPr lang="en-US" sz="2000" dirty="0" smtClean="0"/>
              <a:t>-The process is continued until the row is identified.</a:t>
            </a:r>
          </a:p>
          <a:p>
            <a:pPr>
              <a:buNone/>
            </a:pPr>
            <a:r>
              <a:rPr lang="en-US" sz="2000" dirty="0" smtClean="0"/>
              <a:t>-After identification of the row, it identifies the column that the pressed key belongs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976" y="0"/>
            <a:ext cx="7498080" cy="1143000"/>
          </a:xfrm>
        </p:spPr>
        <p:txBody>
          <a:bodyPr/>
          <a:lstStyle/>
          <a:p>
            <a:r>
              <a:rPr lang="en-US" dirty="0" smtClean="0"/>
              <a:t>Issues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538" y="1071546"/>
            <a:ext cx="8072462" cy="564360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dirty="0" err="1" smtClean="0"/>
              <a:t>Debouncing</a:t>
            </a:r>
            <a:r>
              <a:rPr lang="en-US" sz="2000" b="1" dirty="0" smtClean="0"/>
              <a:t>:</a:t>
            </a:r>
          </a:p>
          <a:p>
            <a:pPr>
              <a:buNone/>
            </a:pPr>
            <a:r>
              <a:rPr lang="en-US" sz="2000" dirty="0" smtClean="0"/>
              <a:t>The output of a switch at open and close is very, very noisy with multiple spikes in voltage.  If not correctly </a:t>
            </a:r>
            <a:r>
              <a:rPr lang="en-US" sz="2000" dirty="0" err="1" smtClean="0"/>
              <a:t>debounced</a:t>
            </a:r>
            <a:r>
              <a:rPr lang="en-US" sz="2000" smtClean="0"/>
              <a:t>, these spikes could be seen as multiple switch closures (openings).</a:t>
            </a:r>
            <a:endParaRPr lang="en-US" sz="2000" b="1" dirty="0" smtClean="0"/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The main job of any switch is to connect two terminals to complete a circuit but this process is not instantaneous, that means it takes some time for the switch to complete the circuit.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Due to this, the signal to the microcontroller is noisy until the contacts of the switch make proper contact with the underlying wires.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this problem can be solved </a:t>
            </a:r>
          </a:p>
          <a:p>
            <a:pPr lvl="3">
              <a:buFont typeface="Wingdings" pitchFamily="2" charset="2"/>
              <a:buChar char="Ø"/>
            </a:pPr>
            <a:endParaRPr lang="en-US" sz="800" dirty="0" smtClean="0"/>
          </a:p>
          <a:p>
            <a:pPr lvl="3">
              <a:buFont typeface="Wingdings" pitchFamily="2" charset="2"/>
              <a:buChar char="§"/>
            </a:pPr>
            <a:r>
              <a:rPr lang="en-US" dirty="0" smtClean="0"/>
              <a:t>using capacitors and Schmitt triggers</a:t>
            </a:r>
          </a:p>
          <a:p>
            <a:pPr lvl="3">
              <a:buFont typeface="Wingdings" pitchFamily="2" charset="2"/>
              <a:buChar char="§"/>
            </a:pPr>
            <a:r>
              <a:rPr lang="en-US" dirty="0" smtClean="0"/>
              <a:t>using software approach 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To solve this problem, the microcontroller needs to wait for a certain amount of time and allow the signal to stabilize.</a:t>
            </a:r>
          </a:p>
          <a:p>
            <a:pPr>
              <a:buFont typeface="Wingdings" pitchFamily="2" charset="2"/>
              <a:buChar char="Ø"/>
            </a:pPr>
            <a:endParaRPr lang="en-US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2976" y="214290"/>
            <a:ext cx="7790712" cy="603411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dirty="0" smtClean="0"/>
              <a:t>Making sure the previous key has been released: 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The microcontroller needs to start scanning the matrix after a key press has been detected.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To do this, the microcontroller must make all the rows logic zero and see if all the columns have a logic 1.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If all the columns have logic 1, it means that none of the keys are pressed, and the microcontroller needs to look for a new </a:t>
            </a:r>
            <a:r>
              <a:rPr lang="en-US" sz="2000" dirty="0" err="1" smtClean="0"/>
              <a:t>keypress</a:t>
            </a:r>
            <a:r>
              <a:rPr lang="en-US" sz="2000" dirty="0" smtClean="0"/>
              <a:t>.</a:t>
            </a:r>
          </a:p>
          <a:p>
            <a:pPr>
              <a:buFont typeface="Wingdings" pitchFamily="2" charset="2"/>
              <a:buChar char="Ø"/>
            </a:pPr>
            <a:endParaRPr lang="en-US" sz="2000" dirty="0" smtClean="0"/>
          </a:p>
          <a:p>
            <a:pPr>
              <a:buNone/>
            </a:pPr>
            <a:r>
              <a:rPr lang="en-US" sz="2000" b="1" dirty="0" smtClean="0"/>
              <a:t>Encoding the </a:t>
            </a:r>
            <a:r>
              <a:rPr lang="en-US" sz="2000" b="1" dirty="0" err="1" smtClean="0"/>
              <a:t>keypress</a:t>
            </a:r>
            <a:r>
              <a:rPr lang="en-US" sz="2000" b="1" dirty="0" smtClean="0"/>
              <a:t>: 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Also it is essential to convert the information about the </a:t>
            </a:r>
            <a:r>
              <a:rPr lang="en-US" sz="2000" dirty="0" err="1" smtClean="0"/>
              <a:t>keypress</a:t>
            </a:r>
            <a:r>
              <a:rPr lang="en-US" sz="2000" dirty="0" smtClean="0"/>
              <a:t> into information that can be shown on an LCD or any other output peripheral for that </a:t>
            </a:r>
            <a:r>
              <a:rPr lang="en-US" sz="2000" dirty="0" smtClean="0"/>
              <a:t>matter.</a:t>
            </a:r>
            <a:endParaRPr lang="en-US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28674" name="Picture 2" descr="Algorithm for keypa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142852"/>
            <a:ext cx="5500726" cy="65063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32770" name="Picture 2" descr="https://i1.wp.com/technobyte.org/wp-content/uploads/2020/06/interfacing_keypad_with_8051.png?ssl=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500042"/>
            <a:ext cx="7858180" cy="500066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6668</TotalTime>
  <Words>351</Words>
  <Application>Microsoft Office PowerPoint</Application>
  <PresentationFormat>On-screen Show (4:3)</PresentationFormat>
  <Paragraphs>55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Solstice</vt:lpstr>
      <vt:lpstr>Slide 1</vt:lpstr>
      <vt:lpstr>Slide 2</vt:lpstr>
      <vt:lpstr>Slide 3</vt:lpstr>
      <vt:lpstr>Slide 4</vt:lpstr>
      <vt:lpstr>Slide 5</vt:lpstr>
      <vt:lpstr>Issues</vt:lpstr>
      <vt:lpstr>Slide 7</vt:lpstr>
      <vt:lpstr>Slide 8</vt:lpstr>
      <vt:lpstr>Slide 9</vt:lpstr>
    </vt:vector>
  </TitlesOfParts>
  <Company>Tata Steel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Kshiramani</dc:creator>
  <cp:lastModifiedBy>Kshiramani</cp:lastModifiedBy>
  <cp:revision>307</cp:revision>
  <dcterms:created xsi:type="dcterms:W3CDTF">2020-09-19T06:55:40Z</dcterms:created>
  <dcterms:modified xsi:type="dcterms:W3CDTF">2020-12-28T12:21:43Z</dcterms:modified>
</cp:coreProperties>
</file>